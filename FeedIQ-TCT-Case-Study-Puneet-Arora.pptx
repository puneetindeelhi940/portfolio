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2000"/>
            </a:avLst>
          </a:prstGeom>
          <a:solidFill>
            <a:srgbClr val="00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PRODUCT CASE STUDY  |  JUNE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E8F0EC"/>
                </a:solidFill>
                <a:latin typeface="Segoe UI"/>
              </a:defRPr>
            </a:pPr>
            <a:r>
              <a:t>FeedIQ  &amp;  The Cargill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0C978"/>
                </a:solidFill>
                <a:latin typeface="Segoe UI"/>
              </a:defRPr>
            </a:pPr>
            <a:r>
              <a:t>AI-Powered Feed Intelligence + Enterprise</a:t>
            </a:r>
            <a:br/>
            <a:r>
              <a:t>Decision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FA89C"/>
                </a:solidFill>
                <a:latin typeface="Segoe UI"/>
              </a:defRPr>
            </a:pPr>
            <a:r>
              <a:t>Two products, one vision: transforming Cargill's data into AI-native decisions.</a:t>
            </a:r>
            <a:br/>
            <a:r>
              <a:t>FeedIQ tackles feed formulation &amp; mycotoxin risk. The Cargill Terminal (T-C-T)</a:t>
            </a:r>
            <a:br/>
            <a:r>
              <a:t>scales to enterprise-wide Decision Intelligence — Executive, Procurement &amp; Supply Chain.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486400"/>
            <a:ext cx="1051560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Consolas"/>
              </a:defRPr>
            </a:pPr>
            <a:r>
              <a:t>PUNEET ARORA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97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7268"/>
                </a:solidFill>
                <a:latin typeface="Consolas"/>
              </a:defRPr>
            </a:pPr>
            <a:r>
              <a:t>Principal Product Designer  &amp;  AI Design Leader  |  20 years  |  Dell · Boeing · Software AG · HP R&amp;D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FRAMEWORK: DOUBLE DIAMOND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8978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7268"/>
                </a:solidFill>
                <a:latin typeface="Consolas"/>
              </a:defRPr>
            </a:pPr>
            <a:r>
              <a:t>Discover → Define → Develop → 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The 60-second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43891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011680"/>
            <a:ext cx="8503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FeedIQ: AI feed formulation with mycotoxin risk overlay. T-C-T: A Bloomberg Terminal-density enterprise platform with 3 decision engines (Executive, Procurement, Supply Chain), intent-based UX, and AI confidence scoring.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017520"/>
            <a:ext cx="9784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154680"/>
            <a:ext cx="8503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Cargill analyzes 389,926 feed samples/year across 41 countries — insights die in static PDFs. 71% contamination, 8,000 experts departing, $160B revenue with zero AI-native decision tools. The gap between data and action costs billions.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4160520"/>
            <a:ext cx="9784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297680"/>
            <a:ext cx="8503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FeedIQ: Conversational AI + constraint optimization + mycotoxin data overlay. T-C-T: 3 deep decision engines with 9 intent modes (Observe → Predict → Execute), AI recommendation cards, supplier intelligence, and shipment tracking.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5303520"/>
            <a:ext cx="9784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440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WHEN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440680"/>
            <a:ext cx="8503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Phase 1: Both prototypes DONE. Phase 2 (3-9 mo): Integrate Cargill APIs — mycotoxin DB, procurement data, shipment feeds. Phase 3 (9-18 mo): Production deployment across Cargill's animal nutrition and supply chain operations.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DESIGN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Double Diamond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Structured divergent-convergent thinking applied to Cargill's feed intelligence gap.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029200" cy="3840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8"/>
                </a:solidFill>
                <a:latin typeface="Consolas"/>
              </a:defRPr>
            </a:pPr>
            <a:r>
              <a:t>DIAMOND 1: PROBLEM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926080"/>
            <a:ext cx="2194560" cy="30175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017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2918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Divergent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66160"/>
            <a:ext cx="1828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Cargill business analysis</a:t>
            </a:r>
            <a:br/>
            <a:r>
              <a:t>• Industry landscape (ABCD)</a:t>
            </a:r>
            <a:br/>
            <a:r>
              <a:t>• Stakeholder pain points</a:t>
            </a:r>
            <a:br/>
            <a:r>
              <a:t>• Mycotoxin data deep dive</a:t>
            </a:r>
            <a:br/>
            <a:r>
              <a:t>• Competitor AI initiatives</a:t>
            </a:r>
            <a:br/>
            <a:r>
              <a:t>• Feed formulation 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926080"/>
            <a:ext cx="2194560" cy="30175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DEFINE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2918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Convergent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566160"/>
            <a:ext cx="1828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Problem statement</a:t>
            </a:r>
            <a:br/>
            <a:r>
              <a:t>• Key insight articulation</a:t>
            </a:r>
            <a:br/>
            <a:r>
              <a:t>• Opportunity sizing</a:t>
            </a:r>
            <a:br/>
            <a:r>
              <a:t>• Competitive gap map</a:t>
            </a:r>
            <a:br/>
            <a:r>
              <a:t>• Target user definition</a:t>
            </a:r>
            <a:br/>
            <a:r>
              <a:t>• Success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377440"/>
            <a:ext cx="5303520" cy="3840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514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4A0FF"/>
                </a:solidFill>
                <a:latin typeface="Consolas"/>
              </a:defRPr>
            </a:pPr>
            <a:r>
              <a:t>DIAMOND 2: SOLUTION 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926080"/>
            <a:ext cx="2331720" cy="30175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01752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9184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Divergent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566160"/>
            <a:ext cx="2011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Solution ideation (10 ideas)</a:t>
            </a:r>
            <a:br/>
            <a:r>
              <a:t>• Feature prioritization</a:t>
            </a:r>
            <a:br/>
            <a:r>
              <a:t>• AI interaction patterns</a:t>
            </a:r>
            <a:br/>
            <a:r>
              <a:t>• Dashboard design</a:t>
            </a:r>
            <a:br/>
            <a:r>
              <a:t>• Risk-aware formulation</a:t>
            </a:r>
            <a:br/>
            <a:r>
              <a:t>• UX principles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23960" y="2926080"/>
            <a:ext cx="2331720" cy="30175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301752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29184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Convergent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3566160"/>
            <a:ext cx="2011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• Working prototype</a:t>
            </a:r>
            <a:br/>
            <a:r>
              <a:t>• 4 scenario demos</a:t>
            </a:r>
            <a:br/>
            <a:r>
              <a:t>• Metrics framework</a:t>
            </a:r>
            <a:br/>
            <a:r>
              <a:t>• Roadmap (3 phases)</a:t>
            </a:r>
            <a:br/>
            <a:r>
              <a:t>• Benchmark validation</a:t>
            </a:r>
            <a:br/>
            <a:r>
              <a:t>• Presentation &amp; pitch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55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7268"/>
                </a:solidFill>
                <a:latin typeface="Consolas"/>
              </a:defRPr>
            </a:pPr>
            <a:r>
              <a:t>Designed by Puneet Arora  |  Applied to Cargill's Animal Nutrition &amp; Feed Intelligence domain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CARGILL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Cargill at a glance: the world's</a:t>
            </a:r>
            <a:br/>
            <a:r>
              <a:t>largest private company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$154B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REVENUE (FY2025)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160,000+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EMPLOYEES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70+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COUNTRIES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TESTING COUNTRIES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103120"/>
            <a:ext cx="202996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176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#1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25420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PRIVATE COMPANY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20040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101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Agricultural Trading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61188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Grain, oilseeds, palm oil, cotton — ABCD dominance (50-60% of global trade)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20040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3101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Animal Nutrition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61188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Feed production, precision nutrition tools (Galleon, CNS, CattleView)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320040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33101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Food Ingredients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361188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Starches, sweeteners, oils, cocoa — ingredients for global food brands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61772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72744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Protein &amp; Meat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02920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Beef, poultry, egg processing — one of the world's largest processors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51960" y="461772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472744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Industrial &amp;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502920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Biofuels, biodiesel (1.5B liters/year in Brazil), commodity hedging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4617720"/>
            <a:ext cx="3429000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0" y="472744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Segoe UI"/>
              </a:defRPr>
            </a:pPr>
            <a:r>
              <a:t>Logistics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80" y="502920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Ocean freight, barge transport, port operations (30x ROI on Port Optimizer)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BUSINESS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Cargill is facing its toughest</a:t>
            </a:r>
            <a:br/>
            <a:r>
              <a:t>period in decades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514600" cy="3931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FINANCIAL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Revenue down to $154B (lowest since 2021)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&lt; 1/3 of businesses met earnings goals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4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5 units consolidated to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8,000 jobs cut (5% of workforce)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103120"/>
            <a:ext cx="2514600" cy="3931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2402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SUPPLY CHAIN &amp;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60604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EUDR compliance deadline Dec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20040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Sued by ClientEarth for due diligence gaps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88620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66% of emissions from land-use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57200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GPS polygon mapping at scale unfinished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103120"/>
            <a:ext cx="2514600" cy="3931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2402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FOOD SAFETY &amp;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60604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71% of feed samples contaminated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20040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47% have 3+ simultaneous toxins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7947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34% exceed performance risk thresholds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480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Feed recall (Nutrena aflatoxin, 2025)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103120"/>
            <a:ext cx="2514600" cy="3931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224028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KNOWLEDGE &amp; TALENT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60604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8,000 departing = institutional knowledge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29184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46% of labs report staff shortages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388620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Fragmented AI tools (no unified platform)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57200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• Small farmers lack tech literacy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2179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Source: Cargill FY2025 results, Impact Report 2025, ClientEarth filings, Global Mycotoxin Report 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DEEP DIVE: MYCOTOXIN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The silent crisis in animal feed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91440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Mycotoxins are toxic metabolites produced by fungi in grains. They cause production losses,</a:t>
            </a:r>
            <a:br/>
            <a:r>
              <a:t>animal health issues, and can enter the human food chain through meat, milk, and eggs.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291840" cy="1645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C978"/>
                </a:solidFill>
                <a:latin typeface="Consolas"/>
              </a:defRPr>
            </a:pPr>
            <a:r>
              <a:t>71%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CONTAMINATION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of global feed samples test positive for at least one mycotoxin above detection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468880"/>
            <a:ext cx="3291840" cy="1645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57860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9F43"/>
                </a:solidFill>
                <a:latin typeface="Consolas"/>
              </a:defRPr>
            </a:pPr>
            <a:r>
              <a:t>47%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063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MULTI-TOXIN PREVALENCE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33756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of samples contain 3 or more mycotoxins simultaneously — compounding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2468880"/>
            <a:ext cx="3566160" cy="1645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257860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onsolas"/>
              </a:defRPr>
            </a:pPr>
            <a:r>
              <a:t>34%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0632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ABOVE RISK THRESHOLD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33756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exceed performance-based thresholds linked to measurable livestock productivity losses.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97680"/>
            <a:ext cx="10515600" cy="1828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348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TOP MYCOTOXINS BY GLOBAL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53%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7091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Deoxynivalenol — #1 global risk, above thresholds in 53% of analyses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7091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Fumonisins — rising risk, especially in corn from S. America &amp; SE Asia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ZEN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709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35%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7091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Zearalenone — affects reproduction in swine and dairy cattle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486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AFLA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486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4864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Aflatoxins — carcinogenic, highest in tropical/humid storage regions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5486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T-2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5486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54864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T-2/HT-2 toxins — immunosuppressive, elevated in Northern Europe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5486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OTA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5486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4864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Ochratoxin A — nephrotoxic, found in cereals and coffee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63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Source: Cargill 2025 Global Mycotoxin Report — 389,926 analyses across 41 countries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DEEP DIVE: FEED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Feed formulation is a constraint</a:t>
            </a:r>
            <a:br/>
            <a:r>
              <a:t>satisfaction nightmare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A single feed formulation must balance 15+ nutritional parameters, cost constraints,</a:t>
            </a:r>
            <a:br/>
            <a:r>
              <a:t>local ingredient availability, species-specific needs, climate conditions, and now —</a:t>
            </a:r>
            <a:br/>
            <a:r>
              <a:t>mycotoxin risk. Current tools are spreadsheet-era software with steep learning curves.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255574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$150M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82112"/>
            <a:ext cx="2354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FEED SOFTWARE MARKET (2024)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2743200"/>
            <a:ext cx="255574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7580" y="2816352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$300M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7580" y="3182112"/>
            <a:ext cx="2354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PROJECTED BY 2033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743200"/>
            <a:ext cx="255574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2816352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8.2%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82112"/>
            <a:ext cx="2354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CAGR 2026-2033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18220" y="2743200"/>
            <a:ext cx="2555748" cy="7772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5380" y="2816352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F0EC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5380" y="3182112"/>
            <a:ext cx="2354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5A7268"/>
                </a:solidFill>
                <a:latin typeface="Consolas"/>
              </a:defRPr>
            </a:pPr>
            <a:r>
              <a:t>COST REDUCTION (ADISSEO AI BENCHMARK)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40480"/>
            <a:ext cx="10515600" cy="25603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77639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STAKEHOLDER PAIN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976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FEED NUTRITIONIST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Balances 15+ nutrients across species/stages.</a:t>
            </a:r>
            <a:br/>
            <a:r>
              <a:t>Uses legacy software (Bestmix, Format Solutions).</a:t>
            </a:r>
            <a:br/>
            <a:r>
              <a:t>Takes hours to iterate on a single formulation.</a:t>
            </a:r>
            <a:br/>
            <a:r>
              <a:t>Mycotoxin risk checked separately, if at all.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2976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LIVESTOCK PRODUCER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6177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Receives formulation as a spec sheet.</a:t>
            </a:r>
            <a:br/>
            <a:r>
              <a:t>No visibility into risk trade-offs.</a:t>
            </a:r>
            <a:br/>
            <a:r>
              <a:t>Discov mycotoxin issues only after animal losses.</a:t>
            </a:r>
            <a:br/>
            <a:r>
              <a:t>Needs simple answers, not spreadsheets.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2976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PROCUREMENT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6177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Sourcing decisions disconnected from risk data.</a:t>
            </a:r>
            <a:br/>
            <a:r>
              <a:t>Price-driven, ignoring contamination patterns.</a:t>
            </a:r>
            <a:br/>
            <a:r>
              <a:t>No tool showing 'corn from Region X = Y% risk.'</a:t>
            </a:r>
            <a:br/>
            <a:r>
              <a:t>Compliance burden increasing (EUDR, ESG).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Source: Feed Formulation Software Market Report 2026, Adisseo AI platform launch (March 2026), Cargill VIV Asia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Cargill's AI tools vs. 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029200" cy="43891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CARGILL'S EXISTING AI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CMAX / Port Optimizer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774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Shipping logistics — 30x ROI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CarVe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7004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Computer vision for protein yield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6265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CattleView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6265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Drone + AI cattle welfare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552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Agriness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25526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Cloud platform for swine farm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4787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Birdoo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547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3D camera for broiler weighing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840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Galleon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840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AI for poultry gut microbiome nutrition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13308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Ask Emma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3308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Gen AI for product 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25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Consolas"/>
              </a:defRPr>
            </a:pPr>
            <a:r>
              <a:t>Taste Tinker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42569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Gen AI for food concept generation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1920240"/>
            <a:ext cx="5303520" cy="43891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THE GAP — WHAT DOESN'T EXIST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3774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✕  No unified risk + formulation 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615184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Mycotoxin data and feed formulation live in separate systems. Nutritionists check risk manually (if at all).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12724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✕  No natural language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36499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Galleon and CNS require expert training. No conversational AI for formulation — still forms and spreadsheets.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87705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✕  No interactive mycotoxin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11480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389K analyses published as a static PDF report. No drill-down, no alerts, no region-specific risk scoring.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62686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✕  No cost-risk trade-off visibility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864608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Procurement decides on price alone. No tool shows 'this corn saves $12 but adds 42% fumonisin risk.'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37667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✕  No knowledge capture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614416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With 8,000 people leaving, decades of formulation expertise walks out the door. No AI to capture and scale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ABCD giants &amp; competitor AI initiatives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51560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1488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488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AI MATURITY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FEED INTEL TOOL?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214884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GAP FEEDIQ FILLS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423160"/>
            <a:ext cx="1005840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F0EC"/>
                </a:solidFill>
                <a:latin typeface="Consolas"/>
              </a:defRPr>
            </a:pPr>
            <a:r>
              <a:t>Cargill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5603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$154B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60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Strong (fragmented)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60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Galleon, CNS (expert-only)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2560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Segoe UI"/>
              </a:defRPr>
            </a:pPr>
            <a:r>
              <a:t>Unified NL interface + risk overlay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0175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F0EC"/>
                </a:solidFill>
                <a:latin typeface="Consolas"/>
              </a:defRPr>
            </a:pPr>
            <a:r>
              <a:t>ADM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0175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$85B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017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Moderate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0175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None public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30175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Segoe UI"/>
              </a:defRPr>
            </a:pPr>
            <a:r>
              <a:t>Full-stack feed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4747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F0EC"/>
                </a:solidFill>
                <a:latin typeface="Consolas"/>
              </a:defRPr>
            </a:pPr>
            <a:r>
              <a:t>Bunge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474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$55B+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4747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Low (infra-focused)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474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None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474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Segoe UI"/>
              </a:defRPr>
            </a:pPr>
            <a:r>
              <a:t>AI-first approach to nutrition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9319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F0EC"/>
                </a:solidFill>
                <a:latin typeface="Consolas"/>
              </a:defRPr>
            </a:pPr>
            <a:r>
              <a:t>Louis Dreyfus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9319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$50B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931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Low-Moderate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931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39319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Segoe UI"/>
              </a:defRPr>
            </a:pPr>
            <a:r>
              <a:t>Risk-aware formulation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389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F0EC"/>
                </a:solidFill>
                <a:latin typeface="Consolas"/>
              </a:defRPr>
            </a:pPr>
            <a:r>
              <a:t>COFCO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43891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$70B+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43891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Unknown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4389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None public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0" y="4389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Segoe UI"/>
              </a:defRPr>
            </a:pPr>
            <a:r>
              <a:t>Global mycotoxin 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8463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F0EC"/>
                </a:solidFill>
                <a:latin typeface="Consolas"/>
              </a:defRPr>
            </a:pPr>
            <a:r>
              <a:t>Adisseo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48463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$2B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4846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High (AI platform)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846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AI feed optimizer (CN)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0" y="4846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Segoe UI"/>
              </a:defRPr>
            </a:pPr>
            <a:r>
              <a:t>Multi-region risk overlay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760720"/>
            <a:ext cx="10515600" cy="5486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806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KEY BENCHMARK: Adisseo (March 2026) launched an AI feed optimizer for Chinese livestock — reported 12% cost reduction for major pig farms. This validates the market. FeedIQ differentiates with global mycotoxin risk integration (Adisseo doesn't have it).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Analysis by Puneet Arora  |  Sources: Industry reports, company filings, press releases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8F0EC"/>
                </a:solidFill>
                <a:latin typeface="Segoe UI"/>
              </a:defRPr>
            </a:pPr>
            <a:r>
              <a:t>Cargill tests 390,000</a:t>
            </a:r>
            <a:br/>
            <a:r>
              <a:t>samples a year.</a:t>
            </a:r>
            <a:br/>
            <a:r>
              <a:t>The insight dies in a PDF.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10515600" cy="2011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THE CORE 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FA89C"/>
                </a:solidFill>
                <a:latin typeface="Segoe UI"/>
              </a:defRPr>
            </a:pPr>
            <a:r>
              <a:t>Cargill has the world's largest proprietary mycotoxin dataset (389,926 analyses, 41 countries).</a:t>
            </a:r>
            <a:br/>
            <a:r>
              <a:t>Livestock producers have the world's most expensive contamination problem ($1.5B testing market, unmeasured billions in production losses).</a:t>
            </a:r>
            <a:br/>
            <a:br/>
            <a:r>
              <a:t>But there is no interactive tool connecting Cargill's risk intelligence to feed formulation decisions.</a:t>
            </a:r>
            <a:br/>
            <a:r>
              <a:t>The data exists. The problem exists. The bridge does not.</a:t>
            </a:r>
            <a:br/>
            <a:br/>
            <a:r>
              <a:t>FeedIQ is that bridge.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Problem framed by Puneet Arora  |  Validated against Cargill Impact Report 2025, Global Mycotoxin Report 2025, industry interviews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OPPORTUNITY SIZING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Two converging markets,</a:t>
            </a:r>
            <a:br/>
            <a:r>
              <a:t>one product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291840" cy="1645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12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C978"/>
                </a:solidFill>
                <a:latin typeface="Consolas"/>
              </a:defRPr>
            </a:pPr>
            <a:r>
              <a:t>$1.55B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974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TAM — MYCOTOXIN TESTING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Global mycotoxin testing market (2025), growing at 6.4% CAGR through 2034.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103120"/>
            <a:ext cx="3291840" cy="1645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212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4A0FF"/>
                </a:solidFill>
                <a:latin typeface="Consolas"/>
              </a:defRPr>
            </a:pPr>
            <a:r>
              <a:t>$300M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6974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SAM — FEED FORMULATION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97180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Feed formulation software market by 2033, growing at 8.2% CAGR.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03120"/>
            <a:ext cx="3566160" cy="16459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2128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9F43"/>
                </a:solidFill>
                <a:latin typeface="Consolas"/>
              </a:defRPr>
            </a:pPr>
            <a:r>
              <a:t>$50-80M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6974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SOM — RISK-AWARE FORMULATION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97180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Intersection: AI-powered feed tools with integrated mycotoxin risk. No incumbent.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10515600" cy="22860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VALUE DRIVERS FOR CARGILL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Revenue: premium service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736592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FeedIQ as a value-add for Cargill's animal nutrition customers — justify premium pricing on feed products by bundling risk intelligence.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4805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Cost avoidance: reduce production losses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736592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Mycotoxin-related losses cost the global livestock industry billions annually. Even a 5% reduction = massive ROI.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5321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Retention: knowledge capture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788152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With 8,000 employees leaving, FeedIQ captures formulation expertise in an AI system that doesn't retire.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55321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Compliance: EUDR &amp; ESG defense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5788152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Demonstrate responsible sourcing with data-backed decisions. Shift the narrative from 'Cargill is failing on sustainability' to 'Cargill leads with data.'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C978"/>
                </a:solidFill>
                <a:latin typeface="Consolas"/>
              </a:defRPr>
            </a:pPr>
            <a:r>
              <a:t>DEFINE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KEY DESIGN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C978"/>
                </a:solidFill>
                <a:latin typeface="Segoe UI"/>
              </a:defRPr>
            </a:pPr>
            <a:r>
              <a:t>"The best AI products don't</a:t>
            </a:r>
            <a:br/>
            <a:r>
              <a:t>add intelligence.</a:t>
            </a:r>
            <a:br/>
            <a:r>
              <a:t>They remove ignorance."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268"/>
                </a:solidFill>
                <a:latin typeface="Consolas"/>
              </a:defRPr>
            </a:pPr>
            <a:r>
              <a:t>— Design principle applied by Puneet Arora to FeedIQ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10515600" cy="1828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9601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Feed nutritionists aren't unintelligent — they're uninformed.</a:t>
            </a:r>
            <a:br/>
            <a:br/>
            <a:r>
              <a:t>They formulate feeds without knowing that the corn they specified carries 56% fumonisin risk this quarter. They optimize cost without seeing that the cheapest sourcing region has the highest contamination rate.</a:t>
            </a:r>
            <a:br/>
            <a:br/>
            <a:r>
              <a:t>FeedIQ doesn't replace the nutritionist's expertise. It removes the information gap that makes their expertise incomplete. Every formulation is now risk-aware by default — not because the user remembered to check, but because the system checked for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Product Design &amp; AI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SOLUTION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FeedIQ: from data to decision</a:t>
            </a:r>
            <a:br/>
            <a:r>
              <a:t>in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A unified AI platform that connects mycotoxin risk intelligence with feed formulation —</a:t>
            </a:r>
            <a:br/>
            <a:r>
              <a:t>making every feed decision safety-aware, cost-optimized, and explainable.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338328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01 — RISK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Interactive mycotoxin heatmap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747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8 regions × 6 toxins, color-coded by severity. Real-time alerts for spikes. Multi-toxin prevalence gauges. Drill-down by commodity, region, 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60320"/>
            <a:ext cx="338328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02 — AI FORMULATOR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Natural language feed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4747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Describe needs in plain English: species, budget, constraints. AI generates optimized formulation with ingredient breakdown, nutrition profile, and cost analysis.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560320"/>
            <a:ext cx="338328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7432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03 — TRADE-OFF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Cost-risk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4747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Interactive sliders to explore budget vs. risk trade-offs. AI explains: 'Switching corn source adds $12/ton but reduces fumonisin risk from 56% to 8%.'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Product concept &amp; design by Puneet Arora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FEATURE: RISK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Global contamination heatmap</a:t>
            </a:r>
            <a:br/>
            <a:r>
              <a:t>with real-time alerts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858000" cy="4114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CONTAMINATION HEATMAP — REGION × TOXIN (% ABOVE THRESHOLD)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DON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FUM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ZEN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AFLA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T-2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146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A7268"/>
                </a:solidFill>
                <a:latin typeface="Consolas"/>
              </a:defRPr>
            </a:pPr>
            <a:r>
              <a:t>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N. America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48%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30%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78892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8163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1912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S. America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58%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0896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45%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3192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15%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19125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2186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3593591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W. Europe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600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42%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0896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3192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3192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38%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5488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6%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7784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7784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22%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3593591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362102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" y="399592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C. Europe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28600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8600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52%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0896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24%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3192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3192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44%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8%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7784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7784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00800" y="3995928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0" y="4023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4398264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SE Asia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28600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8600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38%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10896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0896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56%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3192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93192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75488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42%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57784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7784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0" y="4398264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0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5840" y="48006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S. Asia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28600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28600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32%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10896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896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48%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93192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93192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22%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5488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5488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38%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57784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57784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10%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400800" y="4800600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0" y="48280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16%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5840" y="520293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Africa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28600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28600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28%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10896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42%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93192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93192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0C9A0"/>
                </a:solidFill>
                <a:latin typeface="Consolas"/>
              </a:defRPr>
            </a:pPr>
            <a:r>
              <a:t>18%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75488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5488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6B6B"/>
                </a:solidFill>
                <a:latin typeface="Consolas"/>
              </a:defRPr>
            </a:pPr>
            <a:r>
              <a:t>52%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57784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57784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8%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400800" y="5202936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00800" y="523036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5840" y="560527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Consolas"/>
              </a:defRPr>
            </a:pPr>
            <a:r>
              <a:t>Oceania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28600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28600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12%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10896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0896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8%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93192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93192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10%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75488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75488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4%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57784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57784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6%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400800" y="5605272"/>
            <a:ext cx="731520" cy="32004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00800" y="56327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5%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772400" y="2103120"/>
            <a:ext cx="3474720" cy="4114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046720" y="224028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ACTIVE ALERTS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955279" y="2560320"/>
            <a:ext cx="3108960" cy="59436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138160" y="260604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Segoe UI"/>
              </a:defRPr>
            </a:pPr>
            <a:r>
              <a:t>DON spike — S. America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138160" y="28163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53%+ threshold in corn/wheat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955279" y="3246120"/>
            <a:ext cx="3108960" cy="59436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38160" y="329184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Segoe UI"/>
              </a:defRPr>
            </a:pPr>
            <a:r>
              <a:t>FUM surge — SE Asia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138160" y="35021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+18% vs. prior year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955279" y="3931920"/>
            <a:ext cx="3108960" cy="59436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138160" y="397764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Segoe UI"/>
              </a:defRPr>
            </a:pPr>
            <a:r>
              <a:t>Multi-toxin — C. Europe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138160" y="41879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52% of samples have 3+ toxins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955279" y="4617720"/>
            <a:ext cx="3108960" cy="59436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138160" y="466344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Low risk — Oceania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138160" y="48737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All categories below 15%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55279" y="53492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Segoe UI"/>
              </a:defRPr>
            </a:pPr>
            <a:r>
              <a:t>UX DECISION: Alerts are not notifications — they're actionable recommendations. Each alert links to a mitigation (swap source, add binder, adjust formulation).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Designed by Puneet Arora  |  Data: Cargill 2025 Global Mycotoxin Report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FEATURE: AI FORMULATOR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Conversational AI for feed</a:t>
            </a:r>
            <a:br/>
            <a:r>
              <a:t>formulation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400800" cy="4114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FEEDIQ AI FORMULATOR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606040"/>
            <a:ext cx="4572000" cy="640080"/>
          </a:xfrm>
          <a:prstGeom prst="roundRect">
            <a:avLst>
              <a:gd name="adj" fmla="val 2000"/>
            </a:avLst>
          </a:prstGeom>
          <a:solidFill>
            <a:srgbClr val="00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2651760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A0F0D"/>
                </a:solidFill>
                <a:latin typeface="Segoe UI"/>
              </a:defRPr>
            </a:pPr>
            <a:r>
              <a:t>Optimize a broiler feed for tropical climate,</a:t>
            </a:r>
            <a:br/>
            <a:r>
              <a:t>budget under $280/ton, minimize soy content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383280"/>
            <a:ext cx="5029200" cy="2560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45643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FEEDIQ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65760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Analyzing: Broiler (grower), Tropical, &lt;$280/ton, Low soy</a:t>
            </a:r>
            <a:br/>
            <a:br/>
            <a:r>
              <a:t>Generated formulation at $268/ton — 4.3% under budget.</a:t>
            </a:r>
            <a:br/>
            <a:br/>
            <a:r>
              <a:t>Key decisions:</a:t>
            </a:r>
            <a:br/>
            <a:r>
              <a:t>• Replaced 30% of soy with rice bran + DDGS</a:t>
            </a:r>
            <a:br/>
            <a:r>
              <a:t>• Added palm oil for energy in heat stress</a:t>
            </a:r>
            <a:br/>
            <a:r>
              <a:t>• Flagged: SE Asian corn = 56% fumonisin risk</a:t>
            </a:r>
            <a:br/>
            <a:r>
              <a:t>• Included 0.5% mycotoxin binder as safety 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2103120"/>
            <a:ext cx="3931920" cy="4297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24028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WHY CONVERSATIONAL?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5603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Segoe UI"/>
              </a:defRPr>
            </a:pPr>
            <a:r>
              <a:t>Mental model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779776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Nutritionists think in constraints ('I need X for Y'), not spreadsheet cells. NL matches how they already describe problems.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4747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Segoe UI"/>
              </a:defRPr>
            </a:pPr>
            <a:r>
              <a:t>Onboarding: minutes, not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694176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Legacy tools (Bestmix, Format) require training. FeedIQ works like asking a colleague.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3891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Segoe UI"/>
              </a:defRPr>
            </a:pPr>
            <a:r>
              <a:t>Knowledge capture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608576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The AI embeds expert knowledge from 389K analyses. It scales what 8,000 departing employees knew.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53035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Segoe UI"/>
              </a:defRPr>
            </a:pPr>
            <a:r>
              <a:t>Risk-aware by default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522976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Every response includes mycotoxin risk — users don't need to remember to 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UX concept by Puneet Arora  |  Interaction design: conversational AI + constraint optimization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FEATURE: TRADE-OFF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AI explains the why,</a:t>
            </a:r>
            <a:br/>
            <a:r>
              <a:t>not just the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AI trust comes from transparency. FeedIQ shows users exactly what changes when they</a:t>
            </a:r>
            <a:br/>
            <a:r>
              <a:t>adjust budget or risk tolerance — and explains the trade-off in plain 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502920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TRADE-OFF 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CORN SOURCE SWAP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SE Asian corn ($180/ton, 56% FUM risk)  →  Oceania corn ($192/ton, 8% FUM risk)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307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E8F0EC"/>
                </a:solidFill>
                <a:latin typeface="Consolas"/>
              </a:defRPr>
            </a:pPr>
            <a:r>
              <a:t>+$12/ton cost   |   -48% fumonisin risk   |   NET: saves $40-60/ton in production losses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6052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SOY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Soybean meal (22%)  →  Rice bran + DDGS blend (15% soy, 10% rice, 5% DDGS)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823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E8F0EC"/>
                </a:solidFill>
                <a:latin typeface="Consolas"/>
              </a:defRPr>
            </a:pPr>
            <a:r>
              <a:t>-$18/ton cost   |   +12% DON from DDGS   |   Binder added to offset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21208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BINDER ADDITION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4406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No mycotoxin binder  →  0.5% bentonite clay blend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8338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E8F0EC"/>
                </a:solidFill>
                <a:latin typeface="Consolas"/>
              </a:defRPr>
            </a:pPr>
            <a:r>
              <a:t>+$4/ton cost   |   -40% DON absorption   |   ROI: 10-15x in reduced mortality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651760"/>
            <a:ext cx="530352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27889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DESIGN PRINCIPLE: NO BLACK BOXES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20040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Most AI products fail not because they're wrong,</a:t>
            </a:r>
            <a:br/>
            <a:r>
              <a:t>but because users can't verify they're right.</a:t>
            </a:r>
            <a:br/>
            <a:br/>
            <a:r>
              <a:t>FeedIQ makes every decision inspectable:</a:t>
            </a:r>
            <a:br/>
            <a:br/>
            <a:r>
              <a:t>• Interactive sliders let users explore alternatives</a:t>
            </a:r>
            <a:br/>
            <a:r>
              <a:t>• Cost-risk bars show what changes with each decision</a:t>
            </a:r>
            <a:br/>
            <a:r>
              <a:t>• AI explains rationale in plain language</a:t>
            </a:r>
            <a:br/>
            <a:r>
              <a:t>• Ingredient-level risk breakdown (not just a score)</a:t>
            </a:r>
            <a:br/>
            <a:br/>
            <a:r>
              <a:t>This is 'safety by architecture' — the system</a:t>
            </a:r>
            <a:br/>
            <a:r>
              <a:t>is transparent because it was designed to be,</a:t>
            </a:r>
            <a:br/>
            <a:r>
              <a:t>not because we added an 'explain' button.</a:t>
            </a:r>
            <a:br/>
            <a:br/>
            <a:r>
              <a:t>Trust is the product. The formulation is the proof.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Puneet Arora  |  Inspired by 20 years of enterprise AI trust patterns at Dell, Boeing, HP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PLATFORM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From product to platform:</a:t>
            </a:r>
            <a:br/>
            <a:r>
              <a:t>The Cargill Terminal (T-C-T)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FeedIQ proved the concept — AI can transform Cargill's data into decisions. T-C-T scales that</a:t>
            </a:r>
            <a:br/>
            <a:r>
              <a:t>to an enterprise Decision Intelligence platform spanning three business-critical domains.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FEEDIQ (PRODUCT)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Single domain: Feed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0156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Mycotoxin risk heatmap (8 regions × 6 toxins)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9417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AI feed formulator (4 species scenarios)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867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Cost-risk trade-off sliders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79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Chat-based interaction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~1,600 lines of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65176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7889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T-C-T (PLATFORM)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1089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3 domains: Executive + Procurement + Supply 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3832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Bloomberg Terminal density 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6576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AI decision engines with confidence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9319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Supplier Intelligence (8 global suppliers, EUDR)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Shipment tracking + delay prediction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4805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Command Center unifying all 3 engines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7548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Intent-based navigation (9 decision modes)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0292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  Live commodity ticker + market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Product strategy &amp; architecture by Puneet Arora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PLATFORM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Three engines, one intelligence 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T-C-T wraps three deep decision engines in a unified shell inspired by Bloomberg Terminal,</a:t>
            </a:r>
            <a:br/>
            <a:r>
              <a:t>Palantir Foundry, and Arc Browser — maximum information density with progressive disclosure.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515600" cy="64008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FA89C"/>
                </a:solidFill>
                <a:latin typeface="Segoe UI"/>
              </a:defRPr>
            </a:pPr>
            <a:r>
              <a:t>SHELL: Topbar (live ticker + search + clock)  →  Sidebar (engine nav + badges)  →  Main (engine views)  →  Intent Tabs (9 modes)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66160"/>
            <a:ext cx="3383280" cy="28346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576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EXECUTIVE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Segoe UI"/>
              </a:defRPr>
            </a:pPr>
            <a:r>
              <a:t>Strategic intelligence for C-suite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97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Morning Brief (3 daily priorities)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902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Business Pulse (6 KPIs + sparklines)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8289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Strategic Risk tracker (severity + trend)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17550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Commodity Intelligence (prices + forecasts)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46811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AI Recommendations with confidence scores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566160"/>
            <a:ext cx="3383280" cy="28346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6576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PROCUREMENT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3931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Segoe UI"/>
              </a:defRPr>
            </a:pPr>
            <a:r>
              <a:t>Supplier &amp; contract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297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Supplier Health Scorecard (8 suppliers, 0-10)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5902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EUDR compliance tracking (PASS/FAIL/PENDING)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488289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Spend Analytics by category ($38.2B)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517550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Contract Copilot (AI renewal recommendations)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546811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Vendor Risk Assessment + approval pipeline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3566160"/>
            <a:ext cx="3383280" cy="283464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36576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SUPPLY CHAIN ENGINE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931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Segoe UI"/>
              </a:defRPr>
            </a:pPr>
            <a:r>
              <a:t>Logistics &amp; shipment intelligence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297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Mission Control (SVG route map)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5902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Shipment Intel (6 active, status tracking)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488289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Delay Prediction AI (root cause + ETA)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517550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Port Intelligence (5 ports, congestion index)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546811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  Weather Intelligence + route optimization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Architecture by Puneet Arora  |  Inspired by Bloomberg Terminal + Palantir Foundry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EXECUTIVE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Every morning starts with</a:t>
            </a:r>
            <a:br/>
            <a:r>
              <a:t>a decision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The Executive Engine synthesizes overnight events into a prioritized brief.</a:t>
            </a:r>
            <a:br/>
            <a:r>
              <a:t>Not a dashboard — a decision queue. Each item has urgency, confidence, and a recommended action.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667512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MORNING BRIEF — SAMPLE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54680"/>
            <a:ext cx="777240" cy="201168"/>
          </a:xfrm>
          <a:prstGeom prst="roundRect">
            <a:avLst>
              <a:gd name="adj" fmla="val 2000"/>
            </a:avLst>
          </a:prstGeom>
          <a:solidFill>
            <a:srgbClr val="FF6B6B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6382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A0F0D"/>
                </a:solidFill>
                <a:latin typeface="Consolas"/>
              </a:defRPr>
            </a:pPr>
            <a:r>
              <a:t>URGENT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1546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Soybean port strike probability: 68%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10712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Recommend: Accelerate Brazil corn sourcing to hedge 5K Asian fumonisin risk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60520"/>
            <a:ext cx="777240" cy="201168"/>
          </a:xfrm>
          <a:prstGeom prst="roundRect">
            <a:avLst>
              <a:gd name="adj" fmla="val 2000"/>
            </a:avLst>
          </a:prstGeom>
          <a:solidFill>
            <a:srgbClr val="FF9F43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6966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A0F0D"/>
                </a:solidFill>
                <a:latin typeface="Consolas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1605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Soybean volatility at 18-month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416552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AI: Derivative hedging available — Argentina drought + USDA report speculation drives 3-day trend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166360"/>
            <a:ext cx="777240" cy="201168"/>
          </a:xfrm>
          <a:prstGeom prst="roundRect">
            <a:avLst>
              <a:gd name="adj" fmla="val 2000"/>
            </a:avLst>
          </a:prstGeom>
          <a:solidFill>
            <a:srgbClr val="54A0FF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755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A0F0D"/>
                </a:solidFill>
                <a:latin typeface="Consolas"/>
              </a:defRPr>
            </a:pPr>
            <a:r>
              <a:t>MONITOR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1663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Bunge-Viterra integration reaching critical phase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422392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89% integration completed — South America blending capacity shift could benefit Cargill market share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2651760"/>
            <a:ext cx="365760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27889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BUSINESS PULSE KPIs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108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Consolas"/>
              </a:defRPr>
            </a:pPr>
            <a:r>
              <a:t>$62.48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1089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CORN FUTURES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3101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Consolas"/>
              </a:defRPr>
            </a:pPr>
            <a:r>
              <a:t>▲ 8.4%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5661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Consolas"/>
              </a:defRPr>
            </a:pPr>
            <a:r>
              <a:t>2,847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5661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ACTIVE SHIPMENTS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7673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Consolas"/>
              </a:defRPr>
            </a:pPr>
            <a:r>
              <a:t>▲ 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Consolas"/>
              </a:defRPr>
            </a:pPr>
            <a:r>
              <a:t>94.2%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40233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ON-TIME DELIVERY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42245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6B6B"/>
                </a:solidFill>
                <a:latin typeface="Consolas"/>
              </a:defRPr>
            </a:pPr>
            <a:r>
              <a:t>▼ 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4805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Consolas"/>
              </a:defRPr>
            </a:pPr>
            <a:r>
              <a:t>7.8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4805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SUPPLIER HEALTH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46817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— stable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9377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F0EC"/>
                </a:solidFill>
                <a:latin typeface="Consolas"/>
              </a:defRPr>
            </a:pPr>
            <a: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937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PENDING DECISIONS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138928"/>
            <a:ext cx="1371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6B6B"/>
                </a:solidFill>
                <a:latin typeface="Consolas"/>
              </a:defRPr>
            </a:pPr>
            <a:r>
              <a:t>▼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Executive intelligence design by Puneet Arora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PROCUREMENT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Supplier intelligence meets</a:t>
            </a:r>
            <a:br/>
            <a:r>
              <a:t>EUDR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Cargill's $38B procurement spend demands AI-native supplier intelligence.</a:t>
            </a:r>
            <a:br/>
            <a:r>
              <a:t>The Procurement Engine tracks 8 global suppliers with health scoring, EUDR compliance, and AI contract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667512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SUPPLIER HEALTH SCORECARD (8 GLOBAL SUPPLIERS)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SUPPLIER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30632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0632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ON-TIME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0632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EUDR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0632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9184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ADM — Argentina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2918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8.4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291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96.2%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291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291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4787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Bunge — Brazil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547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8.1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54787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94.8%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54787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54787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803904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Wilmar — Indonesia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8039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6.2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38039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91.2%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8039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PENDING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8039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6B6B"/>
                </a:solidFill>
                <a:latin typeface="Consolas"/>
              </a:defRPr>
            </a:pPr>
            <a:r>
              <a:t>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059936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Louis Dreyfus — France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0599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7.8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05993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93.6%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05993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05993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31596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COFCO — China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3159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6.8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431596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91.5%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431596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PENDING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431596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572000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Olam — Singapore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45720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7.5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45720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93.1%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45720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5720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2803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Glencore Agri — 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4828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6.4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83280" y="4828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89.8%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4828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PENDING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828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084064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Viterra — NL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50840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9.2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80" y="508406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97.1%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508406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0" y="508406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89520" y="2651760"/>
            <a:ext cx="3657600" cy="347472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0" y="27889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CONTRACT COPILOT 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3200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Wilmar renewal due in 14 days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474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AI suggests: renegotiate with EUDR</a:t>
            </a:r>
            <a:br/>
            <a:r>
              <a:t>compliance clause. Add 60-day GPS</a:t>
            </a:r>
            <a:br/>
            <a:r>
              <a:t>polygon mapping requirement.</a:t>
            </a:r>
            <a:br/>
            <a:r>
              <a:t>Competing palm suppliers offer</a:t>
            </a:r>
            <a:br/>
            <a:r>
              <a:t>3% lower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5720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ADM contract optimization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482803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Volume commitment increase of 8%</a:t>
            </a:r>
            <a:br/>
            <a:r>
              <a:t>unlocks tier-2 pricing. Estimated</a:t>
            </a:r>
            <a:br/>
            <a:r>
              <a:t>saving: $4.2M annually.</a:t>
            </a:r>
            <a:br/>
            <a:r>
              <a:t>AI confidence: 89%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5715000"/>
            <a:ext cx="914400" cy="228600"/>
          </a:xfrm>
          <a:prstGeom prst="roundRect">
            <a:avLst>
              <a:gd name="adj" fmla="val 2000"/>
            </a:avLst>
          </a:prstGeom>
          <a:solidFill>
            <a:srgbClr val="00C978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09560" y="573328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A0F0D"/>
                </a:solidFill>
                <a:latin typeface="Consolas"/>
              </a:defRPr>
            </a:pPr>
            <a:r>
              <a:t>DRAFT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61120" y="5715000"/>
            <a:ext cx="914400" cy="228600"/>
          </a:xfrm>
          <a:prstGeom prst="roundRect">
            <a:avLst>
              <a:gd name="adj" fmla="val 2000"/>
            </a:avLst>
          </a:prstGeom>
          <a:solidFill>
            <a:srgbClr val="54A0FF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06840" y="573328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A0F0D"/>
                </a:solidFill>
                <a:latin typeface="Consolas"/>
              </a:defRPr>
            </a:pPr>
            <a:r>
              <a:t>SIMULATE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Procurement intelligence design by Puneet Arora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SUPPLY CHAIN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Predict disruptions before</a:t>
            </a:r>
            <a:br/>
            <a:r>
              <a:t>they hit the bottom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2,847 active shipments, 94.2% on-time delivery, 5 critical ports — the Supply Chain Engine</a:t>
            </a:r>
            <a:br/>
            <a:r>
              <a:t>gives operators predictive intelligence to reroute, pre-position, and mitigate before delays compound.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6675120" cy="1828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9F43"/>
                </a:solidFill>
                <a:latin typeface="Consolas"/>
              </a:defRPr>
            </a:pPr>
            <a:r>
              <a:t>ACTIVE SHIPMENTS (SAMPLE)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063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0632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CARGO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0632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0632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0632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DELAY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CGL-8891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91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Santos → Rotterdam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918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Soybean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291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0C978"/>
                </a:solidFill>
                <a:latin typeface="Consolas"/>
              </a:defRPr>
            </a:pPr>
            <a:r>
              <a:t>IN TRANSIT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2918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Jun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2918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0d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5295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CGL-8823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52958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Odessa → Jakarta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5295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Wheat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52958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9F43"/>
                </a:solidFill>
                <a:latin typeface="Consolas"/>
              </a:defRPr>
            </a:pPr>
            <a:r>
              <a:t>DELAYED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35295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Jul 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5295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6B6B"/>
                </a:solidFill>
                <a:latin typeface="Consolas"/>
              </a:defRPr>
            </a:pPr>
            <a:r>
              <a:t>+3d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CGL-8756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76732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NOLA → Shanghai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37673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Corn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7673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0C978"/>
                </a:solidFill>
                <a:latin typeface="Consolas"/>
              </a:defRPr>
            </a:pPr>
            <a:r>
              <a:t>IN TRANSIT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37673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Jul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7673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978"/>
                </a:solidFill>
                <a:latin typeface="Consolas"/>
              </a:defRPr>
            </a:pPr>
            <a:r>
              <a:t>0d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0050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CGL-8712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00507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Rosario → Mumbai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40050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Meal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400507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9F43"/>
                </a:solidFill>
                <a:latin typeface="Consolas"/>
              </a:defRPr>
            </a:pPr>
            <a:r>
              <a:t>DELAYED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40050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Jul 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40050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6B6B"/>
                </a:solidFill>
                <a:latin typeface="Consolas"/>
              </a:defRPr>
            </a:pPr>
            <a:r>
              <a:t>+1d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663440"/>
            <a:ext cx="320040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800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6B6B"/>
                </a:solidFill>
                <a:latin typeface="Consolas"/>
              </a:defRPr>
            </a:pPr>
            <a:r>
              <a:t>DELAY PREDICTION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CGL-8823: 3-day delay predicted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21808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FA89C"/>
                </a:solidFill>
                <a:latin typeface="Segoe UI"/>
              </a:defRPr>
            </a:pPr>
            <a:r>
              <a:t>Root cause: Odessa port congestion</a:t>
            </a:r>
            <a:br/>
            <a:r>
              <a:t>(32 vessels, 4.2d avg dwell).</a:t>
            </a:r>
            <a:br/>
            <a:r>
              <a:t>AI confidence: 87%</a:t>
            </a:r>
            <a:br/>
            <a:r>
              <a:t>Recommend: Reroute via Constanta.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0" y="4663440"/>
            <a:ext cx="3291840" cy="15544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0" y="4800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PORT INTELLIGENCE (TOP 5)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5074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Santos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507492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18 vessels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0749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5294376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Rotterdam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29437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24 vessels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29437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89120" y="551383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Odessa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0" y="55138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32 vessels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51383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6B6B"/>
                </a:solidFill>
                <a:latin typeface="Consolas"/>
              </a:defRPr>
            </a:pPr>
            <a:r>
              <a:t>HIGH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573328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NOLA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73328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15 vessels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57332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0C978"/>
                </a:solidFill>
                <a:latin typeface="Consolas"/>
              </a:defRPr>
            </a:pPr>
            <a:r>
              <a:t>LOW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59527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Shanghai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0" y="595274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Consolas"/>
              </a:defRPr>
            </a:pPr>
            <a:r>
              <a:t>28 vessels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595274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9F43"/>
                </a:solidFill>
                <a:latin typeface="Consolas"/>
              </a:defRPr>
            </a:pPr>
            <a:r>
              <a:t>MED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89520" y="2651760"/>
            <a:ext cx="3657600" cy="3566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63840" y="27889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SUPPLY CHAIN KPIs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315468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2,847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42900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Active shipments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6850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94.2%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95935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On-time delivery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63840" y="421538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0" y="4489704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Global routes active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0" y="47457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2.46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02005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Avg transit ratio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3840" y="527608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Consolas"/>
              </a:defRPr>
            </a:pPr>
            <a: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5504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Active weather alerts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Supply chain intelligence design by Puneet Arora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UX INNOVATION: INTENT-BASED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9 intent modes map the</a:t>
            </a:r>
            <a:br/>
            <a:r>
              <a:t>entire decision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91440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FA89C"/>
                </a:solidFill>
                <a:latin typeface="Segoe UI"/>
              </a:defRPr>
            </a:pPr>
            <a:r>
              <a:t>Traditional dashboards organize by data type. T-C-T organizes by user intent —</a:t>
            </a:r>
            <a:br/>
            <a:r>
              <a:t>what you're trying to DO, not what you're looking AT. This is the core UX innovation.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1216152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10698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C978"/>
                </a:solidFill>
                <a:latin typeface="Consolas"/>
              </a:defRPr>
            </a:pPr>
            <a:r>
              <a:t>OBSERVE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944368"/>
            <a:ext cx="10698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8FA89C"/>
                </a:solidFill>
                <a:latin typeface="Segoe UI"/>
              </a:defRPr>
            </a:pPr>
            <a:r>
              <a:t>Monitor data streams,</a:t>
            </a:r>
            <a:br/>
            <a:r>
              <a:t>spot anomalies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301752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0512" y="2651760"/>
            <a:ext cx="1216152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83664" y="2724912"/>
            <a:ext cx="10698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C978"/>
                </a:solidFill>
                <a:latin typeface="Consolas"/>
              </a:defRPr>
            </a:pPr>
            <a: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" y="2944368"/>
            <a:ext cx="10698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8FA89C"/>
                </a:solidFill>
                <a:latin typeface="Segoe UI"/>
              </a:defRPr>
            </a:pPr>
            <a:r>
              <a:t>Contextualize signals</a:t>
            </a:r>
            <a:br/>
            <a:r>
              <a:t>with historical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301752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72384" y="2651760"/>
            <a:ext cx="1216152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45536" y="2724912"/>
            <a:ext cx="10698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54A0FF"/>
                </a:solidFill>
                <a:latin typeface="Consolas"/>
              </a:defRPr>
            </a:pPr>
            <a:r>
              <a:t>INVESTIGATE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5536" y="2944368"/>
            <a:ext cx="10698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8FA89C"/>
                </a:solidFill>
                <a:latin typeface="Segoe UI"/>
              </a:defRPr>
            </a:pPr>
            <a:r>
              <a:t>Drill into root causes</a:t>
            </a:r>
            <a:br/>
            <a:r>
              <a:t>and dependencies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8536" y="301752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2651760"/>
            <a:ext cx="1216152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7408" y="2724912"/>
            <a:ext cx="10698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54A0FF"/>
                </a:solidFill>
                <a:latin typeface="Consolas"/>
              </a:defRPr>
            </a:pPr>
            <a:r>
              <a:t>PREDICT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944368"/>
            <a:ext cx="10698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8FA89C"/>
                </a:solidFill>
                <a:latin typeface="Segoe UI"/>
              </a:defRPr>
            </a:pPr>
            <a:r>
              <a:t>AI-generated forecasts</a:t>
            </a:r>
            <a:br/>
            <a:r>
              <a:t>with confidence bands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0408" y="301752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96128" y="2651760"/>
            <a:ext cx="1216152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2724912"/>
            <a:ext cx="10698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9F43"/>
                </a:solidFill>
                <a:latin typeface="Consolas"/>
              </a:defRPr>
            </a:pPr>
            <a:r>
              <a:t>RECOMMEND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2944368"/>
            <a:ext cx="10698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8FA89C"/>
                </a:solidFill>
                <a:latin typeface="Segoe UI"/>
              </a:defRPr>
            </a:pPr>
            <a:r>
              <a:t>Ranked options with</a:t>
            </a:r>
            <a:br/>
            <a:r>
              <a:t>trade-off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01752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651760"/>
            <a:ext cx="1216152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2724912"/>
            <a:ext cx="10698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9F43"/>
                </a:solidFill>
                <a:latin typeface="Consolas"/>
              </a:defRPr>
            </a:pPr>
            <a:r>
              <a:t>SIMULATE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31152" y="2944368"/>
            <a:ext cx="10698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8FA89C"/>
                </a:solidFill>
                <a:latin typeface="Segoe UI"/>
              </a:defRPr>
            </a:pPr>
            <a:r>
              <a:t>What-if scenarios with</a:t>
            </a:r>
            <a:br/>
            <a:r>
              <a:t>impact projections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4152" y="301752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19872" y="2651760"/>
            <a:ext cx="1216152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3024" y="2724912"/>
            <a:ext cx="10698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6B6B"/>
                </a:solidFill>
                <a:latin typeface="Consolas"/>
              </a:defRPr>
            </a:pPr>
            <a:r>
              <a:t>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3024" y="2944368"/>
            <a:ext cx="10698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8FA89C"/>
                </a:solidFill>
                <a:latin typeface="Segoe UI"/>
              </a:defRPr>
            </a:pPr>
            <a:r>
              <a:t>Decision queue with</a:t>
            </a:r>
            <a:br/>
            <a:r>
              <a:t>audit trail + sign-off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36024" y="301752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81744" y="2651760"/>
            <a:ext cx="1216152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54896" y="2724912"/>
            <a:ext cx="10698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6B6B"/>
                </a:solidFill>
                <a:latin typeface="Consolas"/>
              </a:defRPr>
            </a:pPr>
            <a:r>
              <a:t>EXECUTE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54896" y="2944368"/>
            <a:ext cx="10698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8FA89C"/>
                </a:solidFill>
                <a:latin typeface="Segoe UI"/>
              </a:defRPr>
            </a:pPr>
            <a:r>
              <a:t>One-click action with</a:t>
            </a:r>
            <a:br/>
            <a:r>
              <a:t>rollback capability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97896" y="3017520"/>
            <a:ext cx="9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643616" y="2651760"/>
            <a:ext cx="1216152" cy="12801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A72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16768" y="2724912"/>
            <a:ext cx="10698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5A7268"/>
                </a:solidFill>
                <a:latin typeface="Consolas"/>
              </a:defRPr>
            </a:pPr>
            <a:r>
              <a:t>LEARN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6768" y="2944368"/>
            <a:ext cx="10698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8FA89C"/>
                </a:solidFill>
                <a:latin typeface="Segoe UI"/>
              </a:defRPr>
            </a:pPr>
            <a:r>
              <a:t>Outcome tracking feeds</a:t>
            </a:r>
            <a:br/>
            <a:r>
              <a:t>back into AI models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297680"/>
            <a:ext cx="5029200" cy="2011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4407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AI RECOMMENDATION CARDS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6634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Every AI recommendation in T-C-T includes:</a:t>
            </a:r>
            <a:br/>
            <a:br/>
            <a:r>
              <a:t>• Confidence score (0-100%) with visual meter</a:t>
            </a:r>
            <a:br/>
            <a:r>
              <a:t>• Urgency badge (CRITICAL / HIGH / MONITOR)</a:t>
            </a:r>
            <a:br/>
            <a:r>
              <a:t>• Estimated impact (cost savings, risk reduction)</a:t>
            </a:r>
            <a:br/>
            <a:r>
              <a:t>• Action buttons (APPROVE / SIMULATE / INVESTIGATE)</a:t>
            </a:r>
            <a:br/>
            <a:r>
              <a:t>• Decision audit trail for compliance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0" y="4297680"/>
            <a:ext cx="5303520" cy="2011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440740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TRADITIONAL vs. INTENT-BASED UX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70916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Dashboard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4709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Shows data, user decides what to 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51206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Chatbot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Answers questions, no workflow context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53212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7268"/>
                </a:solidFill>
                <a:latin typeface="Consolas"/>
              </a:defRPr>
            </a:pPr>
            <a:r>
              <a:t>Alert System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Flags issues, no resolution path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26480" y="5897880"/>
            <a:ext cx="4937760" cy="64008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0" y="59436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T-C-T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5943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8F0EC"/>
                </a:solidFill>
                <a:latin typeface="Segoe UI"/>
              </a:defRPr>
            </a:pPr>
            <a:r>
              <a:t>Guides the entire decision lifecycle</a:t>
            </a:r>
            <a:br/>
            <a:r>
              <a:t>from observation through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Intent-based UX framework by Puneet Arora  |  Informed by Apple Intelligence + Arc Browser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UX 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Three principles that shaped</a:t>
            </a:r>
            <a:br/>
            <a:r>
              <a:t>every FeedIQ decision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3383280" cy="4297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C978"/>
                </a:solidFill>
                <a:latin typeface="Consola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97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F0EC"/>
                </a:solidFill>
                <a:latin typeface="Segoe UI"/>
              </a:defRPr>
            </a:pPr>
            <a:r>
              <a:t>CONVERSATIONAL</a:t>
            </a:r>
            <a:br/>
            <a:r>
              <a:t>OVER 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9184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C978"/>
                </a:solidFill>
                <a:latin typeface="Segoe UI"/>
              </a:defRPr>
            </a:pPr>
            <a:r>
              <a:t>Feed nutritionists think in constraints,</a:t>
            </a:r>
            <a:br/>
            <a:r>
              <a:t>not spreadsheet cells.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931920"/>
            <a:ext cx="2926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69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A natural language interface matches</a:t>
            </a:r>
            <a:br/>
            <a:r>
              <a:t>their mental model: 'I need X for Y</a:t>
            </a:r>
            <a:br/>
            <a:r>
              <a:t>conditions' — not 'fill row 47, col C.'</a:t>
            </a:r>
            <a:br/>
            <a:br/>
            <a:r>
              <a:t>Reduces onboarding from days to minutes.</a:t>
            </a:r>
            <a:br/>
            <a:r>
              <a:t>Captures expert knowledge in every query.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383280" cy="4297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331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4A0FF"/>
                </a:solidFill>
                <a:latin typeface="Consola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697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F0EC"/>
                </a:solidFill>
                <a:latin typeface="Segoe UI"/>
              </a:defRPr>
            </a:pPr>
            <a:r>
              <a:t>RISK-AWARE</a:t>
            </a:r>
            <a:br/>
            <a:r>
              <a:t>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29184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A0FF"/>
                </a:solidFill>
                <a:latin typeface="Segoe UI"/>
              </a:defRPr>
            </a:pPr>
            <a:r>
              <a:t>Every formulation automatically</a:t>
            </a:r>
            <a:br/>
            <a:r>
              <a:t>checks mycotoxin risk.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3931920"/>
            <a:ext cx="2926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4069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This isn't a separate workflow — it's</a:t>
            </a:r>
            <a:br/>
            <a:r>
              <a:t>embedded. Users don't need to remember</a:t>
            </a:r>
            <a:br/>
            <a:r>
              <a:t>to check; the system checks for them.</a:t>
            </a:r>
            <a:br/>
            <a:br/>
            <a:r>
              <a:t>'Safety by architecture' — the most</a:t>
            </a:r>
            <a:br/>
            <a:r>
              <a:t>reliable safety net is the one that</a:t>
            </a:r>
            <a:br/>
            <a:r>
              <a:t>requires zero user 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2194560"/>
            <a:ext cx="3383280" cy="4297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2331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9F43"/>
                </a:solidFill>
                <a:latin typeface="Consola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97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F0EC"/>
                </a:solidFill>
                <a:latin typeface="Segoe UI"/>
              </a:defRPr>
            </a:pPr>
            <a:r>
              <a:t>TRADE-OFF</a:t>
            </a:r>
            <a:br/>
            <a:r>
              <a:t>TRANSPARENCY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9184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9F43"/>
                </a:solidFill>
                <a:latin typeface="Segoe UI"/>
              </a:defRPr>
            </a:pPr>
            <a:r>
              <a:t>AI systems fail when they're</a:t>
            </a:r>
            <a:br/>
            <a:r>
              <a:t>black boxes.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92440" y="3931920"/>
            <a:ext cx="292608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4069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FeedIQ shows the WHY — cost-risk</a:t>
            </a:r>
            <a:br/>
            <a:r>
              <a:t>sliders let users explore alternatives,</a:t>
            </a:r>
            <a:br/>
            <a:r>
              <a:t>see what changes, and build trust.</a:t>
            </a:r>
            <a:br/>
            <a:br/>
            <a:r>
              <a:t>Inspired by Cargill's own 'explain</a:t>
            </a:r>
            <a:br/>
            <a:r>
              <a:t>the trade-off' philosophy. Trust is</a:t>
            </a:r>
            <a:br/>
            <a:r>
              <a:t>earned through transparency, not claims.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Design principles by Puneet Arora  |  Informed by Dell GenAI VA (4.4% → 80% engagement)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INFORMATION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User flow: question to optimized feed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8"/>
                </a:solidFill>
                <a:latin typeface="Consolas"/>
              </a:defRPr>
            </a:pPr>
            <a: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User describes need in</a:t>
            </a:r>
            <a:br/>
            <a:r>
              <a:t>natural language</a:t>
            </a:r>
            <a:br/>
            <a:br/>
            <a:r>
              <a:t>'Broiler feed, tropical,</a:t>
            </a:r>
            <a:br/>
            <a:r>
              <a:t>$280/ton, low soy'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4A0FF"/>
                </a:solidFill>
                <a:latin typeface="Consolas"/>
              </a:defRPr>
            </a:pPr>
            <a:r>
              <a:t>PARSE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LLM extracts:</a:t>
            </a:r>
            <a:br/>
            <a:r>
              <a:t>• Species + stage</a:t>
            </a:r>
            <a:br/>
            <a:r>
              <a:t>• Climate zone</a:t>
            </a:r>
            <a:br/>
            <a:r>
              <a:t>• Budget constraint</a:t>
            </a:r>
            <a:br/>
            <a:r>
              <a:t>• Ingredient preferences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43"/>
                </a:solidFill>
                <a:latin typeface="Consolas"/>
              </a:defRPr>
            </a:pPr>
            <a:r>
              <a:t>OPTIMIZE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Constraint solver:</a:t>
            </a:r>
            <a:br/>
            <a:r>
              <a:t>• 15+ nutritional params</a:t>
            </a:r>
            <a:br/>
            <a:r>
              <a:t>• Cost minimization</a:t>
            </a:r>
            <a:br/>
            <a:r>
              <a:t>• Local ingredient DB</a:t>
            </a:r>
            <a:br/>
            <a:r>
              <a:t>• Availability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B6B"/>
                </a:solidFill>
                <a:latin typeface="Consolas"/>
              </a:defRPr>
            </a:pPr>
            <a:r>
              <a:t>RISK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Mycotoxin overlay:</a:t>
            </a:r>
            <a:br/>
            <a:r>
              <a:t>• Region × toxin scoring</a:t>
            </a:r>
            <a:br/>
            <a:r>
              <a:t>• Multi-toxin compound risk</a:t>
            </a:r>
            <a:br/>
            <a:r>
              <a:t>• Threshold comparison</a:t>
            </a:r>
            <a:br/>
            <a:r>
              <a:t>• Auto-swap if HIGH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0728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8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8"/>
                </a:solidFill>
                <a:latin typeface="Consolas"/>
              </a:defRPr>
            </a:pPr>
            <a:r>
              <a:t>PRESENT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0728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Formulation output:</a:t>
            </a:r>
            <a:br/>
            <a:r>
              <a:t>• Ingredient breakdown</a:t>
            </a:r>
            <a:br/>
            <a:r>
              <a:t>• Donut + table viz</a:t>
            </a:r>
            <a:br/>
            <a:r>
              <a:t>• Nutrition profile</a:t>
            </a:r>
            <a:br/>
            <a:r>
              <a:t>• Risk gauge per item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2011680"/>
            <a:ext cx="173736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2103120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5A7268"/>
                </a:solidFill>
                <a:latin typeface="Consolas"/>
              </a:defRPr>
            </a:pPr>
            <a:r>
              <a:t>STEP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331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4A0FF"/>
                </a:solidFill>
                <a:latin typeface="Consolas"/>
              </a:defRPr>
            </a:pPr>
            <a:r>
              <a:t>ITERATE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697480"/>
            <a:ext cx="1463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Trade-off sliders:</a:t>
            </a:r>
            <a:br/>
            <a:r>
              <a:t>• Budget ↔ Risk</a:t>
            </a:r>
            <a:br/>
            <a:r>
              <a:t>• AI recommendations</a:t>
            </a:r>
            <a:br/>
            <a:r>
              <a:t>• Source alternatives</a:t>
            </a:r>
            <a:br/>
            <a:r>
              <a:t>• Export spec sheet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87168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8192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18704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9216" y="3200400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A726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39496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864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TECH STACK: Static HTML/CSS/JS prototype (no build step) → Production: Next.js + Claude API + Linear programming solver + Cargill mycotoxin DB integration + Supabase for supplier/formulation data. Designed for progressive enhancement — prototype demonstrates full UX with mock data, production adds real-time data feeds.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Architecture by Puneet Arora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WORKING PROTOTYPES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Two live prototypes: try them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029200" cy="8229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FEEDIQ —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Consolas"/>
              </a:defRPr>
            </a:pPr>
            <a:r>
              <a:t>puneetindeelhi940.github.io/portfolio/feediq.html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920240"/>
            <a:ext cx="5303520" cy="8229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0116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T-C-T —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F0EC"/>
                </a:solidFill>
                <a:latin typeface="Consolas"/>
              </a:defRPr>
            </a:pPr>
            <a:r>
              <a:t>puneetindeelhi940.github.io/portfolio/tct.html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5029200" cy="31089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546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FEEDIQ 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4747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Global contamination heatmap (8 regions × 6 toxins)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7307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Conversational AI formulator (4 species scenarios)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867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Ingredient donut chart + cost breakdown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24281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Nutrition profile with target range bars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4988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Per-ingredient mycotoxin risk assessment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7548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Cost-risk trade-off sliders + AI recommendations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017520"/>
            <a:ext cx="5303520" cy="32004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1546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T-C-T 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4747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Command Center with cross-engine KPI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73075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Executive Engine: Morning Brief + Business Pulse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98678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Procurement Engine: 8-supplier scorecard + EUDR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24281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Supply Chain Engine: Route map + delay prediction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49884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AI recommendation cards with confidence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7548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Intent-based navigation (9 decision modes)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0109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Live commodity ticker (10 instruments)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26694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✓  Bloomberg Terminal-density data layout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Both prototypes designed &amp; built by Puneet Arora  |  Vibe-coded in 3 days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METRICS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How we measure success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515600" cy="41148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Time to first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2491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Consolas"/>
              </a:defRPr>
            </a:pPr>
            <a:r>
              <a:t>Target: &lt; 2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Benchmark: Bestmix avg setup = 4-6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Weekly active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9359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Consolas"/>
              </a:defRPr>
            </a:pPr>
            <a:r>
              <a:t>Target: 60% of nutritionists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Benchmark: 30% for legacy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Prompt-to-formulation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6227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Consolas"/>
              </a:defRPr>
            </a:pPr>
            <a:r>
              <a:t>Target: 85%+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Benchmark: 55% form completion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1488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468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Formulation accuracy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72491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4A0FF"/>
                </a:solidFill>
                <a:latin typeface="Consolas"/>
              </a:defRPr>
            </a:pPr>
            <a:r>
              <a:t>Target: 95% within NRC ranges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971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Benchmark: expert nutritionist = 92%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3375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Risk detection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59359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4A0FF"/>
                </a:solidFill>
                <a:latin typeface="Consolas"/>
              </a:defRPr>
            </a:pPr>
            <a:r>
              <a:t>Target: 100% HIGH risk flagged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840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Benchmark: manual checking = ~60%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2062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User trust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46227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4A0FF"/>
                </a:solidFill>
                <a:latin typeface="Consolas"/>
              </a:defRPr>
            </a:pPr>
            <a:r>
              <a:t>Target: 8+/10 on trust survey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7091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Benchmark: avg AI tool = 5.2/10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1488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BUSINESS 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468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Feed cost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72491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9F43"/>
                </a:solidFill>
                <a:latin typeface="Consolas"/>
              </a:defRPr>
            </a:pPr>
            <a:r>
              <a:t>Target: 8-12%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971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Benchmark: Adisseo = 12% for pig farms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3375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Mycotoxin-related losses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59359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9F43"/>
                </a:solidFill>
                <a:latin typeface="Consolas"/>
              </a:defRPr>
            </a:pPr>
            <a:r>
              <a:t>Target: 30%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3840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Benchmark: binder alone = 15-20%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2062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F0EC"/>
                </a:solidFill>
                <a:latin typeface="Segoe UI"/>
              </a:defRPr>
            </a:pPr>
            <a:r>
              <a:t>Knowledge retention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46227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9F43"/>
                </a:solidFill>
                <a:latin typeface="Consolas"/>
              </a:defRPr>
            </a:pPr>
            <a:r>
              <a:t>Target: capture 90% of SOPs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47091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A7268"/>
                </a:solidFill>
                <a:latin typeface="Consolas"/>
              </a:defRPr>
            </a:pPr>
            <a:r>
              <a:t>Benchmark: 0% digital capture today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263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Benchmarks sourced from: Adisseo AI platform (2026), Cargill VIV Asia 2025 reports, industry averages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Metrics framework by Puneet Arora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PRODUCT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Three phases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480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0 – 3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Prove the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Segoe UI"/>
              </a:defRPr>
            </a:pPr>
            <a:r>
              <a:t> ✓  FeedIQ prototype (DONE)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5643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C978"/>
                </a:solidFill>
                <a:latin typeface="Segoe UI"/>
              </a:defRPr>
            </a:pPr>
            <a:r>
              <a:t> ✓  T-C-T 3-engine prototype (DONE)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80390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User testing with 5-10 stakeholders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5137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Validate formulation accuracy vs. expert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4988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Cargill internal stakeholder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84632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Refine AI prompts and engine logic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011680"/>
            <a:ext cx="3383280" cy="4480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1031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Consolas"/>
              </a:defRPr>
            </a:pPr>
            <a: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3774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3 – 9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Connect real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08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Integrate mycotoxin DB + procurement APIs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45643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Connect to live commodity &amp; shipment feeds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80390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Claude/GPT API for live AI recommendations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5137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EUDR compliance data feed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4988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Pilot with 2-3 Cargill business units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84632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A/B test intent-based vs. dashboard UX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011680"/>
            <a:ext cx="3383280" cy="448056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21031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Consolas"/>
              </a:defRPr>
            </a:pPr>
            <a: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23774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7268"/>
                </a:solidFill>
                <a:latin typeface="Consolas"/>
              </a:defRPr>
            </a:pPr>
            <a:r>
              <a:t>9 – 18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F0EC"/>
                </a:solidFill>
                <a:latin typeface="Segoe UI"/>
              </a:defRPr>
            </a:pPr>
            <a:r>
              <a:t>Scale &amp; monetize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108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Production deployment across Cargill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345643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T-C-T as Cargill's internal decision 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380390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Mobile companion app for field/exec 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415137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Cross-engine AI decision correlation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4988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Integration with CMAX, CNS, Galleon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84632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 ○  White-label for Cargill's B2B customers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Roadmap by Puneet Arora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463040" cy="2743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54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54A0FF"/>
                </a:solidFill>
                <a:latin typeface="Consolas"/>
              </a:defRPr>
            </a:pPr>
            <a:r>
              <a:t>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484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Similar AI tools validate</a:t>
            </a:r>
            <a:br/>
            <a:r>
              <a:t>the FeedIQ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515600" cy="868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66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Adisseo AI Feed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0848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8"/>
                </a:solidFill>
                <a:latin typeface="Consolas"/>
              </a:defRPr>
            </a:pPr>
            <a:r>
              <a:t>12% cost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066544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AI-driven formulation for Chinese pig farms. Validates that AI feed optimization delivers measurable savings. FeedIQ adds: global mycotoxin risk overlay.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10515600" cy="868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2666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Cargill Port Optimizer (CMAX)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644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2024-2025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0449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4A0FF"/>
                </a:solidFill>
                <a:latin typeface="Consolas"/>
              </a:defRPr>
            </a:pPr>
            <a:r>
              <a:t>30x ROI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026664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Cargill's own AI for shipping logistics. Proves Cargill can operationalize AI. FeedIQ extends this to the feed formulation domain.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10515600" cy="868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98678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Cargill Manufacturing 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22452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2024-2025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0050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43"/>
                </a:solidFill>
                <a:latin typeface="Consolas"/>
              </a:defRPr>
            </a:pPr>
            <a:r>
              <a:t>$15M+ in benefits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986784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AI-driven process optimization across manufacturing. Demonstrates data-to-action value. FeedIQ applies the same principle to feed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892040"/>
            <a:ext cx="10515600" cy="868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94690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F0EC"/>
                </a:solidFill>
                <a:latin typeface="Segoe UI"/>
              </a:defRPr>
            </a:pPr>
            <a:r>
              <a:t>Dell GenAI Virtual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18464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2024-2026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6B"/>
                </a:solidFill>
                <a:latin typeface="Consolas"/>
              </a:defRPr>
            </a:pPr>
            <a:r>
              <a:t>4.4% → 80%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946904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FA89C"/>
                </a:solidFill>
                <a:latin typeface="Segoe UI"/>
              </a:defRPr>
            </a:pPr>
            <a:r>
              <a:t>Puneet Arora's prior work at Dell — transformed a low-engagement chatbot into an 80% engagement, +14% conversion AI tool. Same design principles applied to FeedIQ.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897880"/>
            <a:ext cx="10515600" cy="502920"/>
          </a:xfrm>
          <a:prstGeom prst="roundRect">
            <a:avLst>
              <a:gd name="adj" fmla="val 2000"/>
            </a:avLst>
          </a:prstGeom>
          <a:solidFill>
            <a:srgbClr val="1A2822"/>
          </a:solidFill>
          <a:ln w="12700">
            <a:solidFill>
              <a:srgbClr val="00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9436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FA89C"/>
                </a:solidFill>
                <a:latin typeface="Segoe UI"/>
              </a:defRPr>
            </a:pPr>
            <a:r>
              <a:t>PATTERN: AI tools that connect domain data to user decisions consistently deliver 10-30x ROI. FeedIQ applies this proven pattern to a $1.5B market with zero existing interactive tools.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Research &amp; analysis by Puneet Arora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Consolas"/>
              </a:defRPr>
            </a:pPr>
            <a:r>
              <a:t>—  SOLUTION 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F0EC"/>
                </a:solidFill>
                <a:latin typeface="Segoe UI"/>
              </a:defRPr>
            </a:pPr>
            <a:r>
              <a:t>What makes this different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FEEDIQ FIRSTS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Risk + Formulation unified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9631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First tool combining mycotoxin risk with feed optimization in one interface.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Segoe UI"/>
              </a:defRPr>
            </a:pPr>
            <a:r>
              <a:t>Natural language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7355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Conversational AI replaces form-based UIs. Onboarding: days → minutes.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947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Segoe UI"/>
              </a:defRPr>
            </a:pPr>
            <a:r>
              <a:t>Ingredient-level risk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5079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Per-ingredient mycotoxin scoring by sourcing region, not just aggregates.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720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Segoe UI"/>
              </a:defRPr>
            </a:pPr>
            <a:r>
              <a:t>Cost-risk trade-off viz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2803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'Spend $12 more/ton → 48% less fumonisin risk.' Invisible trade-offs made visible.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182880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9202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4A0FF"/>
                </a:solidFill>
                <a:latin typeface="Consolas"/>
              </a:defRPr>
            </a:pPr>
            <a:r>
              <a:t>T-C-T FIRSTS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2402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4A0FF"/>
                </a:solidFill>
                <a:latin typeface="Segoe UI"/>
              </a:defRPr>
            </a:pPr>
            <a:r>
              <a:t>Intent-based enterprise 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49631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Navigation by user intent (Observe → Execute), not data type. New UX paradigm.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175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78"/>
                </a:solidFill>
                <a:latin typeface="Segoe UI"/>
              </a:defRPr>
            </a:pPr>
            <a:r>
              <a:t>3-engine decision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27355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Executive + Procurement + Supply Chain in one shell. Zero existing parallels at Cargill.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7947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F43"/>
                </a:solidFill>
                <a:latin typeface="Segoe UI"/>
              </a:defRPr>
            </a:pPr>
            <a:r>
              <a:t>AI confidence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05079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Every AI recommendation shows confidence %, urgency, and impact. Explainable AI by design.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5720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Segoe UI"/>
              </a:defRPr>
            </a:pPr>
            <a:r>
              <a:t>EUDR compliance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82803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FA89C"/>
                </a:solidFill>
                <a:latin typeface="Segoe UI"/>
              </a:defRPr>
            </a:pPr>
            <a:r>
              <a:t>Supplier-level deforestation regulation tracking with AI renegotiation recommendations.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Product strategy by Puneet Arora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>
              <a:gd name="adj" fmla="val 2000"/>
            </a:avLst>
          </a:prstGeom>
          <a:solidFill>
            <a:srgbClr val="00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F0EC"/>
                </a:solidFill>
                <a:latin typeface="Segoe UI"/>
              </a:defRPr>
            </a:pPr>
            <a:r>
              <a:t>From data to decision.</a:t>
            </a:r>
            <a:br/>
            <a:r>
              <a:t>From risk to action.</a:t>
            </a:r>
            <a:br/>
            <a:r>
              <a:t>From complexity to clarity.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FA89C"/>
                </a:solidFill>
                <a:latin typeface="Segoe UI"/>
              </a:defRPr>
            </a:pPr>
            <a:r>
              <a:t>FeedIQ — a product concept demonstrating how AI and thoughtful UX</a:t>
            </a:r>
            <a:br/>
            <a:r>
              <a:t>can transform Cargill's most valuable data asset into a competitive advantage.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114800"/>
            <a:ext cx="10515600" cy="12700"/>
          </a:xfrm>
          <a:prstGeom prst="rect">
            <a:avLst/>
          </a:prstGeom>
          <a:solidFill>
            <a:srgbClr val="243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F0EC"/>
                </a:solidFill>
                <a:latin typeface="Consolas"/>
              </a:defRPr>
            </a:pPr>
            <a:r>
              <a:t>PUNEET ARORA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89C"/>
                </a:solidFill>
                <a:latin typeface="Segoe UI"/>
              </a:defRPr>
            </a:pPr>
            <a:r>
              <a:t>Principal Product Designer &amp; AI Design Leader</a:t>
            </a:r>
            <a:br/>
            <a:r>
              <a:t>20 years  |  Dell · Boeing · Software AG · HP R&amp;D</a:t>
            </a:r>
            <a:br/>
            <a:br/>
            <a:r>
              <a:t>Led Dell's first GenAI Virtual Assistant (4.4% → 80% engagement)</a:t>
            </a:r>
            <a:br/>
            <a:r>
              <a:t>33 designers across 5 time zones  |  8 patents granted</a:t>
            </a:r>
            <a:br/>
            <a:r>
              <a:t>President &amp; Game Changer Awards at Dell —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389120"/>
            <a:ext cx="4572000" cy="2011680"/>
          </a:xfrm>
          <a:prstGeom prst="roundRect">
            <a:avLst>
              <a:gd name="adj" fmla="val 2000"/>
            </a:avLst>
          </a:prstGeom>
          <a:solidFill>
            <a:srgbClr val="141E1A"/>
          </a:solidFill>
          <a:ln w="12700">
            <a:solidFill>
              <a:srgbClr val="243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45262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C978"/>
                </a:solidFill>
                <a:latin typeface="Consolas"/>
              </a:defRPr>
            </a:pPr>
            <a:r>
              <a:t>LINKS &amp; 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846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FeedIQ 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46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8F0EC"/>
                </a:solidFill>
                <a:latin typeface="Consolas"/>
              </a:defRPr>
            </a:pPr>
            <a:r>
              <a:t>puneetindeelhi940.github.io/portfolio/feediq.html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166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T-C-T Prototype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8F0EC"/>
                </a:solidFill>
                <a:latin typeface="Consolas"/>
              </a:defRPr>
            </a:pPr>
            <a:r>
              <a:t>puneetindeelhi940.github.io/portfolio/tct.html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486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486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8F0EC"/>
                </a:solidFill>
                <a:latin typeface="Consolas"/>
              </a:defRPr>
            </a:pPr>
            <a:r>
              <a:t>puneetindeelhi940.github.io/portfolio/home.html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8064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7268"/>
                </a:solidFill>
                <a:latin typeface="Consolas"/>
              </a:defRPr>
            </a:pPr>
            <a:r>
              <a:t>Email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5806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8F0EC"/>
                </a:solidFill>
                <a:latin typeface="Consolas"/>
              </a:defRPr>
            </a:pPr>
            <a:r>
              <a:t>puneet.ar@gmail.com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7268"/>
                </a:solidFill>
                <a:latin typeface="Consolas"/>
              </a:defRPr>
            </a:pPr>
            <a:r>
              <a:t>Built with vibe coding  |  Double Diamond framework  | 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A7268"/>
                </a:solidFill>
                <a:latin typeface="Consolas"/>
              </a:defRPr>
            </a:pPr>
            <a: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