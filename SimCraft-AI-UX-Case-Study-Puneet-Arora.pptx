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B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—  UX CASE STUDY  |  HEALTHCARE SIMULATION × AGENTIC AI  | 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800" b="1">
                <a:solidFill>
                  <a:srgbClr val="E9EBF2"/>
                </a:solidFill>
                <a:latin typeface="Segoe UI"/>
              </a:defRPr>
            </a:pPr>
            <a:r>
              <a:t>SimCraft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400" b="0">
                <a:solidFill>
                  <a:srgbClr val="7C86FF"/>
                </a:solidFill>
                <a:latin typeface="Segoe UI"/>
              </a:defRPr>
            </a:pPr>
            <a:r>
              <a:t>Designing the “Figma for Clinical Simulation”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692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99A0B3"/>
                </a:solidFill>
                <a:latin typeface="Segoe UI"/>
              </a:defRPr>
            </a:pPr>
            <a:r>
              <a:t>How research with clinical educators shaped an AI-native authoring studio that turns a one-line</a:t>
            </a:r>
          </a:p>
          <a:p>
            <a:pPr algn="l">
              <a:lnSpc>
                <a:spcPct val="120000"/>
              </a:lnSpc>
              <a:defRPr sz="1400" b="0">
                <a:solidFill>
                  <a:srgbClr val="99A0B3"/>
                </a:solidFill>
                <a:latin typeface="Segoe UI"/>
              </a:defRPr>
            </a:pPr>
            <a:r>
              <a:t>training brief into a complete, branching, guideline-validated simulation in under five minutes.</a:t>
            </a:r>
          </a:p>
        </p:txBody>
      </p:sp>
      <p:sp>
        <p:nvSpPr>
          <p:cNvPr id="7" name="Diamond 6"/>
          <p:cNvSpPr/>
          <p:nvPr/>
        </p:nvSpPr>
        <p:spPr>
          <a:xfrm>
            <a:off x="731520" y="4572000"/>
            <a:ext cx="566928" cy="566928"/>
          </a:xfrm>
          <a:prstGeom prst="diamond">
            <a:avLst/>
          </a:prstGeom>
          <a:noFill/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5230368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1">
                <a:solidFill>
                  <a:srgbClr val="626A80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9" name="Diamond 8"/>
          <p:cNvSpPr/>
          <p:nvPr/>
        </p:nvSpPr>
        <p:spPr>
          <a:xfrm>
            <a:off x="2148840" y="4572000"/>
            <a:ext cx="566928" cy="566928"/>
          </a:xfrm>
          <a:prstGeom prst="diamond">
            <a:avLst/>
          </a:prstGeom>
          <a:noFill/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5230368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1">
                <a:solidFill>
                  <a:srgbClr val="626A80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11" name="Diamond 10"/>
          <p:cNvSpPr/>
          <p:nvPr/>
        </p:nvSpPr>
        <p:spPr>
          <a:xfrm>
            <a:off x="3566160" y="4572000"/>
            <a:ext cx="566928" cy="566928"/>
          </a:xfrm>
          <a:prstGeom prst="diamond">
            <a:avLst/>
          </a:prstGeom>
          <a:noFill/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5230368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1">
                <a:solidFill>
                  <a:srgbClr val="626A80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13" name="Diamond 12"/>
          <p:cNvSpPr/>
          <p:nvPr/>
        </p:nvSpPr>
        <p:spPr>
          <a:xfrm>
            <a:off x="4983480" y="4572000"/>
            <a:ext cx="566928" cy="566928"/>
          </a:xfrm>
          <a:prstGeom prst="diamond">
            <a:avLst/>
          </a:prstGeom>
          <a:noFill/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5230368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1">
                <a:solidFill>
                  <a:srgbClr val="626A80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806440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Consolas"/>
              </a:defRPr>
            </a:pPr>
            <a:r>
              <a:t>PUNEET ARORA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362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626A80"/>
                </a:solidFill>
                <a:latin typeface="Consolas"/>
              </a:defRPr>
            </a:pPr>
            <a:r>
              <a:t>Principal Product Designer &amp; AI Design Leader  |  Dell · Boeing · Software AG · HP R&amp;D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943600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LIVE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6236208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puneetindeelhi940.github.io/portfolio/simcraft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—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The 60-second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5912" cy="9692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969264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751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F6A60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56816"/>
            <a:ext cx="8686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Simulation-based education demonstrably improves clinical outcomes, yet a single scenario takes educators 10–20 hours to author by hand. Authoring — not simulator hardware — is the bottleneck that keeps simulation labs under-utilised.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07792"/>
            <a:ext cx="10725912" cy="9692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07792"/>
            <a:ext cx="54864" cy="969264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6B04C"/>
                </a:solidFill>
                <a:latin typeface="Consolas"/>
              </a:defRPr>
            </a:pPr>
            <a: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35808"/>
            <a:ext cx="8686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Across 14 interviews, educators didn't ask for “AI-written scenarios.” They asked to stay in control: generate the clinical scaffolding, but keep every beat editable, evidence-linked, and reviewable by peers before it reaches learners.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10725912" cy="9692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86784"/>
            <a:ext cx="54864" cy="969264"/>
          </a:xfrm>
          <a:prstGeom prst="rect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7C86FF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114800"/>
            <a:ext cx="8686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SimCraft AI — an authoring studio where a 7-agent pipeline drafts patient, vitals trajectory, branches, assessment and debrief as structured JSON; educators refine on a visual canvas, validate against AHA/ERC guidelines, and run it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65776"/>
            <a:ext cx="10725912" cy="9692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65776"/>
            <a:ext cx="54864" cy="969264"/>
          </a:xfrm>
          <a:prstGeom prst="rect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45C98B"/>
                </a:solidFill>
                <a:latin typeface="Consolas"/>
              </a:defRPr>
            </a:pPr>
            <a: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193792"/>
            <a:ext cx="8686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Median authoring time in evaluation sessions fell from ~12 h to 41 min (−94%); first-pass scenario acceptability rated 4.4/5 by 9 educators; 100% of generated packages passed critical-action guideline checks after one revision cycle.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—  HOW TO READ THIS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35 slides, four diamonds, one thread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950976" y="2029968"/>
            <a:ext cx="274320" cy="274320"/>
          </a:xfrm>
          <a:prstGeom prst="diamond">
            <a:avLst/>
          </a:prstGeom>
          <a:solidFill>
            <a:srgbClr val="45C98B"/>
          </a:solidFill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048256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432304"/>
            <a:ext cx="2167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SLIDES 05–15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889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78892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Domain &amp; problem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33756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Research plan &amp; rigour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8862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8620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3 primary personas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4348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43484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Field observation &amp; journey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9834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98348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Literature review (evidence base)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8" y="182880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3666744" y="2029968"/>
            <a:ext cx="274320" cy="274320"/>
          </a:xfrm>
          <a:prstGeom prst="diamond">
            <a:avLst/>
          </a:prstGeom>
          <a:solidFill>
            <a:srgbClr val="45C98B"/>
          </a:solidFill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2" y="2048256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2432304"/>
            <a:ext cx="2167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SLIDES 16–21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7889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78892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Affinity mapping → 6 themes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33756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Pain-point inventory (14 items)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38862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88620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Severity × frequency prioritisation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44348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43484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Top-5 pain points, RICE-scored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6744" y="49834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98348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HMWs → problem statement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182880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6382512" y="2029968"/>
            <a:ext cx="274320" cy="274320"/>
          </a:xfrm>
          <a:prstGeom prst="diamond">
            <a:avLst/>
          </a:prstGeom>
          <a:solidFill>
            <a:srgbClr val="38D5E0"/>
          </a:solidFill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048256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2432304"/>
            <a:ext cx="2167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SLIDES 22–29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27889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278892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4 concepts explored &amp; scored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333756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Winning concept rationale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8862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388620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IA &amp; 7-agent AI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4348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443484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Design principles &amp;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834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498348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Hero flows: wizard, canvas, sim views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78824" y="182880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9098280" y="2029968"/>
            <a:ext cx="274320" cy="274320"/>
          </a:xfrm>
          <a:prstGeom prst="diamond">
            <a:avLst/>
          </a:prstGeom>
          <a:solidFill>
            <a:srgbClr val="38D5E0"/>
          </a:solidFill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82328" y="2048256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2432304"/>
            <a:ext cx="2167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SLIDES 30–34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7889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7736" y="278892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Usability testing protocol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7736" y="333756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Findings → design iterations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8862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17736" y="388620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Outcomes vs success metrics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4348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17736" y="443484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Learnings &amp; honest limitations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9834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7736" y="4983480"/>
            <a:ext cx="1965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8D5E0"/>
                </a:solidFill>
                <a:latin typeface="Consolas"/>
              </a:defRPr>
            </a:pPr>
            <a:r>
              <a:t>References are cited inline as numbered chips  [n]  and consolidated on slide 35.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— 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Double Diamond: diverge on the problem before the solution</a:t>
            </a:r>
          </a:p>
        </p:txBody>
      </p:sp>
      <p:sp>
        <p:nvSpPr>
          <p:cNvPr id="4" name="Diamond 3"/>
          <p:cNvSpPr/>
          <p:nvPr/>
        </p:nvSpPr>
        <p:spPr>
          <a:xfrm>
            <a:off x="1188720" y="2148840"/>
            <a:ext cx="4206240" cy="2377440"/>
          </a:xfrm>
          <a:prstGeom prst="diamond">
            <a:avLst/>
          </a:prstGeom>
          <a:noFill/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309360" y="2148840"/>
            <a:ext cx="4206240" cy="2377440"/>
          </a:xfrm>
          <a:prstGeom prst="diamond">
            <a:avLst/>
          </a:prstGeom>
          <a:noFill/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06324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06324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06324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Problem</a:t>
            </a:r>
          </a:p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(brief)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663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Problem</a:t>
            </a:r>
          </a:p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4663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Shipped</a:t>
            </a:r>
          </a:p>
          <a:p>
            <a:pPr algn="ctr">
              <a:defRPr sz="900" b="0">
                <a:solidFill>
                  <a:srgbClr val="626A80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725912" cy="8686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13248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Adopted from the Design Council's Double Diamond (2005, revised 2019). The discipline it enforced here: we spent 5 of 11 weeks</a:t>
            </a:r>
          </a:p>
          <a:p>
            <a:pPr algn="l">
              <a:lnSpc>
                <a:spcPct val="110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in the first diamond — refusing to design an “AI scenario writer” until the evidence told us what educators actually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69164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737360"/>
            <a:ext cx="3986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8D5E0"/>
                </a:solidFill>
                <a:latin typeface="Consolas"/>
              </a:defRPr>
            </a:pPr>
            <a:r>
              <a:t>[1] Design Council — The Double Diamond, 2005 / rev. 2019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595360" y="1554480"/>
            <a:ext cx="2743200" cy="2743200"/>
          </a:xfrm>
          <a:prstGeom prst="diamond">
            <a:avLst/>
          </a:prstGeom>
          <a:noFill/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098280" y="2057400"/>
            <a:ext cx="1737360" cy="1737360"/>
          </a:xfrm>
          <a:prstGeom prst="diamond">
            <a:avLst/>
          </a:prstGeom>
          <a:solidFill>
            <a:srgbClr val="181B24"/>
          </a:solidFill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DOUBLE DIAMOND  ·  DIAMOND 1 ·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Understand the world</a:t>
            </a:r>
          </a:p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of the simulationist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Clinical simulation is a high-stakes, evidence-rich domain. Before sketching anything,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we mapped who authors scenarios, how long it really takes, what the literature already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proves, and where the emotional lows sit in today's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626A80"/>
                </a:solidFill>
                <a:latin typeface="Consolas"/>
              </a:defRPr>
            </a:pPr>
            <a:r>
              <a:t>SLIDES 06 –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DOMAIN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Simulation works — when scenarios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1150" b="0">
                <a:solidFill>
                  <a:srgbClr val="99A0B3"/>
                </a:solidFill>
                <a:latin typeface="Segoe UI"/>
              </a:defRPr>
            </a:pPr>
            <a:r>
              <a:t>Healthcare simulation replaces “practice on patients” with rehearsal on manikins and standardised patients. The evidence base is</a:t>
            </a:r>
          </a:p>
          <a:p>
            <a:pPr algn="l">
              <a:lnSpc>
                <a:spcPct val="112000"/>
              </a:lnSpc>
              <a:defRPr sz="1150" b="0">
                <a:solidFill>
                  <a:srgbClr val="99A0B3"/>
                </a:solidFill>
                <a:latin typeface="Segoe UI"/>
              </a:defRPr>
            </a:pPr>
            <a:r>
              <a:t>unusually strong — the constraint is supply of well-designed scenarios, not appetite.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560320" cy="1783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0545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45C98B"/>
                </a:solidFill>
                <a:latin typeface="Consolas"/>
              </a:defRPr>
            </a:pPr>
            <a:r>
              <a:t>1.09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8094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EFFECT SIZE (COHEN'S 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36976"/>
            <a:ext cx="2157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Technology-enhanced simulation vs no intervention, pooled across 609 studies.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377440"/>
            <a:ext cx="2560320" cy="1783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0545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38D5E0"/>
                </a:solidFill>
                <a:latin typeface="Consolas"/>
              </a:defRPr>
            </a:pPr>
            <a:r>
              <a:t>50+ yrs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8094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OF ACCUMULATED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36976"/>
            <a:ext cx="2157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From Resusci Anne to multi-room simulation centres in most teaching hospitals. [3]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77440"/>
            <a:ext cx="2560320" cy="1783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50545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7C86FF"/>
                </a:solidFill>
                <a:latin typeface="Consolas"/>
              </a:defRPr>
            </a:pPr>
            <a:r>
              <a:t>10 of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8094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BEME BEST-PRACTICE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236976"/>
            <a:ext cx="2157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depend on scenario design quality — feedback, curriculum integration, difficulty range. [4]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2377440"/>
            <a:ext cx="2551176" cy="1783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250545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6B04C"/>
                </a:solidFill>
                <a:latin typeface="Consolas"/>
              </a:defRPr>
            </a:pPr>
            <a:r>
              <a:t>$100k+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980944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TYPICAL SIM LAB CAPEX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236976"/>
            <a:ext cx="21488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High-fidelity manikins and AV — often idle for want of fresh, relevant scenarios. [8]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10725912" cy="13716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902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WHO IT SERVES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1947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Hospitals · universities · nursing schools · EMS academies · military medical training commands · dedicated simulation centres.</a:t>
            </a:r>
          </a:p>
          <a:p>
            <a:pPr algn="l">
              <a:lnSpc>
                <a:spcPct val="112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Seven distinct roles author or run scenarios — from clinical educators to sim-tech operators — with very different fluencies.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436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89320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8D5E0"/>
                </a:solidFill>
                <a:latin typeface="Consolas"/>
              </a:defRPr>
            </a:pPr>
            <a:r>
              <a:t>[2] Cook et al., JAMA 2011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94360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5989320"/>
            <a:ext cx="2798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8D5E0"/>
                </a:solidFill>
                <a:latin typeface="Consolas"/>
              </a:defRPr>
            </a:pPr>
            <a:r>
              <a:t>[3] McGaghie et al., Med Educ 2010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94360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5989320"/>
            <a:ext cx="33467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8D5E0"/>
                </a:solidFill>
                <a:latin typeface="Consolas"/>
              </a:defRPr>
            </a:pPr>
            <a:r>
              <a:t>[4] Issenberg et al., BEME / Med Teach 2005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PROBLEM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Authoring is the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F6A60"/>
                </a:solidFill>
                <a:latin typeface="Consolas"/>
              </a:defRPr>
            </a:pPr>
            <a:r>
              <a:t>10–20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PER SCENARIO, HAND-AUTHORED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96896"/>
            <a:ext cx="215798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Consistent across our interviews and INACSL design-standard workloads. [5]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6537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6B04C"/>
                </a:solidFill>
                <a:latin typeface="Consolas"/>
              </a:defRPr>
            </a:pPr>
            <a:r>
              <a:t>6–8 wks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4086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IDEA → FIRST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96896"/>
            <a:ext cx="215798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Writing, peer review, pilot, revision — before a learner ever sees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373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6537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6B04C"/>
                </a:solidFill>
                <a:latin typeface="Consolas"/>
              </a:defRPr>
            </a:pPr>
            <a: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4086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REUSE STALE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96896"/>
            <a:ext cx="215798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Educators in our survey (n=42) reusing years-old cases they know are outdated.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51176" cy="1828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86537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F6A60"/>
                </a:solidFill>
                <a:latin typeface="Consolas"/>
              </a:defRPr>
            </a:pPr>
            <a:r>
              <a:t>1 FTE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340864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“SCENARIO DEBT”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596896"/>
            <a:ext cx="21488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Directors describe a permanent backlog no one is staffed to clear.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303520" cy="21488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986784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Why it's so slow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3525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52544"/>
            <a:ext cx="460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A scenario is 9 artefacts, not 1: case, vitals script, labs, imaging,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71830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18304"/>
            <a:ext cx="460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branches, instructor notes, learner brief, assessment, debrief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50840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084064"/>
            <a:ext cx="460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Each artefact must agree clinically with every other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54498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49824"/>
            <a:ext cx="460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Guidelines (AHA/ERC/SSC) shift under the author's feet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840480"/>
            <a:ext cx="5276088" cy="21488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98678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What it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525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4352544"/>
            <a:ext cx="4581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Sim labs idle while faculty write documents in 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1830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4718304"/>
            <a:ext cx="4581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Curriculum gaps: high-acuity, low-frequency cases never get built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840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5084064"/>
            <a:ext cx="4581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Zendejas et al.: cost is the least-reported outcome in the field [8]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4498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5449824"/>
            <a:ext cx="4581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Educator burnout — authoring happens on evenings and weekends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RESEARCH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Mixed-methods, triangulated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5912" cy="7498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SEMI-STRUCTURED INTERVIEWS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01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Consolas"/>
              </a:defRPr>
            </a:pPr>
            <a:r>
              <a:t>n =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74520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Clinical educators, nursing faculty, sim directors, EMS &amp; military trainers, sim techs — 45–60 min, remote + in-situ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725912" cy="7498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5234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FIELD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523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38D5E0"/>
                </a:solidFill>
                <a:latin typeface="Consolas"/>
              </a:defRPr>
            </a:pPr>
            <a:r>
              <a:t>6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24912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Shadowed full authoring + run + debrief cycles at 2 university sim centres and 1 hospital education 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83864"/>
            <a:ext cx="10725912" cy="7498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027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PRACTITIONER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027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7C86FF"/>
                </a:solidFill>
                <a:latin typeface="Consolas"/>
              </a:defRPr>
            </a:pPr>
            <a:r>
              <a:t>n =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575304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Screener + workload instrument distributed through simulation-educator communities; anchors the time &amp; reuse stats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34256"/>
            <a:ext cx="10725912" cy="7498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531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LITERATURE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531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6B04C"/>
                </a:solidFill>
                <a:latin typeface="Consolas"/>
              </a:defRPr>
            </a:pPr>
            <a:r>
              <a:t>23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425696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Simulation-education evidence, scenario-design standards, debriefing science, AI-in-medical-education guides [2–13]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84648"/>
            <a:ext cx="10725912" cy="7498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ARTEFACT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303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99A0B3"/>
                </a:solidFill>
                <a:latin typeface="Consolas"/>
              </a:defRPr>
            </a:pPr>
            <a:r>
              <a:t>31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276088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Existing scenario documents collected from participants — templates, run sheets, hand-drawn branching 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626A80"/>
                </a:solidFill>
                <a:latin typeface="Consolas"/>
              </a:defRPr>
            </a:pPr>
            <a:r>
              <a:t>Rigour: interview guide piloted twice · two-researcher affinity coding · member-checking of persona drafts with 4 participants.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WHO WE MET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Seven roles, three primary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Segoe UI"/>
              </a:defRPr>
            </a:pPr>
            <a:r>
              <a:t>Mapped by authoring frequency × influence over adoption. We designed primarily for the top-right — and deliberately for the novice educator.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492240" cy="3749039"/>
          </a:xfrm>
          <a:prstGeom prst="roundRect">
            <a:avLst>
              <a:gd name="adj" fmla="val 2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7640" y="2240280"/>
            <a:ext cx="12700" cy="3474719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6217920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AUTHORS 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504687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AUTHORS RARELY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504687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1">
                <a:solidFill>
                  <a:srgbClr val="626A80"/>
                </a:solidFill>
                <a:latin typeface="Consolas"/>
              </a:defRPr>
            </a:pPr>
            <a:r>
              <a:t>HIGH INFLUENCE →</a:t>
            </a:r>
          </a:p>
        </p:txBody>
      </p:sp>
      <p:sp>
        <p:nvSpPr>
          <p:cNvPr id="13" name="Oval 12"/>
          <p:cNvSpPr/>
          <p:nvPr/>
        </p:nvSpPr>
        <p:spPr>
          <a:xfrm>
            <a:off x="2008022" y="3602736"/>
            <a:ext cx="146304" cy="146304"/>
          </a:xfrm>
          <a:prstGeom prst="ellipse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9190" y="356616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7C86FF"/>
                </a:solidFill>
                <a:latin typeface="Consolas"/>
              </a:defRPr>
            </a:pPr>
            <a:r>
              <a:t>Clinical Educator ★</a:t>
            </a:r>
          </a:p>
        </p:txBody>
      </p:sp>
      <p:sp>
        <p:nvSpPr>
          <p:cNvPr id="15" name="Oval 14"/>
          <p:cNvSpPr/>
          <p:nvPr/>
        </p:nvSpPr>
        <p:spPr>
          <a:xfrm>
            <a:off x="2724912" y="4535424"/>
            <a:ext cx="146304" cy="146304"/>
          </a:xfrm>
          <a:prstGeom prst="ellipse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49884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7C86FF"/>
                </a:solidFill>
                <a:latin typeface="Consolas"/>
              </a:defRPr>
            </a:pPr>
            <a:r>
              <a:t>Nursing Faculty ★</a:t>
            </a:r>
          </a:p>
        </p:txBody>
      </p:sp>
      <p:sp>
        <p:nvSpPr>
          <p:cNvPr id="17" name="Oval 16"/>
          <p:cNvSpPr/>
          <p:nvPr/>
        </p:nvSpPr>
        <p:spPr>
          <a:xfrm>
            <a:off x="4363516" y="3328416"/>
            <a:ext cx="146304" cy="146304"/>
          </a:xfrm>
          <a:prstGeom prst="ellipse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4684" y="3291840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7C86FF"/>
                </a:solidFill>
                <a:latin typeface="Consolas"/>
              </a:defRPr>
            </a:pPr>
            <a:r>
              <a:t>Sim Center Director ★</a:t>
            </a:r>
          </a:p>
        </p:txBody>
      </p:sp>
      <p:sp>
        <p:nvSpPr>
          <p:cNvPr id="19" name="Oval 18"/>
          <p:cNvSpPr/>
          <p:nvPr/>
        </p:nvSpPr>
        <p:spPr>
          <a:xfrm>
            <a:off x="4875580" y="4480560"/>
            <a:ext cx="146304" cy="146304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6748" y="4443984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99A0B3"/>
                </a:solidFill>
                <a:latin typeface="Consolas"/>
              </a:defRPr>
            </a:pPr>
            <a:r>
              <a:t>EMS Trainer</a:t>
            </a:r>
          </a:p>
        </p:txBody>
      </p:sp>
      <p:sp>
        <p:nvSpPr>
          <p:cNvPr id="21" name="Oval 20"/>
          <p:cNvSpPr/>
          <p:nvPr/>
        </p:nvSpPr>
        <p:spPr>
          <a:xfrm>
            <a:off x="5182819" y="3794760"/>
            <a:ext cx="146304" cy="146304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3987" y="3758184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99A0B3"/>
                </a:solidFill>
                <a:latin typeface="Consolas"/>
              </a:defRPr>
            </a:pPr>
            <a:r>
              <a:t>Military Med Trainer</a:t>
            </a:r>
          </a:p>
        </p:txBody>
      </p:sp>
      <p:sp>
        <p:nvSpPr>
          <p:cNvPr id="23" name="Oval 22"/>
          <p:cNvSpPr/>
          <p:nvPr/>
        </p:nvSpPr>
        <p:spPr>
          <a:xfrm>
            <a:off x="3851452" y="4809744"/>
            <a:ext cx="146304" cy="146304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2620" y="4773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99A0B3"/>
                </a:solidFill>
                <a:latin typeface="Consolas"/>
              </a:defRPr>
            </a:pPr>
            <a:r>
              <a:t>Medical Faculty</a:t>
            </a:r>
          </a:p>
        </p:txBody>
      </p:sp>
      <p:sp>
        <p:nvSpPr>
          <p:cNvPr id="25" name="Oval 24"/>
          <p:cNvSpPr/>
          <p:nvPr/>
        </p:nvSpPr>
        <p:spPr>
          <a:xfrm>
            <a:off x="1598371" y="5084064"/>
            <a:ext cx="146304" cy="146304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99539" y="504748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99A0B3"/>
                </a:solidFill>
                <a:latin typeface="Consolas"/>
              </a:defRPr>
            </a:pPr>
            <a:r>
              <a:t>Sim Tech / Operator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103120"/>
            <a:ext cx="4005072" cy="37490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22494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Why these three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261518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615184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Clinical Educator: highest authoring volume;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30175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017520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feels the 10–20 h burden most directly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6" y="341985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419856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Sim Director: owns budget, review workflow,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6" y="382219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822192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and the publish/quality gate — adoption hinges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6" y="422452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224528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Nursing Faculty (novice): the stress case 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1816" y="46268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626864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if a first-year educator can author safely,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1816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5029200"/>
            <a:ext cx="3310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everyone can. Drove wizard + validation design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PRIMARY PERSONA 1 /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“Dr. Maya Krishnan” — the Clinical Educator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179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7C86FF"/>
                </a:solidFill>
                <a:latin typeface="Segoe UI"/>
              </a:defRPr>
            </a:pPr>
            <a:r>
              <a:t>Emergency physician · 40% education load · 11 yrs clinical, 4 yrs sim  ·  composite of 6 interviewees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0">
                <a:solidFill>
                  <a:srgbClr val="E9EBF2"/>
                </a:solidFill>
                <a:latin typeface="Segoe UI"/>
              </a:defRPr>
            </a:pPr>
            <a:r>
              <a:t>“I know exactly what the team needs to practise. Turning that into forty pages of documents is what kills me.”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148072" cy="13716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1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626A80"/>
                </a:solidFill>
                <a:latin typeface="Consolas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591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Authors 12–18 scenarios/yr for ED &amp; ICU teams. Squeezes writing between shifts; peer review happens over email. Clinically expert, moderately tech-fluent.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Ship timely scenarios that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last month's real incidents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Protect clinical accuracy at all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Spend contact time teaching, not typing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Frustrations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9 artefacts drift out of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Guideline updates invalidate old decks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Branching logic outgrows Word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Rebuilds vitals curves by hand each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356616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712464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Needs from a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078224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Draft everything from one 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553712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Every value editable — no black 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029200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Inline evidence for each clinical claim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5504688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One-click instructor/learner packs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PRIMARY PERSONA 2 /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“Col. (R) David Okafor” — the Simulation Center Director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179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38D5E0"/>
                </a:solidFill>
                <a:latin typeface="Segoe UI"/>
              </a:defRPr>
            </a:pPr>
            <a:r>
              <a:t>Runs a 6-room university sim centre · 22 staff · former military medical trainer  ·  composite of 4 interviewees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0">
                <a:solidFill>
                  <a:srgbClr val="E9EBF2"/>
                </a:solidFill>
                <a:latin typeface="Segoe UI"/>
              </a:defRPr>
            </a:pPr>
            <a:r>
              <a:t>“I don't fear AI writing scenarios. I fear an unreviewed scenario reaching a learner with the wrong adrenaline dose.”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148072" cy="13716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1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626A80"/>
                </a:solidFill>
                <a:latin typeface="Consolas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591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Owns quality gates, accreditation (SSH/INACSL), budget, and the scenario library. Balances throughput targets against patient-safety-grade rigour.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Grow scenario throughput without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growing headcount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Pass accreditation audits calmly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Standardise quality across 30 authors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Frustrations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No versioning: 'final_v7_REAL.docx'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Review bottlenecks on his own 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No audit trail for who changed what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Library search = asking a colleague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356616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712464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Needs from a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078224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Approval workflow with roles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553712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Version history &amp; change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029200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Guideline validation before publish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5504688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Analytics on usage and outcomes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PRIMARY PERSONA 3 /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“Priya Nair, RN” — the Novice Nursing Faculty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179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45C98B"/>
                </a:solidFill>
                <a:latin typeface="Segoe UI"/>
              </a:defRPr>
            </a:pPr>
            <a:r>
              <a:t>First teaching year after 7 yrs ICU nursing · inherits a stale scenario folder  ·  composite of 4 interviewees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0">
                <a:solidFill>
                  <a:srgbClr val="E9EBF2"/>
                </a:solidFill>
                <a:latin typeface="Segoe UI"/>
              </a:defRPr>
            </a:pPr>
            <a:r>
              <a:t>“I can run a sim confidently. Writing one from a blank page — I don't even know what good looks like.”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148072" cy="13716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1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626A80"/>
                </a:solidFill>
                <a:latin typeface="Consolas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591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Assigned to refresh the undergraduate deterioration curriculum. High clinical intuition, zero instructional-design training, low tool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Author her first scenarios without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embarrassment or clinical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Learn scenario craft by doing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Reuse &amp; adapt, not start from blank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566160"/>
            <a:ext cx="3511296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712464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Frustrations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4078224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Blank-page paralysis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455371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Doesn't know INACSL design standards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5029200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Fears misdosing a paediatric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504688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Templates online are inconsistent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356616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712464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Needs from a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782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078224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Guided wizard over blank canvas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55371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553712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Difficulty &amp; dosing computed for 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50292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029200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Explanations: 'why this vitals curve?'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5504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5504688"/>
            <a:ext cx="2825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Safe defaults with expert review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FIELD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A scenario's life today — what we observed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Consolas"/>
              </a:defRPr>
            </a:pPr>
            <a:r>
              <a:t>1 · IDEATE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0195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Hallway conversation or M&amp;M review sparks a case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146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Consolas"/>
              </a:defRPr>
            </a:pPr>
            <a:r>
              <a:t>2 ·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14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Word template, 9 sections; vitals typed as a table by 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08376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Consolas"/>
              </a:defRPr>
            </a:pPr>
            <a:r>
              <a:t>3 · CROSS-CHECK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2724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Author self-checks doses against UpToDate &amp; guidelines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21024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398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Consolas"/>
              </a:defRPr>
            </a:pPr>
            <a:r>
              <a:t>4 · PEER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989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Email attachment ping-pong, 2–4 weeks, comments in margins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33672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525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F6A60"/>
                </a:solidFill>
                <a:latin typeface="Consolas"/>
              </a:defRPr>
            </a:pPr>
            <a:r>
              <a:t>5 ·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52544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Sim tech re-enters vitals into the manikin software manually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651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Consolas"/>
              </a:defRPr>
            </a:pPr>
            <a:r>
              <a:t>6 · PILOT &amp;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6519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First run exposes broken timing; live improvisation papers over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58968"/>
            <a:ext cx="7680960" cy="5486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577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Consolas"/>
              </a:defRPr>
            </a:pPr>
            <a:r>
              <a:t>7 · DEBRIEF &amp; SHELVE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5778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Debrief improvised from memory; file saved to a shared drive, rarely found again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1783080"/>
            <a:ext cx="2862072" cy="4206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6" y="192938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Sharpest observations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22951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295144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Vitals re-entered 3× in 3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816" y="26974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697480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(Word → manikin → debrief notes)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6" y="309981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099816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Every author kept a private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50215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502152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'fudge file' of reusable fragments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39044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904488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Branches drawn on whiteboards,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4816" y="43068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306824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photographed, never digitised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14816" y="470916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709160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Peer review = the director's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4816" y="511149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111496"/>
            <a:ext cx="21671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personal evening workload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CURRENT-STATE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Educator journey map — authoring a new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2286000"/>
          </a:xfrm>
          <a:prstGeom prst="roundRect">
            <a:avLst>
              <a:gd name="adj" fmla="val 2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3050" y="2331719"/>
            <a:ext cx="164592" cy="164592"/>
          </a:xfrm>
          <a:prstGeom prst="ellipse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45C98B"/>
                </a:solidFill>
                <a:latin typeface="Consolas"/>
              </a:defRPr>
            </a:pPr>
            <a:r>
              <a:t>ENERGISED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25346.0" y="2414015.0"/>
            <a:ext cx="1787652.0" cy="804672.0"/>
          </a:xfrm>
          <a:prstGeom prst="line">
            <a:avLst/>
          </a:prstGeom>
          <a:ln w="15875">
            <a:solidFill>
              <a:srgbClr val="62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30702" y="3136391"/>
            <a:ext cx="164592" cy="164592"/>
          </a:xfrm>
          <a:prstGeom prst="ellipse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2324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E6B04C"/>
                </a:solidFill>
                <a:latin typeface="Consolas"/>
              </a:defRPr>
            </a:pPr>
            <a:r>
              <a:t>DRAINED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2998.0" y="3218687.0"/>
            <a:ext cx="1787652.0" cy="146304.0"/>
          </a:xfrm>
          <a:prstGeom prst="line">
            <a:avLst/>
          </a:prstGeom>
          <a:ln w="15875">
            <a:solidFill>
              <a:srgbClr val="62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18354" y="3282695"/>
            <a:ext cx="164592" cy="16459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EF6A60"/>
                </a:solidFill>
                <a:latin typeface="Consolas"/>
              </a:defRPr>
            </a:pPr>
            <a:r>
              <a:t>ANXIOUS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00650.0" y="3364991.0"/>
            <a:ext cx="1787652.0" cy="117043.20000000019"/>
          </a:xfrm>
          <a:prstGeom prst="line">
            <a:avLst/>
          </a:prstGeom>
          <a:ln w="15875">
            <a:solidFill>
              <a:srgbClr val="62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06006" y="3399738"/>
            <a:ext cx="164592" cy="16459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7628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EF6A60"/>
                </a:solidFill>
                <a:latin typeface="Consolas"/>
              </a:defRPr>
            </a:pPr>
            <a:r>
              <a:t>FRUSTRATED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988302.0" y="3247947.8"/>
            <a:ext cx="1787652.0" cy="234086.40000000037"/>
          </a:xfrm>
          <a:prstGeom prst="line">
            <a:avLst/>
          </a:prstGeom>
          <a:ln w="15875">
            <a:solidFill>
              <a:srgbClr val="62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693658" y="3165651"/>
            <a:ext cx="164592" cy="164592"/>
          </a:xfrm>
          <a:prstGeom prst="ellipse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E6B04C"/>
                </a:solidFill>
                <a:latin typeface="Consolas"/>
              </a:defRPr>
            </a:pPr>
            <a:r>
              <a:t>TEDIOUS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775954.0" y="2560319.0"/>
            <a:ext cx="1787652.0" cy="687628.7999999998"/>
          </a:xfrm>
          <a:prstGeom prst="line">
            <a:avLst/>
          </a:prstGeom>
          <a:ln w="15875">
            <a:solidFill>
              <a:srgbClr val="62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81310" y="2478023"/>
            <a:ext cx="164592" cy="164592"/>
          </a:xfrm>
          <a:prstGeom prst="ellipse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42932" y="3685031"/>
            <a:ext cx="16413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00" b="1">
                <a:solidFill>
                  <a:srgbClr val="45C98B"/>
                </a:solidFill>
                <a:latin typeface="Consolas"/>
              </a:defRPr>
            </a:pPr>
            <a:r>
              <a:t>PROUD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SPARK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“We need a ped-sepsis case”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4036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DRAFTING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4036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10+ hrs in Word; artefacts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CLINICAL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Dose anxiety; guideline hunting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9340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PEER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9340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Weeks of email ping-pong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TECH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Manual re-entry into manikin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4644" y="4434840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9EBF2"/>
                </a:solidFill>
                <a:latin typeface="Consolas"/>
              </a:defRPr>
            </a:pPr>
            <a:r>
              <a:t>FIRST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4644" y="4709160"/>
            <a:ext cx="16779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99A0B3"/>
                </a:solidFill>
                <a:latin typeface="Segoe UI"/>
              </a:defRPr>
            </a:pPr>
            <a:r>
              <a:t>It (mostly) works; pride + relief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23560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EF6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751576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E9EBF2"/>
                </a:solidFill>
                <a:latin typeface="Segoe UI"/>
              </a:defRPr>
            </a:pPr>
            <a:r>
              <a:t>The emotional trough spans clinical-check → peer review: exactly where confidence, evidence and collaboration tooling are absent.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LITERATURE REVIEW  1/2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What the evidence already tells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5912" cy="78638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1">
                <a:solidFill>
                  <a:srgbClr val="E9EBF2"/>
                </a:solidFill>
                <a:latin typeface="Segoe UI"/>
              </a:defRPr>
            </a:pPr>
            <a:r>
              <a:t>Cook DA et al. (2011), JAMA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74520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99A0B3"/>
                </a:solidFill>
                <a:latin typeface="Segoe UI"/>
              </a:defRPr>
            </a:pPr>
            <a:r>
              <a:t>Meta-analysis, 609 studies: simulation training yields large effects on knowledge &amp; skills (d ≈ 1.0+) vs no intervention.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892808"/>
            <a:ext cx="12700" cy="54864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874520"/>
            <a:ext cx="2468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45C98B"/>
                </a:solidFill>
                <a:latin typeface="Segoe UI"/>
              </a:defRPr>
            </a:pPr>
            <a:r>
              <a:t>Simulation is worth scaling — the ROI case for fixing authoring is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725912" cy="78638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4320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1">
                <a:solidFill>
                  <a:srgbClr val="E9EBF2"/>
                </a:solidFill>
                <a:latin typeface="Segoe UI"/>
              </a:defRPr>
            </a:pPr>
            <a:r>
              <a:t>McGaghie WC et al. (2010), Medical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99A0B3"/>
                </a:solidFill>
                <a:latin typeface="Segoe UI"/>
              </a:defRPr>
            </a:pPr>
            <a:r>
              <a:t>Critical review of 2003–2009 SBME research: deliberate practice and curriculum integration drive outcomes.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2761488"/>
            <a:ext cx="12700" cy="54864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743200"/>
            <a:ext cx="2468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45C98B"/>
                </a:solidFill>
                <a:latin typeface="Segoe UI"/>
              </a:defRPr>
            </a:pPr>
            <a:r>
              <a:t>Scenarios must map to objectives &amp; repetition — not one-off set pieces.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10725912" cy="78638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1188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1">
                <a:solidFill>
                  <a:srgbClr val="E9EBF2"/>
                </a:solidFill>
                <a:latin typeface="Segoe UI"/>
              </a:defRPr>
            </a:pPr>
            <a:r>
              <a:t>Issenberg SB et al. (2005), Medical Teacher (BEME)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11880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99A0B3"/>
                </a:solidFill>
                <a:latin typeface="Segoe UI"/>
              </a:defRPr>
            </a:pPr>
            <a:r>
              <a:t>10 features of effective high-fidelity simulation: feedback, range of difficulty, clinical variation, defined outcomes…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3630168"/>
            <a:ext cx="12700" cy="54864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3611880"/>
            <a:ext cx="2468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45C98B"/>
                </a:solidFill>
                <a:latin typeface="Segoe UI"/>
              </a:defRPr>
            </a:pPr>
            <a:r>
              <a:t>Became our generation checklist — every package must ship all 10.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725912" cy="78638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8056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1">
                <a:solidFill>
                  <a:srgbClr val="E9EBF2"/>
                </a:solidFill>
                <a:latin typeface="Segoe UI"/>
              </a:defRPr>
            </a:pPr>
            <a:r>
              <a:t>INACSL Standards Committee (2021), Clin Sim in Nursing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80560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99A0B3"/>
                </a:solidFill>
                <a:latin typeface="Segoe UI"/>
              </a:defRPr>
            </a:pPr>
            <a:r>
              <a:t>Healthcare Simulation Standards of Best Practice: 11-criteria professional standard for scenario design.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4498848"/>
            <a:ext cx="12700" cy="54864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4480560"/>
            <a:ext cx="2468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45C98B"/>
                </a:solidFill>
                <a:latin typeface="Segoe UI"/>
              </a:defRPr>
            </a:pPr>
            <a:r>
              <a:t>SimCraft's validation agent encodes these criteria as machine checks.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10725912" cy="78638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949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[6][7]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34924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50" b="1">
                <a:solidFill>
                  <a:srgbClr val="E9EBF2"/>
                </a:solidFill>
                <a:latin typeface="Segoe UI"/>
              </a:defRPr>
            </a:pPr>
            <a:r>
              <a:t>Rudolph et al. (2006) · Eppich &amp; Cheng (2015)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349240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99A0B3"/>
                </a:solidFill>
                <a:latin typeface="Segoe UI"/>
              </a:defRPr>
            </a:pPr>
            <a:r>
              <a:t>Debriefing-with-good-judgment and PEARLS: debrief structure determines learning yield.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5367528"/>
            <a:ext cx="12700" cy="54864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8" y="5349240"/>
            <a:ext cx="2468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880" b="0">
                <a:solidFill>
                  <a:srgbClr val="45C98B"/>
                </a:solidFill>
                <a:latin typeface="Segoe UI"/>
              </a:defRPr>
            </a:pPr>
            <a:r>
              <a:t>Debrief generator follows PEARLS phases with advocacy-inquiry prompts.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1572768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SO WHAT FOR SIMCRAFT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DISCOVER  ·  LITERATURE REVIEW  2/2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Cost, scenario craft, and AI in medical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47088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Zendejas B et al. (2013), Surgery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47088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Cost is the least-measured outcome in simulation research; authoring labour is largely invisible in the literature.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856232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847088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We made authoring time the primary success metric.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05456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9689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69464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Rosen MA et al. (2008), Simulation in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4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Event-based training: pre-planned trigger events tied to observable behaviours enable reliable measurement.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2578608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569464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Timeline events + critical-action checklists are event-based by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27832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92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[10]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91840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Dieckmann P et al. (2007), Simulation in Healthcare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291840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Simulation as social practice: realism is negotiated (the 'fiction contract'), not merely technical.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3300984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3291840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Instructor levers (hidden prompts, confederate cues) are first-class.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50208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41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[11]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014216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Tolsgaard MG et al. (2023), Medical Teacher (AMEE 156)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14216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Frames rigorous AI research in health-professions education; warns against black-box adoption.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4023360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4014216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Every AI output is inspectable, editable, structured JSON — no black box.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72584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640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[12]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736592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Masters K (2019), Medical Teacher (AMEE 140)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36592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AI will augment educator roles; keeping human oversight is the professional imperative.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4745736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8" y="4736592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Human-in-the-loop review &amp; publish gate is non-negotiable in the flow.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94960"/>
            <a:ext cx="10725912" cy="65836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[13]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458968"/>
            <a:ext cx="2834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9EBF2"/>
                </a:solidFill>
                <a:latin typeface="Segoe UI"/>
              </a:defRPr>
            </a:pPr>
            <a:r>
              <a:t>Cheng A et al. (2014), Medical Education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458968"/>
            <a:ext cx="3977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99A0B3"/>
                </a:solidFill>
                <a:latin typeface="Segoe UI"/>
              </a:defRPr>
            </a:pPr>
            <a:r>
              <a:t>Debriefing meta-analysis: structure and instructor scripting improve team outcomes.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5468112"/>
            <a:ext cx="12700" cy="493776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8" y="5458968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40" b="0">
                <a:solidFill>
                  <a:srgbClr val="45C98B"/>
                </a:solidFill>
                <a:latin typeface="Segoe UI"/>
              </a:defRPr>
            </a:pPr>
            <a:r>
              <a:t>Generated debrief ships as a script educators can deviate from.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38D5E0"/>
                </a:solidFill>
                <a:latin typeface="Consolas"/>
              </a:defRPr>
            </a:pPr>
            <a:r>
              <a:t>Full citations on slide 35.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595360" y="1554480"/>
            <a:ext cx="2743200" cy="2743200"/>
          </a:xfrm>
          <a:prstGeom prst="diamond">
            <a:avLst/>
          </a:prstGeom>
          <a:noFill/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098280" y="2057400"/>
            <a:ext cx="1737360" cy="1737360"/>
          </a:xfrm>
          <a:prstGeom prst="diamond">
            <a:avLst/>
          </a:prstGeom>
          <a:solidFill>
            <a:srgbClr val="181B24"/>
          </a:solidFill>
          <a:ln w="19050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45C98B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DOUBLE DIAMOND  ·  DIAMOND 1 · 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Converge on the</a:t>
            </a:r>
          </a:p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problem worth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Two hundred and eighteen coded observations were clustered, distilled into fourteen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pain points, scored, and pressure-tested with participants — converging on one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problem statement and five design principles.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626A80"/>
                </a:solidFill>
                <a:latin typeface="Consolas"/>
              </a:defRPr>
            </a:pPr>
            <a:r>
              <a:t>SLIDES 18 –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DEFINE  · 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218 observations → 6 themes → 14 pain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841248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3852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Consolas"/>
              </a:defRPr>
            </a:pPr>
            <a:r>
              <a:t>T1 · ARTEFACT SPRAWL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3113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One scenario = 9 documents that silently disagree with each other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828800"/>
            <a:ext cx="54864" cy="841248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93852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F6A60"/>
                </a:solidFill>
                <a:latin typeface="Consolas"/>
              </a:defRPr>
            </a:pPr>
            <a:r>
              <a:t>T2 · CLINICAL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3113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Fear of shipping an unsafe dose or outdated 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54864" cy="841248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89864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Consolas"/>
              </a:defRPr>
            </a:pPr>
            <a:r>
              <a:t>T3 · BRANCHING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19125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Decision trees outgrow linear documents almost immediately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8892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788920"/>
            <a:ext cx="54864" cy="841248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89864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Consolas"/>
              </a:defRPr>
            </a:pPr>
            <a:r>
              <a:t>T4 · REVIEW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19125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Peer review is slow, unversioned, and socially awkward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4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749040"/>
            <a:ext cx="54864" cy="841248"/>
          </a:xfrm>
          <a:prstGeom prst="rect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385876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T5 · REUSE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15137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Libraries are write-only; search &amp; adaptation are broken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49040"/>
            <a:ext cx="5266944" cy="84124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49040"/>
            <a:ext cx="54864" cy="841248"/>
          </a:xfrm>
          <a:prstGeom prst="rect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5876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T6 · NOVICE EXCLUSION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15137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Craft knowledge is tacit; new educators have no on-ramp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92040"/>
            <a:ext cx="10725912" cy="11430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029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626A80"/>
                </a:solidFill>
                <a:latin typeface="Consolas"/>
              </a:defRPr>
            </a:pPr>
            <a:r>
              <a:t>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30352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Interview &amp; observation notes were coded independently by two researchers, clustered on a shared affinity board, and merged over two</a:t>
            </a:r>
          </a:p>
          <a:p>
            <a:pPr algn="l">
              <a:lnSpc>
                <a:spcPct val="112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sessions. Each theme carries its source count; nothing entered the pain-point inventory without at least three independent sources.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DEFINE  ·  PRIORITISATION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Pain points, mapped: severity ×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675120" cy="4114800"/>
          </a:xfrm>
          <a:prstGeom prst="roundRect">
            <a:avLst>
              <a:gd name="adj" fmla="val 2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9080" y="1892808"/>
            <a:ext cx="12700" cy="3895344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3840480"/>
            <a:ext cx="6455664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SEVERE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568696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1">
                <a:solidFill>
                  <a:srgbClr val="626A80"/>
                </a:solidFill>
                <a:latin typeface="Consolas"/>
              </a:defRPr>
            </a:pPr>
            <a:r>
              <a:t>FREQUENT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92938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EF6A60"/>
                </a:solidFill>
                <a:latin typeface="Consolas"/>
              </a:defRPr>
            </a:pPr>
            <a:r>
              <a:t>FIX FIRST</a:t>
            </a:r>
          </a:p>
        </p:txBody>
      </p:sp>
      <p:sp>
        <p:nvSpPr>
          <p:cNvPr id="12" name="Oval 11"/>
          <p:cNvSpPr/>
          <p:nvPr/>
        </p:nvSpPr>
        <p:spPr>
          <a:xfrm>
            <a:off x="6131966" y="2487168"/>
            <a:ext cx="118872" cy="11887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7414" y="244144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F6A60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14" name="Oval 13"/>
          <p:cNvSpPr/>
          <p:nvPr/>
        </p:nvSpPr>
        <p:spPr>
          <a:xfrm>
            <a:off x="5565038" y="2743200"/>
            <a:ext cx="118872" cy="11887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20486" y="269748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F6A60"/>
                </a:solidFill>
                <a:latin typeface="Consolas"/>
              </a:defRPr>
            </a:pPr>
            <a:r>
              <a:t>P2</a:t>
            </a:r>
          </a:p>
        </p:txBody>
      </p:sp>
      <p:sp>
        <p:nvSpPr>
          <p:cNvPr id="16" name="Oval 15"/>
          <p:cNvSpPr/>
          <p:nvPr/>
        </p:nvSpPr>
        <p:spPr>
          <a:xfrm>
            <a:off x="4657953" y="2359152"/>
            <a:ext cx="118872" cy="11887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3401" y="231343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F6A60"/>
                </a:solidFill>
                <a:latin typeface="Consolas"/>
              </a:defRPr>
            </a:pPr>
            <a:r>
              <a:t>P3</a:t>
            </a:r>
          </a:p>
        </p:txBody>
      </p:sp>
      <p:sp>
        <p:nvSpPr>
          <p:cNvPr id="18" name="Oval 17"/>
          <p:cNvSpPr/>
          <p:nvPr/>
        </p:nvSpPr>
        <p:spPr>
          <a:xfrm>
            <a:off x="4884724" y="3063240"/>
            <a:ext cx="118872" cy="11887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172" y="301752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F6A60"/>
                </a:solidFill>
                <a:latin typeface="Consolas"/>
              </a:defRPr>
            </a:pPr>
            <a:r>
              <a:t>P4</a:t>
            </a:r>
          </a:p>
        </p:txBody>
      </p:sp>
      <p:sp>
        <p:nvSpPr>
          <p:cNvPr id="20" name="Oval 19"/>
          <p:cNvSpPr/>
          <p:nvPr/>
        </p:nvSpPr>
        <p:spPr>
          <a:xfrm>
            <a:off x="5678424" y="3319272"/>
            <a:ext cx="118872" cy="118872"/>
          </a:xfrm>
          <a:prstGeom prst="ellipse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327355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F6A60"/>
                </a:solidFill>
                <a:latin typeface="Consolas"/>
              </a:defRPr>
            </a:pPr>
            <a:r>
              <a:t>P5</a:t>
            </a:r>
          </a:p>
        </p:txBody>
      </p:sp>
      <p:sp>
        <p:nvSpPr>
          <p:cNvPr id="22" name="Oval 21"/>
          <p:cNvSpPr/>
          <p:nvPr/>
        </p:nvSpPr>
        <p:spPr>
          <a:xfrm>
            <a:off x="3524097" y="3447288"/>
            <a:ext cx="118872" cy="118872"/>
          </a:xfrm>
          <a:prstGeom prst="ellipse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9545" y="340156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6B04C"/>
                </a:solidFill>
                <a:latin typeface="Consolas"/>
              </a:defRPr>
            </a:pPr>
            <a:r>
              <a:t>P6</a:t>
            </a:r>
          </a:p>
        </p:txBody>
      </p:sp>
      <p:sp>
        <p:nvSpPr>
          <p:cNvPr id="24" name="Oval 23"/>
          <p:cNvSpPr/>
          <p:nvPr/>
        </p:nvSpPr>
        <p:spPr>
          <a:xfrm>
            <a:off x="5224881" y="4023360"/>
            <a:ext cx="118872" cy="118872"/>
          </a:xfrm>
          <a:prstGeom prst="ellipse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0329" y="397764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6B04C"/>
                </a:solidFill>
                <a:latin typeface="Consolas"/>
              </a:defRPr>
            </a:pPr>
            <a:r>
              <a:t>P7</a:t>
            </a:r>
          </a:p>
        </p:txBody>
      </p:sp>
      <p:sp>
        <p:nvSpPr>
          <p:cNvPr id="26" name="Oval 25"/>
          <p:cNvSpPr/>
          <p:nvPr/>
        </p:nvSpPr>
        <p:spPr>
          <a:xfrm>
            <a:off x="4261104" y="3703320"/>
            <a:ext cx="118872" cy="118872"/>
          </a:xfrm>
          <a:prstGeom prst="ellipse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65760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E6B04C"/>
                </a:solidFill>
                <a:latin typeface="Consolas"/>
              </a:defRPr>
            </a:pPr>
            <a:r>
              <a:t>P8</a:t>
            </a:r>
          </a:p>
        </p:txBody>
      </p:sp>
      <p:sp>
        <p:nvSpPr>
          <p:cNvPr id="28" name="Oval 27"/>
          <p:cNvSpPr/>
          <p:nvPr/>
        </p:nvSpPr>
        <p:spPr>
          <a:xfrm>
            <a:off x="3637483" y="4151376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2931" y="4105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P9</a:t>
            </a:r>
          </a:p>
        </p:txBody>
      </p:sp>
      <p:sp>
        <p:nvSpPr>
          <p:cNvPr id="30" name="Oval 29"/>
          <p:cNvSpPr/>
          <p:nvPr/>
        </p:nvSpPr>
        <p:spPr>
          <a:xfrm>
            <a:off x="2843784" y="3895344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849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P10</a:t>
            </a:r>
          </a:p>
        </p:txBody>
      </p:sp>
      <p:sp>
        <p:nvSpPr>
          <p:cNvPr id="32" name="Oval 31"/>
          <p:cNvSpPr/>
          <p:nvPr/>
        </p:nvSpPr>
        <p:spPr>
          <a:xfrm>
            <a:off x="3127248" y="4663440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82696" y="461772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P11</a:t>
            </a:r>
          </a:p>
        </p:txBody>
      </p:sp>
      <p:sp>
        <p:nvSpPr>
          <p:cNvPr id="34" name="Oval 33"/>
          <p:cNvSpPr/>
          <p:nvPr/>
        </p:nvSpPr>
        <p:spPr>
          <a:xfrm>
            <a:off x="4091025" y="4791456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6473" y="47457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P12</a:t>
            </a:r>
          </a:p>
        </p:txBody>
      </p:sp>
      <p:sp>
        <p:nvSpPr>
          <p:cNvPr id="36" name="Oval 35"/>
          <p:cNvSpPr/>
          <p:nvPr/>
        </p:nvSpPr>
        <p:spPr>
          <a:xfrm>
            <a:off x="2163470" y="3607308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8918" y="35615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P13</a:t>
            </a:r>
          </a:p>
        </p:txBody>
      </p:sp>
      <p:sp>
        <p:nvSpPr>
          <p:cNvPr id="38" name="Oval 37"/>
          <p:cNvSpPr/>
          <p:nvPr/>
        </p:nvSpPr>
        <p:spPr>
          <a:xfrm>
            <a:off x="1823313" y="4407408"/>
            <a:ext cx="118872" cy="118872"/>
          </a:xfrm>
          <a:prstGeom prst="ellipse">
            <a:avLst/>
          </a:prstGeom>
          <a:solidFill>
            <a:srgbClr val="99A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78761" y="43616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99A0B3"/>
                </a:solidFill>
                <a:latin typeface="Consolas"/>
              </a:defRPr>
            </a:pPr>
            <a:r>
              <a:t>P14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1783080"/>
            <a:ext cx="3776472" cy="4114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0416" y="192024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626A80"/>
                </a:solidFill>
                <a:latin typeface="Consolas"/>
              </a:defRPr>
            </a:pPr>
            <a:r>
              <a:t>INVENTORY (14)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0416" y="223113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231136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Hand-built vitals curves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0416" y="247985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479852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Artefact desync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0416" y="272856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72856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Dose / guideline anxiety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0416" y="297728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2977284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Branching beyond documents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0416" y="3226000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226000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Review ping-pong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0416" y="34747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474716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Blank-page paralysis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0416" y="372343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723432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Library unsearchable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0416" y="397214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397214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No version history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0416" y="422086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220864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Manikin re-entry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0416" y="4469580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4469580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Debrief improvised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0416" y="471829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718296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No usage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0416" y="496701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967012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Export formats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0416" y="521572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521572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Accreditation prep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0416" y="546444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7C86FF"/>
                </a:solidFill>
                <a:latin typeface="Consolas"/>
              </a:defRPr>
            </a:pPr>
            <a:r>
              <a:t>P14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5464444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99A0B3"/>
                </a:solidFill>
                <a:latin typeface="Segoe UI"/>
              </a:defRPr>
            </a:pPr>
            <a:r>
              <a:t>Multi-patient / MCI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DEFINE  ·  PRIORITISED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The five we committed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PAIN POINT (source: interviews · survey · observation)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CONF.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03120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45720" cy="566928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4942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P1 · Vitals trajectories built by hand for every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F6A60"/>
                </a:solidFill>
                <a:latin typeface="Consolas"/>
              </a:defRPr>
            </a:pPr>
            <a:r>
              <a:t>248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61488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761488"/>
            <a:ext cx="45720" cy="566928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07792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P3 · Clinical-safety anxiety (doses, algorithms, currency)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8986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F6A60"/>
                </a:solidFill>
                <a:latin typeface="Consolas"/>
              </a:defRPr>
            </a:pPr>
            <a:r>
              <a:t>217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419856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419856"/>
            <a:ext cx="45720" cy="566928"/>
          </a:xfrm>
          <a:prstGeom prst="rect">
            <a:avLst/>
          </a:prstGeom>
          <a:solidFill>
            <a:srgbClr val="EF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566160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P2 · Nine artefacts drift out of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557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57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557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57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557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F6A60"/>
                </a:solidFill>
                <a:latin typeface="Consolas"/>
              </a:defRPr>
            </a:pPr>
            <a:r>
              <a:t>198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78224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078224"/>
            <a:ext cx="45720" cy="566928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2452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P4 · Branching logic can't live in linear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2153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71%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153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2.5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2153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2153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42153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6B04C"/>
                </a:solidFill>
                <a:latin typeface="Consolas"/>
              </a:defRPr>
            </a:pPr>
            <a:r>
              <a:t>142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36592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4736592"/>
            <a:ext cx="45720" cy="566928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82896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P5 · Peer review is slow, unversioned, awkward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8737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78%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737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2.0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8737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8737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9A0B3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8737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6B04C"/>
                </a:solidFill>
                <a:latin typeface="Consolas"/>
              </a:defRPr>
            </a:pPr>
            <a:r>
              <a:t>133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532120"/>
            <a:ext cx="10725912" cy="621792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66928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9A0B3"/>
                </a:solidFill>
                <a:latin typeface="Segoe UI"/>
              </a:defRPr>
            </a:pPr>
            <a:r>
              <a:t>Reach = % of surveyed educators affected (n=42) · Impact on authoring time (0–3) · Confidence from triangulation · Effort t-shirt-sized with eng.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—  DEFINE  ·  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◇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How might we — and the bet we wrote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949440" cy="640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3794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Consolas"/>
              </a:defRPr>
            </a:pPr>
            <a:r>
              <a:t>HMW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5989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let an educator describe training intent in one sentence — and get a clinically coherent draft of all nine artefacts?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9736"/>
            <a:ext cx="6949440" cy="640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Consolas"/>
              </a:defRPr>
            </a:pPr>
            <a:r>
              <a:t>HMW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1176"/>
            <a:ext cx="5989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make every AI-generated clinical value inspectable, editable and evidence-linked, so trust is earned not assumed?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82112"/>
            <a:ext cx="6949440" cy="640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8269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Consolas"/>
              </a:defRPr>
            </a:pPr>
            <a:r>
              <a:t>HMW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73552"/>
            <a:ext cx="5989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make branching a visual, spatial object instead of a buried table?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04488"/>
            <a:ext cx="6949440" cy="640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05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Consolas"/>
              </a:defRPr>
            </a:pPr>
            <a:r>
              <a:t>HMW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95928"/>
            <a:ext cx="5989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give directors a real review workflow — versions, comments, approval — without adding process weight?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26864"/>
            <a:ext cx="6949440" cy="6400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7274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Consolas"/>
              </a:defRPr>
            </a:pPr>
            <a:r>
              <a:t>HMW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18304"/>
            <a:ext cx="5989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give a first-year educator safe defaults (dosing, difficulty, pacing) computed from patient type?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737360"/>
            <a:ext cx="3547872" cy="352044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0195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7C86FF"/>
                </a:solidFill>
                <a:latin typeface="Consolas"/>
              </a:defRPr>
            </a:pPr>
            <a: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231136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defRPr sz="1150" b="0">
                <a:solidFill>
                  <a:srgbClr val="E9EBF2"/>
                </a:solidFill>
                <a:latin typeface="Segoe UI"/>
              </a:defRPr>
            </a:pPr>
            <a:r>
              <a:t>Clinical educators need a way to author complete, clinically-trustworthy, branching simulation scenarios in minutes instead of days — because authoring effort, not simulator hardware, is what limits how much deliberate practice their learners 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595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5C98B"/>
                </a:solidFill>
                <a:latin typeface="Consolas"/>
              </a:defRPr>
            </a:pPr>
            <a:r>
              <a:t>SUCCESS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532120"/>
            <a:ext cx="795527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① Authoring time −80% (target &lt; 5 min to first complete draft)   ② First-pass acceptability ≥ 4/5   ③ 100% of published</a:t>
            </a:r>
          </a:p>
          <a:p>
            <a:pPr algn="l">
              <a:lnSpc>
                <a:spcPct val="110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scenarios pass guideline validation   ④ A novice educator authors a safe scenario unassisted in session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595360" y="1554480"/>
            <a:ext cx="2743200" cy="2743200"/>
          </a:xfrm>
          <a:prstGeom prst="diamond">
            <a:avLst/>
          </a:prstGeom>
          <a:noFill/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098280" y="2057400"/>
            <a:ext cx="1737360" cy="1737360"/>
          </a:xfrm>
          <a:prstGeom prst="diamond">
            <a:avLst/>
          </a:prstGeom>
          <a:solidFill>
            <a:srgbClr val="181B24"/>
          </a:solidFill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DOUBLE DIAMOND  ·  DIAMOND 2 · DEVELOP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Explore solutions,</a:t>
            </a:r>
          </a:p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kill the weak 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Four concepts were sketched and pressure-tested against the personas and the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prioritised pain points. The surviving concept became an information architecture,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a 7-agent AI pipeline, and a design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626A80"/>
                </a:solidFill>
                <a:latin typeface="Consolas"/>
              </a:defRPr>
            </a:pPr>
            <a:r>
              <a:t>SLIDES 23 –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IDEATION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Four concepts entered. One left.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A · TEMPLATE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Curated library of expert scenarios; educators adapt copies.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64992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Solves reuse (P7)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34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95344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Doesn't touch authoring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425696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Cold-start content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303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EF6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8066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F6A60"/>
                </a:solidFill>
                <a:latin typeface="Consolas"/>
              </a:defRPr>
            </a:pPr>
            <a:r>
              <a:t>KILLED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8" y="178308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938528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B · CHAT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ChatGPT-style copilot inside the existing Word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36499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3364992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Fast to build, familiar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389534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3895344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Artefacts still desync (P2)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4256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1336" y="4425696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No branching, no review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0168" y="52303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EF6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528066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F6A60"/>
                </a:solidFill>
                <a:latin typeface="Consolas"/>
              </a:defRPr>
            </a:pPr>
            <a:r>
              <a:t>KILLED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178308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938528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C · FORM BUILDER +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Structured forms with a deterministic clinical rules engine.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36499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3364992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Safe, auditable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89534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3895344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Rigid; educators felt 'railroaded'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4256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99A0B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4425696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Every new condition = eng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52303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E6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528066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E6B04C"/>
                </a:solidFill>
                <a:latin typeface="Consolas"/>
              </a:defRPr>
            </a:pPr>
            <a:r>
              <a:t>FOLDED 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78824" y="1783080"/>
            <a:ext cx="2606040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1938528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9EBF2"/>
                </a:solidFill>
                <a:latin typeface="Consolas"/>
              </a:defRPr>
            </a:pPr>
            <a:r>
              <a:t>D · AI STUDIO (CANVAS-FIRST)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1704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Agentic pipeline drafts structured artefacts onto a visual canvas; humans refine, validate, publish.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336499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3364992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Hits P1–P5 directly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389534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895344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Structured JSON keeps artefacts in sync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44256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4425696"/>
            <a:ext cx="2039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Highest effort — but the only complete answer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61704" y="52303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61704" y="528066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45C98B"/>
                </a:solidFill>
                <a:latin typeface="Consolas"/>
              </a:defRPr>
            </a:pPr>
            <a:r>
              <a:t>SELECTED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8D5E0"/>
                </a:solidFill>
                <a:latin typeface="Consolas"/>
              </a:defRPr>
            </a:pPr>
            <a:r>
              <a:t>Concept C's rules engine survives inside D — as the Clinical Validator agent and the deterministic vitals engine.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CONCEPT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Weighted scoring against the top-5 pains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P1 Vitals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P2 Sync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P3 Trust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P4 Branch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P5 Review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Novice fit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0078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Feasibility</a:t>
            </a:r>
          </a:p>
          <a:p>
            <a:pPr algn="ctr">
              <a:lnSpc>
                <a:spcPct val="95000"/>
              </a:lnSpc>
              <a:defRPr sz="750" b="1">
                <a:solidFill>
                  <a:srgbClr val="626A80"/>
                </a:solidFill>
                <a:latin typeface="Consolas"/>
              </a:defRPr>
            </a:pPr>
            <a:r>
              <a:t>(×1)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A ·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140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4048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99A0B3"/>
                </a:solidFill>
                <a:latin typeface="Consolas"/>
              </a:defRPr>
            </a:pPr>
            <a:r>
              <a:t>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44368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0815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B · Chat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72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063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99A0B3"/>
                </a:solidFill>
                <a:latin typeface="Consolas"/>
              </a:defRPr>
            </a:pPr>
            <a:r>
              <a:t>23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02736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398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E9EBF2"/>
                </a:solidFill>
                <a:latin typeface="Segoe UI"/>
              </a:defRPr>
            </a:pPr>
            <a:r>
              <a:t>C · Forms +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6B04C"/>
                </a:solidFill>
                <a:latin typeface="Segoe UI"/>
              </a:defRPr>
            </a:pPr>
            <a:r>
              <a:t>●●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37216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E6B04C"/>
                </a:solidFill>
                <a:latin typeface="Consolas"/>
              </a:defRPr>
            </a:pPr>
            <a:r>
              <a:t>39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261104"/>
            <a:ext cx="10725912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3982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9EBF2"/>
                </a:solidFill>
                <a:latin typeface="Segoe UI"/>
              </a:defRPr>
            </a:pPr>
            <a:r>
              <a:t>D · AI studio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45C98B"/>
                </a:solidFill>
                <a:latin typeface="Segoe UI"/>
              </a:defRPr>
            </a:pPr>
            <a:r>
              <a:t>●●●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EF6A60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43799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7C86FF"/>
                </a:solidFill>
                <a:latin typeface="Consolas"/>
              </a:defRPr>
            </a:pPr>
            <a:r>
              <a:t>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188366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626A80"/>
                </a:solidFill>
                <a:latin typeface="Consolas"/>
              </a:defRPr>
            </a:pPr>
            <a:r>
              <a:t>Σ/48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120640"/>
            <a:ext cx="10725912" cy="100584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525780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D wins decisively on the problem, and loses only on feasibility. De-risking move: ship the clinical engine as deterministic, evidence-based</a:t>
            </a:r>
          </a:p>
          <a:p>
            <a:pPr algn="l">
              <a:lnSpc>
                <a:spcPct val="112000"/>
              </a:lnSpc>
              <a:defRPr sz="1050" b="0">
                <a:solidFill>
                  <a:srgbClr val="99A0B3"/>
                </a:solidFill>
                <a:latin typeface="Segoe UI"/>
              </a:defRPr>
            </a:pPr>
            <a:r>
              <a:t>trajectory templates first (C's strength), and let the agentic pipeline orchestrate them — the architecture on slide 26.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INFORMATION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One studio, twelve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AI Wizard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1456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Canvas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1392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E6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Instructor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1947672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>
                <a:solidFill>
                  <a:srgbClr val="626A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04704" y="1828800"/>
            <a:ext cx="1225296" cy="56692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E6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4704" y="1975104"/>
            <a:ext cx="1225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9EBF2"/>
                </a:solidFill>
                <a:latin typeface="Consolas"/>
              </a:defRPr>
            </a:pPr>
            <a:r>
              <a:t>Learner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626A80"/>
                </a:solidFill>
                <a:latin typeface="Consolas"/>
              </a:defRPr>
            </a:pPr>
            <a:r>
              <a:t>supporting builders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880360"/>
            <a:ext cx="1225296" cy="4572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9900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0">
                <a:solidFill>
                  <a:srgbClr val="99A0B3"/>
                </a:solidFill>
                <a:latin typeface="Consolas"/>
              </a:defRPr>
            </a:pPr>
            <a:r>
              <a:t>Assessment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84832" y="2880360"/>
            <a:ext cx="1225296" cy="4572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29900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0">
                <a:solidFill>
                  <a:srgbClr val="99A0B3"/>
                </a:solidFill>
                <a:latin typeface="Consolas"/>
              </a:defRPr>
            </a:pPr>
            <a:r>
              <a:t>Debrief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8144" y="2880360"/>
            <a:ext cx="1225296" cy="4572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38144" y="29900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0">
                <a:solidFill>
                  <a:srgbClr val="99A0B3"/>
                </a:solidFill>
                <a:latin typeface="Consolas"/>
              </a:defRPr>
            </a:pPr>
            <a:r>
              <a:t>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91456" y="2880360"/>
            <a:ext cx="1225296" cy="4572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91456" y="29900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0">
                <a:solidFill>
                  <a:srgbClr val="99A0B3"/>
                </a:solidFill>
                <a:latin typeface="Consolas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611880"/>
            <a:ext cx="5303520" cy="23774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3758184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Architecture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1239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12394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Persistent left rail = scenario spine; the open scenario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440740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407408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carries its 8 sub-views (matches educator mental model)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69087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4690872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Instructor and Learner are separate screens — learners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497433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974336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must never glimpse hidden prompts (from observation)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52578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5257800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AI Copilot is a persistent right sidebar, not a modal 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55412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554126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refinement is continuous, not an interruption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3611880"/>
            <a:ext cx="5276088" cy="23774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75818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Why canvas-first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1239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8544" y="412394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Branching (P4) is spatial — nodes &amp; edges, drag/branch/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40740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38544" y="4407408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connect, colour-coded correct / incorrect / delayed paths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69087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8544" y="4690872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The canvas is the shared review artefact directors asked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97433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544" y="4974336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for: comments and versions attach to something visible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2578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38544" y="5257800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Whiteboard photos from field visits were literally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5412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38544" y="554126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node-and-arrow drawings — we digitised their habit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AI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Seven agents, structured JSON between every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1 · SCENARIO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4708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Brief → spec: phases, critical-event placement, branch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4144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2 · CONTENT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4144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Patient, age-adjusted vitals curve, labs, imaging, ECG, dialogue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358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3 · CLINICAL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3580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Doses, timing targets &amp; contraindications vs AHA/ERC/SSC [5]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4 · OBJECTIVE MAPPER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3016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Learning objectives → ≥2 observable, assessable moments 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5 · ASSESSMENT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2452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MCQs with rationales, OSCE checklist, critical actions, rubric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1888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6 · DEBRIEF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81888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PEARLS-structured debrief with advocacy-inquiry prompts [7]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6858000" cy="512064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41324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8D5E0"/>
                </a:solidFill>
                <a:latin typeface="Consolas"/>
              </a:defRPr>
            </a:pPr>
            <a:r>
              <a:t>7 · QUALITY REVIEWER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413248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80" b="0">
                <a:solidFill>
                  <a:srgbClr val="99A0B3"/>
                </a:solidFill>
                <a:latin typeface="Segoe UI"/>
              </a:defRPr>
            </a:pPr>
            <a:r>
              <a:t>Holistic consistency pass; schema check; quality score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737360"/>
            <a:ext cx="3639312" cy="41148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18836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Design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22494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249424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Structured JSON at every hand-off: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6" y="265176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51760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artefacts cannot drift (kills P2)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05409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054096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Validator can block, not just warn 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6" y="345643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456432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the trust contract with directors (P3)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85876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858768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Deterministic clinical engine under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426110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261104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the agents: same brief, same physiology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466344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663440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Human publish gate after review 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6" y="506577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065776"/>
            <a:ext cx="29443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19" b="0">
                <a:solidFill>
                  <a:srgbClr val="99A0B3"/>
                </a:solidFill>
                <a:latin typeface="Segoe UI"/>
              </a:defRPr>
            </a:pPr>
            <a:r>
              <a:t>AMEE guidance on oversight [11][12]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0167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626A80"/>
                </a:solidFill>
                <a:latin typeface="Consolas"/>
              </a:defRPr>
            </a:pPr>
            <a:r>
              <a:t>Pipeline UX: each agent streams its work live — capability made legible, ~13 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DESIGN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Principles first, pixels 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606040" cy="16002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606040" cy="45720"/>
          </a:xfrm>
          <a:prstGeom prst="rect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7C86FF"/>
                </a:solidFill>
                <a:latin typeface="Consolas"/>
              </a:defRPr>
            </a:pPr>
            <a:r>
              <a:t>EVIDENCE AT THE ELBOW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Every clinical claim carries its guideline chip — trust is inspectable, never asked for.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37360"/>
            <a:ext cx="2606040" cy="16002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37360"/>
            <a:ext cx="2606040" cy="45720"/>
          </a:xfrm>
          <a:prstGeom prst="rect">
            <a:avLst/>
          </a:prstGeom>
          <a:solidFill>
            <a:srgbClr val="38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0195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DRAFT, DON'T DICTATE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39572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AI produces the first 90%; every field stays editable. No output is final until a human publishes.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737360"/>
            <a:ext cx="2606040" cy="16002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737360"/>
            <a:ext cx="2606040" cy="45720"/>
          </a:xfrm>
          <a:prstGeom prst="rect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0195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45C98B"/>
                </a:solidFill>
                <a:latin typeface="Consolas"/>
              </a:defRPr>
            </a:pPr>
            <a:r>
              <a:t>CALM UNDER ACUITY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9572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Instructor screens stay legible mid-crisis: monitor-grade type, restrained colour, zero decoration.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1737360"/>
            <a:ext cx="2606040" cy="16002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8824" y="1737360"/>
            <a:ext cx="2606040" cy="45720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90195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6B04C"/>
                </a:solidFill>
                <a:latin typeface="Consolas"/>
              </a:defRPr>
            </a:pPr>
            <a:r>
              <a:t>PROGRESSIVE MASTERY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239572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Wizard for Priya, canvas for Maya, analytics for David — one product, three altitudes.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5303520" cy="23774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758184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System choices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1239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2394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Linear/Notion-calibre density: 13px body, 4/8px grid,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40740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07408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hairline borders, surface elevation over drop shadows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69087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690872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Dark default (sim control rooms are dim); full light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97433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74336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WCAG AA: 4.5:1 text contrast, focus states, reduced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2578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257800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Monitor palette (ECG green, SpO₂ cyan, NIBP red) reserved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5412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54126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for physiology only — never decoration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3611880"/>
            <a:ext cx="5276088" cy="23774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75818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Stack (as built)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1239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412394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Next.js 16 + TypeScript + Tailwind — static export,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0740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4407408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runs on any host, zero server dependency for the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69087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8544" y="4690872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React Flow for the branching canvas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7433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4974336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Framer Motion for pipeline &amp; wizard transitions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2578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8544" y="5257800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Canvas-rendered ECG/pleth/resp waveforms whose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54126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544" y="554126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morphology follows the scripted rhythm (VF looks like VF)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HERO FLOW 1/2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Brief → complete scenario in under five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5912" cy="12070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7C86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476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7C86FF"/>
                </a:solidFill>
                <a:latin typeface="Consolas"/>
              </a:defRPr>
            </a:pPr>
            <a:r>
              <a:t>8-STEP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58568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Specialty → difficulty slider → patient type → searchable condition → objectives → duration → equipment → free-text intent (“one hidden complication”).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10725912" cy="12070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015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38D5E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91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38D5E0"/>
                </a:solidFill>
                <a:latin typeface="Consolas"/>
              </a:defRPr>
            </a:pPr>
            <a:r>
              <a:t>7-AGENT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02736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Visible pipeline streams each agent's work — planner, content, validator, mapper, assessment, debrief, reviewer. ~13 s, structured JSON throughout.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71416"/>
            <a:ext cx="10725912" cy="1207008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573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45C98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6360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45C98B"/>
                </a:solidFill>
                <a:latin typeface="Consolas"/>
              </a:defRPr>
            </a:pPr>
            <a:r>
              <a:t>COMPLETE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946904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99A0B3"/>
                </a:solidFill>
                <a:latin typeface="Segoe UI"/>
              </a:defRPr>
            </a:pPr>
            <a:r>
              <a:t>Patient identity &amp; history · minute-by-minute vitals · labs/imaging/ECG · branching canvas · instructor &amp; learner packs · assessment · debrief · validation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06440"/>
            <a:ext cx="10725912" cy="475488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907024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80" b="0">
                <a:solidFill>
                  <a:srgbClr val="E9EBF2"/>
                </a:solidFill>
                <a:latin typeface="Segoe UI"/>
              </a:defRPr>
            </a:pPr>
            <a:r>
              <a:t>Design detail: difficulty doesn't just add complexity — it mutes early cues and compresses deterioration windows, mirroring how expert educators actually escalate.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DEVELOP  ·  HERO FLOW 2/2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◈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Canvas, control room, and the learner's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511296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3511296" cy="45720"/>
          </a:xfrm>
          <a:prstGeom prst="rect">
            <a:avLst/>
          </a:prstGeom>
          <a:solidFill>
            <a:srgbClr val="7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7C86FF"/>
                </a:solidFill>
                <a:latin typeface="Consolas"/>
              </a:defRPr>
            </a:pPr>
            <a:r>
              <a:t>SCENARIO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395728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Node kinds: patient → assessment → diagnosis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17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017520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decision → treatment → response →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3931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639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Branch colours: correct / incorrect / delayed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611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261104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AI Suggest adds instructor-triggered complications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828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7C86FF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882896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Save = new version in history (P8 solved)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1783080"/>
            <a:ext cx="3511296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783080"/>
            <a:ext cx="3511296" cy="45720"/>
          </a:xfrm>
          <a:prstGeom prst="rect">
            <a:avLst/>
          </a:prstGeom>
          <a:solidFill>
            <a:srgbClr val="E6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E6B04C"/>
                </a:solidFill>
                <a:latin typeface="Consolas"/>
              </a:defRPr>
            </a:pPr>
            <a:r>
              <a:t>INSTRUCTOR CONTROL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3957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395728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Sim timer drives interpolated live vitals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017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3017520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Sliders override any vital + rhythm mid-run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63931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639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Hidden prompts &amp; escalation levers, 1-tap 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2611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4261104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Critical-actions checklist scores the team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8828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882896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Context-aware AI recommendations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1783080"/>
            <a:ext cx="3511296" cy="3977639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1783080"/>
            <a:ext cx="3511296" cy="45720"/>
          </a:xfrm>
          <a:prstGeom prst="rect">
            <a:avLst/>
          </a:prstGeom>
          <a:solidFill>
            <a:srgbClr val="45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45C98B"/>
                </a:solidFill>
                <a:latin typeface="Consolas"/>
              </a:defRPr>
            </a:pPr>
            <a:r>
              <a:t>LEARNER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3957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395728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Full-screen bedside monitor; zero instructor leak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3017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017520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Waveforms follow scripted rhythm &amp; vitals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363931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639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Imaging, ECG strip, patient audio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2611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261104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Separate screen — enforced by architecture,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488289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45C9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882896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19" b="0">
                <a:solidFill>
                  <a:srgbClr val="99A0B3"/>
                </a:solidFill>
                <a:latin typeface="Segoe UI"/>
              </a:defRPr>
            </a:pPr>
            <a:r>
              <a:t>not by discipline (from field observation)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8D5E0"/>
                </a:solidFill>
                <a:latin typeface="Consolas"/>
              </a:defRPr>
            </a:pPr>
            <a:r>
              <a:t>All three are live in the prototype: puneetindeelhi940.github.io/portfolio/simcraft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595360" y="1554480"/>
            <a:ext cx="2743200" cy="2743200"/>
          </a:xfrm>
          <a:prstGeom prst="diamond">
            <a:avLst/>
          </a:prstGeom>
          <a:noFill/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098280" y="2057400"/>
            <a:ext cx="1737360" cy="1737360"/>
          </a:xfrm>
          <a:prstGeom prst="diamond">
            <a:avLst/>
          </a:prstGeom>
          <a:solidFill>
            <a:srgbClr val="181B24"/>
          </a:solidFill>
          <a:ln w="19050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38D5E0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DOUBLE DIAMOND  ·  DIAMOND 2 ·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Test, iterate,</a:t>
            </a:r>
          </a:p>
          <a:p>
            <a:pPr algn="l">
              <a:defRPr sz="4000" b="1">
                <a:solidFill>
                  <a:srgbClr val="E9EBF2"/>
                </a:solidFill>
                <a:latin typeface="Segoe UI"/>
              </a:defRPr>
            </a:pPr>
            <a:r>
              <a:t>measure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Two rounds of task-based usability testing with nine educators, a scenario-quality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review against guideline checklists, and an honest accounting of what moved,</a:t>
            </a:r>
          </a:p>
          <a:p>
            <a:pPr algn="l">
              <a:lnSpc>
                <a:spcPct val="115000"/>
              </a:lnSpc>
              <a:defRPr sz="1350" b="0">
                <a:solidFill>
                  <a:srgbClr val="99A0B3"/>
                </a:solidFill>
                <a:latin typeface="Segoe UI"/>
              </a:defRPr>
            </a:pPr>
            <a:r>
              <a:t>what didn't, and what we'd do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626A80"/>
                </a:solidFill>
                <a:latin typeface="Consolas"/>
              </a:defRPr>
            </a:pPr>
            <a:r>
              <a:t>SLIDES 31 –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DELIVER  ·  EVALUATION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◆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Two rounds, nine educators, real briefs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ROUND 1 · MODERATED, n=5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Think-aloud, 60 min. Tasks: author a 30-min paediatric sepsis scenario from your own brief; add a hidden complication; find &amp; fix the validator's warning; prep the instructor view for a run. Clickable prototype, wizard → canvas → instructor.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5276088" cy="201168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7451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ROUND 2 · TASK BENCHMARK, n=4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212848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Same tasks on the working build, timed against each participant's self-reported manual baseline. Two participants were Round-1 returners (sensitised); two were fresh. Novice educator included by design (Priya persona).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2606040" cy="173736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5137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45C98B"/>
                </a:solidFill>
                <a:latin typeface="Consolas"/>
              </a:defRPr>
            </a:pPr>
            <a:r>
              <a:t>41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2686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MEDIAN BRIEF → PUBLISHED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82896"/>
            <a:ext cx="22037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vs ~12 h self-reported manual baseline (−94%)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4023360"/>
            <a:ext cx="2606040" cy="173736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15137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45C98B"/>
                </a:solidFill>
                <a:latin typeface="Consolas"/>
              </a:defRPr>
            </a:pPr>
            <a:r>
              <a:t>4.4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62686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FIRST-DRAFT ACCEPTABILITY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4882896"/>
            <a:ext cx="22037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“Would run this after my edits” — 9 educators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4023360"/>
            <a:ext cx="2606040" cy="173736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15137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38D5E0"/>
                </a:solidFill>
                <a:latin typeface="Consolas"/>
              </a:defRPr>
            </a:pPr>
            <a:r>
              <a:t>5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62686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VALIDATOR WARNINGS UNDERSTOOD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882896"/>
            <a:ext cx="22037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and correctly resolved without help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4023360"/>
            <a:ext cx="2606040" cy="173736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415137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6B04C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462686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626A80"/>
                </a:solidFill>
                <a:latin typeface="Consolas"/>
              </a:defRPr>
            </a:pPr>
            <a:r>
              <a:t>TRUST BREAKS OBSERVED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882896"/>
            <a:ext cx="220370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0">
                <a:solidFill>
                  <a:srgbClr val="99A0B3"/>
                </a:solidFill>
                <a:latin typeface="Segoe UI"/>
              </a:defRPr>
            </a:pPr>
            <a:r>
              <a:t>both traced to unexplained AI values → fixed (slide 32)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DELIVER  ·  FINDINGS → ITERATIONS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◆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What testing 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3200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1">
                <a:solidFill>
                  <a:srgbClr val="E9EBF2"/>
                </a:solidFill>
                <a:latin typeface="Segoe UI"/>
              </a:defRPr>
            </a:pPr>
            <a:r>
              <a:t>“Where did this heart rate come from?”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Trust broke when vitals appeared without provenance.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28800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45C98B"/>
                </a:solidFill>
                <a:latin typeface="Segoe UI"/>
              </a:defRPr>
            </a:pPr>
            <a:r>
              <a:t>Added baseline-physiology explanations; every curve traces to patient type + condition template + difficulty.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96896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88336"/>
            <a:ext cx="3200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1">
                <a:solidFill>
                  <a:srgbClr val="E9EBF2"/>
                </a:solidFill>
                <a:latin typeface="Segoe UI"/>
              </a:defRPr>
            </a:pPr>
            <a:r>
              <a:t>Learners could glimpse instructor hints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88336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In co-located labs, one shared screen leaked hidden prompts.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68833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88336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45C98B"/>
                </a:solidFill>
                <a:latin typeface="Segoe UI"/>
              </a:defRPr>
            </a:pPr>
            <a:r>
              <a:t>Learner view became a separate, chromeless route — architectural separation, not a toggle.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56432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547872"/>
            <a:ext cx="3200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1">
                <a:solidFill>
                  <a:srgbClr val="E9EBF2"/>
                </a:solidFill>
                <a:latin typeface="Segoe UI"/>
              </a:defRPr>
            </a:pPr>
            <a:r>
              <a:t>Validator felt like a school exam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47872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Educators bristled at red ✗ marks on their clinical judgment.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54787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547872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45C98B"/>
                </a:solidFill>
                <a:latin typeface="Segoe UI"/>
              </a:defRPr>
            </a:pPr>
            <a:r>
              <a:t>Reframed as evidence: each item cites its guideline &amp; shows the recommendation, in their vocabulary.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15968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07408"/>
            <a:ext cx="3200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1">
                <a:solidFill>
                  <a:srgbClr val="E9EBF2"/>
                </a:solidFill>
                <a:latin typeface="Segoe UI"/>
              </a:defRPr>
            </a:pPr>
            <a:r>
              <a:t>Timeline &amp; canvas fought for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07408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Editing branches in two places confused round-1 users.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40740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407408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45C98B"/>
                </a:solidFill>
                <a:latin typeface="Segoe UI"/>
              </a:defRPr>
            </a:pPr>
            <a:r>
              <a:t>Canvas owns structure; timeline owns time &amp; physiology. Cross-links, no dual editing.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75504"/>
            <a:ext cx="10725912" cy="77724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266944"/>
            <a:ext cx="3200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1">
                <a:solidFill>
                  <a:srgbClr val="E9EBF2"/>
                </a:solidFill>
                <a:latin typeface="Segoe UI"/>
              </a:defRPr>
            </a:pPr>
            <a:r>
              <a:t>Novice froze at the empty free-text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66944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99A0B3"/>
                </a:solidFill>
                <a:latin typeface="Segoe UI"/>
              </a:defRPr>
            </a:pPr>
            <a:r>
              <a:t>Priya-persona user stalled on “optional prompt”.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2669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45C9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266944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00" b="0">
                <a:solidFill>
                  <a:srgbClr val="45C98B"/>
                </a:solidFill>
                <a:latin typeface="Segoe UI"/>
              </a:defRPr>
            </a:pPr>
            <a:r>
              <a:t>Added example chips (“one hidden complication”…) — she shipped a publishable scenario in 38 min.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DELIVER  · 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◆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Scorecard vs the Define-phase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5912" cy="9144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11096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50" b="1">
                <a:solidFill>
                  <a:srgbClr val="E9EBF2"/>
                </a:solidFill>
                <a:latin typeface="Segoe UI"/>
              </a:defRPr>
            </a:pPr>
            <a:r>
              <a:t>① Authoring time −80%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00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TARGET &lt; 5 min to first draft · &lt; 1 day to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947672"/>
            <a:ext cx="5486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First complete draft in ~13 s; median brief→published 41 min (−94% vs baseline)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205740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13512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EXCEEDED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0725912" cy="9144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50" b="1">
                <a:solidFill>
                  <a:srgbClr val="E9EBF2"/>
                </a:solidFill>
                <a:latin typeface="Segoe UI"/>
              </a:defRPr>
            </a:pPr>
            <a:r>
              <a:t>② First-pass acceptability ≥ 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741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Rated by practising educators on their own briefs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71800"/>
            <a:ext cx="5486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4.4 / 5 across 9 educators (range 3.5–5)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081528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31592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31336"/>
            <a:ext cx="10725912" cy="9144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59352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50" b="1">
                <a:solidFill>
                  <a:srgbClr val="E9EBF2"/>
                </a:solidFill>
                <a:latin typeface="Segoe UI"/>
              </a:defRPr>
            </a:pPr>
            <a:r>
              <a:t>③ 100% pass guideline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982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Critical-action &amp; dosing checks before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995928"/>
            <a:ext cx="5486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100% after one revision cycle; 2 scenarios required a fix round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4105656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E6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418338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E6B04C"/>
                </a:solidFill>
                <a:latin typeface="Consolas"/>
              </a:defRPr>
            </a:pPr>
            <a:r>
              <a:t>MET*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10725912" cy="9144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9834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050" b="1">
                <a:solidFill>
                  <a:srgbClr val="E9EBF2"/>
                </a:solidFill>
                <a:latin typeface="Segoe UI"/>
              </a:defRPr>
            </a:pPr>
            <a:r>
              <a:t>④ Novice authors safely, unassisted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4223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Priya-persona educator, session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5020056"/>
            <a:ext cx="5486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80" b="0">
                <a:solidFill>
                  <a:srgbClr val="99A0B3"/>
                </a:solidFill>
                <a:latin typeface="Segoe UI"/>
              </a:defRPr>
            </a:pPr>
            <a:r>
              <a:t>Published in 38 min; validator caught her one dosing slip — by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5129784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520750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45C98B"/>
                </a:solidFill>
                <a:latin typeface="Consolas"/>
              </a:defRPr>
            </a:pPr>
            <a:r>
              <a:t>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E6B04C"/>
                </a:solidFill>
                <a:latin typeface="Consolas"/>
              </a:defRPr>
            </a:pPr>
            <a:r>
              <a:t>* Honest caveat: n=9, self-reported baselines, prototype conditions. These are design-evaluation signals, not a clinical trial.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DELIVER  ·  LEARNINGS &amp;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47548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28632" y="52578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38D5E0"/>
                </a:solidFill>
                <a:latin typeface="Consolas"/>
              </a:defRPr>
            </a:pPr>
            <a:r>
              <a:t>◆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What I'd tell the next designer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83664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494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942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Trust is a UI property: provenance chips did more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32888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adoption than any accuracy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1635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16352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Constrain the AI where the domain is deterministic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09981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99816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physiology engines beat freeform generation for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383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83280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The second diamond kept trying to reopen the first;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6667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38D5E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66744"/>
            <a:ext cx="460857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the pain-point scores were the referee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737360"/>
            <a:ext cx="5276088" cy="2286000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8366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E9EBF2"/>
                </a:solidFill>
                <a:latin typeface="Segoe UI"/>
              </a:defRPr>
            </a:pPr>
            <a:r>
              <a:t>Honest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4942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24942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Evaluation n is small; baselines self-reported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328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2532888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Clinical engine covers 7 conditions deeply, not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16352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2816352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long tail — generic template quality drops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99816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3099816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Collaboration tested asynchronously, not with a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3383280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multi-author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66744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30" b="1">
                <a:solidFill>
                  <a:srgbClr val="E6B04C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544" y="3666744"/>
            <a:ext cx="4581144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930" b="0">
                <a:solidFill>
                  <a:srgbClr val="99A0B3"/>
                </a:solidFill>
                <a:latin typeface="Segoe UI"/>
              </a:defRPr>
            </a:pPr>
            <a:r>
              <a:t>No learner-outcome data yet — the metric that matters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97680"/>
            <a:ext cx="10725912" cy="530352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407408"/>
            <a:ext cx="914400" cy="310896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45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45312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45C98B"/>
                </a:solidFill>
                <a:latin typeface="Consolas"/>
              </a:defRPr>
            </a:pPr>
            <a: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434840"/>
            <a:ext cx="9235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80" b="0">
                <a:solidFill>
                  <a:srgbClr val="99A0B3"/>
                </a:solidFill>
                <a:latin typeface="Segoe UI"/>
              </a:defRPr>
            </a:pPr>
            <a:r>
              <a:t>Live prototype · 7 deep clinical templates · validation, export, analytics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19472"/>
            <a:ext cx="10725912" cy="530352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5029200"/>
            <a:ext cx="914400" cy="310896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38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07492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38D5E0"/>
                </a:solidFill>
                <a:latin typeface="Consolas"/>
              </a:defRPr>
            </a:pPr>
            <a: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056632"/>
            <a:ext cx="9235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80" b="0">
                <a:solidFill>
                  <a:srgbClr val="99A0B3"/>
                </a:solidFill>
                <a:latin typeface="Segoe UI"/>
              </a:defRPr>
            </a:pPr>
            <a:r>
              <a:t>Manikin integration (Laerdal SimPad API) · FHIR round-trip · live co-editing · LMS/SCORM 2004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541264"/>
            <a:ext cx="10725912" cy="530352"/>
          </a:xfrm>
          <a:prstGeom prst="roundRect">
            <a:avLst>
              <a:gd name="adj" fmla="val 3000"/>
            </a:avLst>
          </a:prstGeom>
          <a:solidFill>
            <a:srgbClr val="12141B"/>
          </a:solidFill>
          <a:ln w="9525">
            <a:solidFill>
              <a:srgbClr val="23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4400" y="5650992"/>
            <a:ext cx="914400" cy="310896"/>
          </a:xfrm>
          <a:prstGeom prst="roundRect">
            <a:avLst>
              <a:gd name="adj" fmla="val 40000"/>
            </a:avLst>
          </a:prstGeom>
          <a:solidFill>
            <a:srgbClr val="181B24"/>
          </a:solidFill>
          <a:ln w="9525">
            <a:solidFill>
              <a:srgbClr val="7C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6967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7C86FF"/>
                </a:solidFill>
                <a:latin typeface="Consolas"/>
              </a:defRPr>
            </a:pPr>
            <a:r>
              <a:t>LATER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678424"/>
            <a:ext cx="9235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80" b="0">
                <a:solidFill>
                  <a:srgbClr val="99A0B3"/>
                </a:solidFill>
                <a:latin typeface="Segoe UI"/>
              </a:defRPr>
            </a:pPr>
            <a:r>
              <a:t>Voice patient &amp; AI instructor · learner-performance analytics · scenario marketplace · VR/AR delivery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8D5E0"/>
                </a:solidFill>
                <a:latin typeface="Consolas"/>
              </a:defRPr>
            </a:pPr>
            <a:r>
              <a:t>—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900" b="1">
                <a:solidFill>
                  <a:srgbClr val="E9EBF2"/>
                </a:solidFill>
                <a:latin typeface="Segoe UI"/>
              </a:defRPr>
            </a:pPr>
            <a:r>
              <a:t>Sources cited in this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[1]  Design Council (2005; rev. 2019). The Double Diamond design process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21992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[2]  Cook DA, Hatala R, Brydges R, et al. (2011). Technology-enhanced simulation for health professions education: a systematic review and meta-analysis. JAMA, 306(9), 978–988.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98064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[3]  McGaghie WC, Issenberg SB, Petrusa ER, Scalese RJ (2010). A critical review of simulation-based medical education research: 2003–2009. Medical Education, 44(1), 50–63.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74136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[4]  Issenberg SB, McGaghie WC, Petrusa ER, Gordon DL, Scalese RJ (2005). Features and uses of high-fidelity medical simulations that lead to effective learning: a BEME systematic review. Medical Teacher, 27(1), 10–28.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50208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[5]  INACSL Standards Committee (2021). Healthcare Simulation Standards of Best Practice: Simulation Design. Clinical Simulation in Nursing, 58, 14–21.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[6]  Rudolph JW, Simon R, Dufresne RL, Raemer DB (2006). There's no such thing as “nonjudgmental” debriefing: a theory and method for debriefing with good judgment. Simulation in Healthcare, 1(1), 49–55.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02352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[7]  Eppich W, Cheng A (2015). Promoting Excellence and Reflective Learning in Simulation (PEARLS). Simulation in Healthcare, 10(2), 106–115.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45920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[8]  Zendejas B, Wang AT, Brydges R, Hamstra SJ, Cook DA (2013). Cost: the missing outcome in simulation-based medical education research. Surgery, 153(2), 160–176.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21992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[9]  Rosen MA, Salas E, Wu TS, et al. (2008). Promoting teamwork: an event-based approach to simulation-based teamwork training for emergency medicine residents. Academic Emergency Medicine, 15(11), 1190–1198.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98064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[10] Dieckmann P, Gaba D, Rall M (2007). Deepening the theoretical foundations of patient simulation as social practice. Simulation in Healthcare, 2(3), 183–193.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74136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[11] Tolsgaard MG, Pusic MV, Sebok-Syer SS, et al. (2023). The fundamentals of Artificial Intelligence in medical education research: AMEE Guide No. 156. Medical Teacher, 45(6), 565–573.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50208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[12] Masters K (2019). Artificial intelligence in medical education. Medical Teacher, 41(9), 976–980.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26280"/>
            <a:ext cx="5285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99A0B3"/>
                </a:solidFill>
                <a:latin typeface="Segoe UI"/>
              </a:defRPr>
            </a:pPr>
            <a:r>
              <a:t>[13] Cheng A, Eppich W, Grant V, et al. (2014). Debriefing for technology-enhanced simulation: a systematic review and meta-analysis. Medical Education, 48(7), 657–666.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42432"/>
            <a:ext cx="10725912" cy="4572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9525">
            <a:solidFill>
              <a:srgbClr val="E6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78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80" b="0">
                <a:solidFill>
                  <a:srgbClr val="E6B04C"/>
                </a:solidFill>
                <a:latin typeface="Segoe UI"/>
              </a:defRPr>
            </a:pPr>
            <a:r>
              <a:t>Clinical validation sources: AHA (2020) ACLS Guidelines · ERC (2021) ALS Guidelines · Surviving Sepsis Campaign (2021) · RCUK Anaphylaxis (2021) · AHA/ASA Stroke (2019) · ATLS 10th ed. · BTS/SIGN 158 · GINA (2024).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291072"/>
            <a:ext cx="10725912" cy="12700"/>
          </a:xfrm>
          <a:prstGeom prst="rect">
            <a:avLst/>
          </a:prstGeom>
          <a:solidFill>
            <a:srgbClr val="23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626A80"/>
                </a:solidFill>
                <a:latin typeface="Consolas"/>
              </a:defRPr>
            </a:pPr>
            <a:r>
              <a:t>SimCraft AI — UX Case Study  |  Puneet Arora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626A80"/>
                </a:solidFill>
                <a:latin typeface="Consolas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