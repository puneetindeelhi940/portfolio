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66CC"/>
        </a:solidFill>
        <a:effectLst/>
      </p:bgPr>
    </p:bg>
    <p:spTree>
      <p:nvGrpSpPr>
        <p:cNvPr id="1" name=""/>
        <p:cNvGrpSpPr/>
        <p:nvPr/>
      </p:nvGrpSpPr>
      <p:grpSpPr/>
      <p:sp>
        <p:nvSpPr>
          <p:cNvPr id="2" name="TextBox 1"/>
          <p:cNvSpPr txBox="1"/>
          <p:nvPr/>
        </p:nvSpPr>
        <p:spPr>
          <a:xfrm>
            <a:off x="914400" y="548640"/>
            <a:ext cx="10058400" cy="457200"/>
          </a:xfrm>
          <a:prstGeom prst="rect">
            <a:avLst/>
          </a:prstGeom>
          <a:noFill/>
        </p:spPr>
        <p:txBody>
          <a:bodyPr wrap="square">
            <a:spAutoFit/>
          </a:bodyPr>
          <a:lstStyle/>
          <a:p>
            <a:pPr algn="l">
              <a:lnSpc>
                <a:spcPts val="1680"/>
              </a:lnSpc>
              <a:spcAft>
                <a:spcPts val="0"/>
              </a:spcAft>
              <a:defRPr sz="1400" b="1">
                <a:solidFill>
                  <a:srgbClr val="FFFFFF"/>
                </a:solidFill>
                <a:latin typeface="Calibri"/>
              </a:defRPr>
            </a:pPr>
            <a:r>
              <a:t>AI INFLATION OBSERVATORY</a:t>
            </a:r>
          </a:p>
        </p:txBody>
      </p:sp>
      <p:sp>
        <p:nvSpPr>
          <p:cNvPr id="3" name="TextBox 2"/>
          <p:cNvSpPr txBox="1"/>
          <p:nvPr/>
        </p:nvSpPr>
        <p:spPr>
          <a:xfrm>
            <a:off x="914400" y="1828800"/>
            <a:ext cx="10058400" cy="1371600"/>
          </a:xfrm>
          <a:prstGeom prst="rect">
            <a:avLst/>
          </a:prstGeom>
          <a:noFill/>
        </p:spPr>
        <p:txBody>
          <a:bodyPr wrap="square">
            <a:spAutoFit/>
          </a:bodyPr>
          <a:lstStyle/>
          <a:p>
            <a:pPr algn="l">
              <a:lnSpc>
                <a:spcPts val="5059"/>
              </a:lnSpc>
              <a:spcAft>
                <a:spcPts val="0"/>
              </a:spcAft>
              <a:defRPr sz="4400" b="1">
                <a:solidFill>
                  <a:srgbClr val="FFFFFF"/>
                </a:solidFill>
                <a:latin typeface="Calibri"/>
              </a:defRPr>
            </a:pPr>
            <a:r>
              <a:t>Understand the Hidden Cost</a:t>
            </a:r>
            <a:br/>
            <a:r>
              <a:t>of the AI Revolution</a:t>
            </a:r>
          </a:p>
        </p:txBody>
      </p:sp>
      <p:sp>
        <p:nvSpPr>
          <p:cNvPr id="4" name="TextBox 3"/>
          <p:cNvSpPr txBox="1"/>
          <p:nvPr/>
        </p:nvSpPr>
        <p:spPr>
          <a:xfrm>
            <a:off x="914400" y="3657600"/>
            <a:ext cx="7315200" cy="731520"/>
          </a:xfrm>
          <a:prstGeom prst="rect">
            <a:avLst/>
          </a:prstGeom>
          <a:noFill/>
        </p:spPr>
        <p:txBody>
          <a:bodyPr wrap="square">
            <a:spAutoFit/>
          </a:bodyPr>
          <a:lstStyle/>
          <a:p>
            <a:pPr algn="l">
              <a:lnSpc>
                <a:spcPts val="2520"/>
              </a:lnSpc>
              <a:spcAft>
                <a:spcPts val="0"/>
              </a:spcAft>
              <a:defRPr sz="1800" b="0">
                <a:solidFill>
                  <a:srgbClr val="FFFFFF"/>
                </a:solidFill>
                <a:latin typeface="Calibri"/>
              </a:defRPr>
            </a:pPr>
            <a:r>
              <a:t>The world's first AI Inflation Intelligence Platform.</a:t>
            </a:r>
            <a:br/>
            <a:r>
              <a:t>Real-time data on how artificial intelligence is impacting prices globally.</a:t>
            </a:r>
          </a:p>
        </p:txBody>
      </p:sp>
      <p:sp>
        <p:nvSpPr>
          <p:cNvPr id="5" name="TextBox 4"/>
          <p:cNvSpPr txBox="1"/>
          <p:nvPr/>
        </p:nvSpPr>
        <p:spPr>
          <a:xfrm>
            <a:off x="914400" y="5120640"/>
            <a:ext cx="5486400" cy="365760"/>
          </a:xfrm>
          <a:prstGeom prst="rect">
            <a:avLst/>
          </a:prstGeom>
          <a:noFill/>
        </p:spPr>
        <p:txBody>
          <a:bodyPr wrap="square">
            <a:spAutoFit/>
          </a:bodyPr>
          <a:lstStyle/>
          <a:p>
            <a:pPr algn="l">
              <a:lnSpc>
                <a:spcPts val="1560"/>
              </a:lnSpc>
              <a:spcAft>
                <a:spcPts val="0"/>
              </a:spcAft>
              <a:defRPr sz="1300" b="0">
                <a:solidFill>
                  <a:srgbClr val="FFFFFF"/>
                </a:solidFill>
                <a:latin typeface="Calibri"/>
              </a:defRPr>
            </a:pPr>
            <a:r>
              <a:t>Data refreshed every 24 hours from verified public sources</a:t>
            </a:r>
          </a:p>
        </p:txBody>
      </p:sp>
      <p:sp>
        <p:nvSpPr>
          <p:cNvPr id="6" name="TextBox 5"/>
          <p:cNvSpPr txBox="1"/>
          <p:nvPr/>
        </p:nvSpPr>
        <p:spPr>
          <a:xfrm>
            <a:off x="914400" y="5852160"/>
            <a:ext cx="5486400" cy="457200"/>
          </a:xfrm>
          <a:prstGeom prst="rect">
            <a:avLst/>
          </a:prstGeom>
          <a:noFill/>
        </p:spPr>
        <p:txBody>
          <a:bodyPr wrap="square">
            <a:spAutoFit/>
          </a:bodyPr>
          <a:lstStyle/>
          <a:p>
            <a:pPr algn="l">
              <a:lnSpc>
                <a:spcPts val="1680"/>
              </a:lnSpc>
              <a:spcAft>
                <a:spcPts val="0"/>
              </a:spcAft>
              <a:defRPr sz="1400" b="1">
                <a:solidFill>
                  <a:srgbClr val="FFFFFF"/>
                </a:solidFill>
                <a:latin typeface="Calibri"/>
              </a:defRPr>
            </a:pPr>
            <a:r>
              <a:t>By Puneet Arora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GLOBAL AI INFLATION COMPOSITE INDEX</a:t>
            </a:r>
          </a:p>
        </p:txBody>
      </p:sp>
      <p:sp>
        <p:nvSpPr>
          <p:cNvPr id="3" name="TextBox 2"/>
          <p:cNvSpPr txBox="1"/>
          <p:nvPr/>
        </p:nvSpPr>
        <p:spPr>
          <a:xfrm>
            <a:off x="914400" y="1188720"/>
            <a:ext cx="4572000" cy="1371600"/>
          </a:xfrm>
          <a:prstGeom prst="rect">
            <a:avLst/>
          </a:prstGeom>
          <a:noFill/>
        </p:spPr>
        <p:txBody>
          <a:bodyPr wrap="square">
            <a:spAutoFit/>
          </a:bodyPr>
          <a:lstStyle/>
          <a:p>
            <a:pPr algn="l">
              <a:lnSpc>
                <a:spcPts val="11519"/>
              </a:lnSpc>
              <a:spcAft>
                <a:spcPts val="0"/>
              </a:spcAft>
              <a:defRPr sz="9600" b="1">
                <a:solidFill>
                  <a:srgbClr val="1D1D1F"/>
                </a:solidFill>
                <a:latin typeface="Calibri"/>
              </a:defRPr>
            </a:pPr>
            <a:r>
              <a:t>3.8%</a:t>
            </a:r>
          </a:p>
        </p:txBody>
      </p:sp>
      <p:sp>
        <p:nvSpPr>
          <p:cNvPr id="4" name="TextBox 3"/>
          <p:cNvSpPr txBox="1"/>
          <p:nvPr/>
        </p:nvSpPr>
        <p:spPr>
          <a:xfrm>
            <a:off x="914400" y="2743200"/>
            <a:ext cx="6400800" cy="731520"/>
          </a:xfrm>
          <a:prstGeom prst="rect">
            <a:avLst/>
          </a:prstGeom>
          <a:noFill/>
        </p:spPr>
        <p:txBody>
          <a:bodyPr wrap="square">
            <a:spAutoFit/>
          </a:bodyPr>
          <a:lstStyle/>
          <a:p>
            <a:pPr algn="l">
              <a:lnSpc>
                <a:spcPts val="2700"/>
              </a:lnSpc>
              <a:spcAft>
                <a:spcPts val="0"/>
              </a:spcAft>
              <a:defRPr sz="1800" b="0">
                <a:solidFill>
                  <a:srgbClr val="6E6E73"/>
                </a:solidFill>
                <a:latin typeface="Calibri"/>
              </a:defRPr>
            </a:pPr>
            <a:r>
              <a:t>AI is adding nearly 4 percentage points of inflationary pressure across</a:t>
            </a:r>
            <a:br/>
            <a:r>
              <a:t>technology hardware, cloud services, electricity, and enterprise software.</a:t>
            </a:r>
          </a:p>
        </p:txBody>
      </p:sp>
      <p:sp>
        <p:nvSpPr>
          <p:cNvPr id="5" name="TextBox 4"/>
          <p:cNvSpPr txBox="1"/>
          <p:nvPr/>
        </p:nvSpPr>
        <p:spPr>
          <a:xfrm>
            <a:off x="914400" y="3840480"/>
            <a:ext cx="7315200" cy="457200"/>
          </a:xfrm>
          <a:prstGeom prst="rect">
            <a:avLst/>
          </a:prstGeom>
          <a:noFill/>
        </p:spPr>
        <p:txBody>
          <a:bodyPr wrap="square">
            <a:spAutoFit/>
          </a:bodyPr>
          <a:lstStyle/>
          <a:p>
            <a:pPr algn="l">
              <a:lnSpc>
                <a:spcPts val="1800"/>
              </a:lnSpc>
              <a:spcAft>
                <a:spcPts val="0"/>
              </a:spcAft>
              <a:defRPr sz="1500" b="1">
                <a:solidFill>
                  <a:srgbClr val="D32F2F"/>
                </a:solidFill>
                <a:latin typeface="Calibri"/>
              </a:defRPr>
            </a:pPr>
            <a:r>
              <a:t>AI contributed approximately 0.6 percentage points to overall technology inflation this quarter.</a:t>
            </a:r>
          </a:p>
        </p:txBody>
      </p:sp>
      <p:sp>
        <p:nvSpPr>
          <p:cNvPr id="6" name="Rounded Rectangle 5"/>
          <p:cNvSpPr/>
          <p:nvPr/>
        </p:nvSpPr>
        <p:spPr>
          <a:xfrm>
            <a:off x="914400" y="4754880"/>
            <a:ext cx="23774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4754880"/>
            <a:ext cx="2377440" cy="1280160"/>
          </a:xfrm>
          <a:prstGeom prst="roundRect">
            <a:avLst/>
          </a:prstGeom>
          <a:solidFill>
            <a:srgbClr val="FFFFFF"/>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92040"/>
            <a:ext cx="2011680" cy="274320"/>
          </a:xfrm>
          <a:prstGeom prst="rect">
            <a:avLst/>
          </a:prstGeom>
          <a:noFill/>
        </p:spPr>
        <p:txBody>
          <a:bodyPr wrap="square">
            <a:spAutoFit/>
          </a:bodyPr>
          <a:lstStyle/>
          <a:p>
            <a:pPr algn="l">
              <a:lnSpc>
                <a:spcPts val="1320"/>
              </a:lnSpc>
              <a:spcAft>
                <a:spcPts val="0"/>
              </a:spcAft>
              <a:defRPr sz="1100" b="1">
                <a:solidFill>
                  <a:srgbClr val="6E6E73"/>
                </a:solidFill>
                <a:latin typeface="Calibri"/>
              </a:defRPr>
            </a:pPr>
            <a:r>
              <a:t>Global AI Capex</a:t>
            </a:r>
          </a:p>
        </p:txBody>
      </p:sp>
      <p:sp>
        <p:nvSpPr>
          <p:cNvPr id="9" name="TextBox 8"/>
          <p:cNvSpPr txBox="1"/>
          <p:nvPr/>
        </p:nvSpPr>
        <p:spPr>
          <a:xfrm>
            <a:off x="1097280" y="5166360"/>
            <a:ext cx="2011680" cy="457200"/>
          </a:xfrm>
          <a:prstGeom prst="rect">
            <a:avLst/>
          </a:prstGeom>
          <a:noFill/>
        </p:spPr>
        <p:txBody>
          <a:bodyPr wrap="square">
            <a:spAutoFit/>
          </a:bodyPr>
          <a:lstStyle/>
          <a:p>
            <a:pPr algn="l">
              <a:lnSpc>
                <a:spcPts val="3360"/>
              </a:lnSpc>
              <a:spcAft>
                <a:spcPts val="0"/>
              </a:spcAft>
              <a:defRPr sz="2800" b="1">
                <a:solidFill>
                  <a:srgbClr val="0066CC"/>
                </a:solidFill>
                <a:latin typeface="Calibri"/>
              </a:defRPr>
            </a:pPr>
            <a:r>
              <a:t>$320B</a:t>
            </a:r>
          </a:p>
        </p:txBody>
      </p:sp>
      <p:sp>
        <p:nvSpPr>
          <p:cNvPr id="10" name="TextBox 9"/>
          <p:cNvSpPr txBox="1"/>
          <p:nvPr/>
        </p:nvSpPr>
        <p:spPr>
          <a:xfrm>
            <a:off x="1097280" y="5623560"/>
            <a:ext cx="2011680" cy="274320"/>
          </a:xfrm>
          <a:prstGeom prst="rect">
            <a:avLst/>
          </a:prstGeom>
          <a:noFill/>
        </p:spPr>
        <p:txBody>
          <a:bodyPr wrap="square">
            <a:spAutoFit/>
          </a:bodyPr>
          <a:lstStyle/>
          <a:p>
            <a:pPr algn="l">
              <a:lnSpc>
                <a:spcPts val="1200"/>
              </a:lnSpc>
              <a:spcAft>
                <a:spcPts val="0"/>
              </a:spcAft>
              <a:defRPr sz="1000" b="0">
                <a:solidFill>
                  <a:srgbClr val="AEAEB2"/>
                </a:solidFill>
                <a:latin typeface="Calibri"/>
              </a:defRPr>
            </a:pPr>
            <a:r>
              <a:t>+62% YoY</a:t>
            </a:r>
          </a:p>
        </p:txBody>
      </p:sp>
      <p:sp>
        <p:nvSpPr>
          <p:cNvPr id="11" name="Rounded Rectangle 10"/>
          <p:cNvSpPr/>
          <p:nvPr/>
        </p:nvSpPr>
        <p:spPr>
          <a:xfrm>
            <a:off x="3474720" y="4754880"/>
            <a:ext cx="23774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74720" y="4754880"/>
            <a:ext cx="2377440" cy="1280160"/>
          </a:xfrm>
          <a:prstGeom prst="roundRect">
            <a:avLst/>
          </a:prstGeom>
          <a:solidFill>
            <a:srgbClr val="FFFFFF"/>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4892040"/>
            <a:ext cx="2011680" cy="274320"/>
          </a:xfrm>
          <a:prstGeom prst="rect">
            <a:avLst/>
          </a:prstGeom>
          <a:noFill/>
        </p:spPr>
        <p:txBody>
          <a:bodyPr wrap="square">
            <a:spAutoFit/>
          </a:bodyPr>
          <a:lstStyle/>
          <a:p>
            <a:pPr algn="l">
              <a:lnSpc>
                <a:spcPts val="1320"/>
              </a:lnSpc>
              <a:spcAft>
                <a:spcPts val="0"/>
              </a:spcAft>
              <a:defRPr sz="1100" b="1">
                <a:solidFill>
                  <a:srgbClr val="6E6E73"/>
                </a:solidFill>
                <a:latin typeface="Calibri"/>
              </a:defRPr>
            </a:pPr>
            <a:r>
              <a:t>Data Center Electricity</a:t>
            </a:r>
          </a:p>
        </p:txBody>
      </p:sp>
      <p:sp>
        <p:nvSpPr>
          <p:cNvPr id="14" name="TextBox 13"/>
          <p:cNvSpPr txBox="1"/>
          <p:nvPr/>
        </p:nvSpPr>
        <p:spPr>
          <a:xfrm>
            <a:off x="3657600" y="5166360"/>
            <a:ext cx="2011680" cy="457200"/>
          </a:xfrm>
          <a:prstGeom prst="rect">
            <a:avLst/>
          </a:prstGeom>
          <a:noFill/>
        </p:spPr>
        <p:txBody>
          <a:bodyPr wrap="square">
            <a:spAutoFit/>
          </a:bodyPr>
          <a:lstStyle/>
          <a:p>
            <a:pPr algn="l">
              <a:lnSpc>
                <a:spcPts val="3360"/>
              </a:lnSpc>
              <a:spcAft>
                <a:spcPts val="0"/>
              </a:spcAft>
              <a:defRPr sz="2800" b="1">
                <a:solidFill>
                  <a:srgbClr val="0066CC"/>
                </a:solidFill>
                <a:latin typeface="Calibri"/>
              </a:defRPr>
            </a:pPr>
            <a:r>
              <a:t>580 TWh</a:t>
            </a:r>
          </a:p>
        </p:txBody>
      </p:sp>
      <p:sp>
        <p:nvSpPr>
          <p:cNvPr id="15" name="TextBox 14"/>
          <p:cNvSpPr txBox="1"/>
          <p:nvPr/>
        </p:nvSpPr>
        <p:spPr>
          <a:xfrm>
            <a:off x="3657600" y="5623560"/>
            <a:ext cx="2011680" cy="274320"/>
          </a:xfrm>
          <a:prstGeom prst="rect">
            <a:avLst/>
          </a:prstGeom>
          <a:noFill/>
        </p:spPr>
        <p:txBody>
          <a:bodyPr wrap="square">
            <a:spAutoFit/>
          </a:bodyPr>
          <a:lstStyle/>
          <a:p>
            <a:pPr algn="l">
              <a:lnSpc>
                <a:spcPts val="1200"/>
              </a:lnSpc>
              <a:spcAft>
                <a:spcPts val="0"/>
              </a:spcAft>
              <a:defRPr sz="1000" b="0">
                <a:solidFill>
                  <a:srgbClr val="AEAEB2"/>
                </a:solidFill>
                <a:latin typeface="Calibri"/>
              </a:defRPr>
            </a:pPr>
            <a:r>
              <a:t>+26% YoY</a:t>
            </a:r>
          </a:p>
        </p:txBody>
      </p:sp>
      <p:sp>
        <p:nvSpPr>
          <p:cNvPr id="16" name="Rounded Rectangle 15"/>
          <p:cNvSpPr/>
          <p:nvPr/>
        </p:nvSpPr>
        <p:spPr>
          <a:xfrm>
            <a:off x="6035040" y="4754880"/>
            <a:ext cx="23774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035040" y="4754880"/>
            <a:ext cx="2377440" cy="1280160"/>
          </a:xfrm>
          <a:prstGeom prst="roundRect">
            <a:avLst/>
          </a:prstGeom>
          <a:solidFill>
            <a:srgbClr val="FFFFFF"/>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4892040"/>
            <a:ext cx="2011680" cy="274320"/>
          </a:xfrm>
          <a:prstGeom prst="rect">
            <a:avLst/>
          </a:prstGeom>
          <a:noFill/>
        </p:spPr>
        <p:txBody>
          <a:bodyPr wrap="square">
            <a:spAutoFit/>
          </a:bodyPr>
          <a:lstStyle/>
          <a:p>
            <a:pPr algn="l">
              <a:lnSpc>
                <a:spcPts val="1320"/>
              </a:lnSpc>
              <a:spcAft>
                <a:spcPts val="0"/>
              </a:spcAft>
              <a:defRPr sz="1100" b="1">
                <a:solidFill>
                  <a:srgbClr val="6E6E73"/>
                </a:solidFill>
                <a:latin typeface="Calibri"/>
              </a:defRPr>
            </a:pPr>
            <a:r>
              <a:t>GPU Market</a:t>
            </a:r>
          </a:p>
        </p:txBody>
      </p:sp>
      <p:sp>
        <p:nvSpPr>
          <p:cNvPr id="19" name="TextBox 18"/>
          <p:cNvSpPr txBox="1"/>
          <p:nvPr/>
        </p:nvSpPr>
        <p:spPr>
          <a:xfrm>
            <a:off x="6217920" y="5166360"/>
            <a:ext cx="2011680" cy="457200"/>
          </a:xfrm>
          <a:prstGeom prst="rect">
            <a:avLst/>
          </a:prstGeom>
          <a:noFill/>
        </p:spPr>
        <p:txBody>
          <a:bodyPr wrap="square">
            <a:spAutoFit/>
          </a:bodyPr>
          <a:lstStyle/>
          <a:p>
            <a:pPr algn="l">
              <a:lnSpc>
                <a:spcPts val="3360"/>
              </a:lnSpc>
              <a:spcAft>
                <a:spcPts val="0"/>
              </a:spcAft>
              <a:defRPr sz="2800" b="1">
                <a:solidFill>
                  <a:srgbClr val="0066CC"/>
                </a:solidFill>
                <a:latin typeface="Calibri"/>
              </a:defRPr>
            </a:pPr>
            <a:r>
              <a:t>$184B</a:t>
            </a:r>
          </a:p>
        </p:txBody>
      </p:sp>
      <p:sp>
        <p:nvSpPr>
          <p:cNvPr id="20" name="TextBox 19"/>
          <p:cNvSpPr txBox="1"/>
          <p:nvPr/>
        </p:nvSpPr>
        <p:spPr>
          <a:xfrm>
            <a:off x="6217920" y="5623560"/>
            <a:ext cx="2011680" cy="274320"/>
          </a:xfrm>
          <a:prstGeom prst="rect">
            <a:avLst/>
          </a:prstGeom>
          <a:noFill/>
        </p:spPr>
        <p:txBody>
          <a:bodyPr wrap="square">
            <a:spAutoFit/>
          </a:bodyPr>
          <a:lstStyle/>
          <a:p>
            <a:pPr algn="l">
              <a:lnSpc>
                <a:spcPts val="1200"/>
              </a:lnSpc>
              <a:spcAft>
                <a:spcPts val="0"/>
              </a:spcAft>
              <a:defRPr sz="1000" b="0">
                <a:solidFill>
                  <a:srgbClr val="AEAEB2"/>
                </a:solidFill>
                <a:latin typeface="Calibri"/>
              </a:defRPr>
            </a:pPr>
            <a:r>
              <a:t>+48% YoY</a:t>
            </a:r>
          </a:p>
        </p:txBody>
      </p:sp>
      <p:sp>
        <p:nvSpPr>
          <p:cNvPr id="21" name="Rounded Rectangle 20"/>
          <p:cNvSpPr/>
          <p:nvPr/>
        </p:nvSpPr>
        <p:spPr>
          <a:xfrm>
            <a:off x="8595360" y="4754880"/>
            <a:ext cx="23774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595360" y="4754880"/>
            <a:ext cx="2377440" cy="1280160"/>
          </a:xfrm>
          <a:prstGeom prst="roundRect">
            <a:avLst/>
          </a:prstGeom>
          <a:solidFill>
            <a:srgbClr val="FFFFFF"/>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0" y="4892040"/>
            <a:ext cx="2011680" cy="274320"/>
          </a:xfrm>
          <a:prstGeom prst="rect">
            <a:avLst/>
          </a:prstGeom>
          <a:noFill/>
        </p:spPr>
        <p:txBody>
          <a:bodyPr wrap="square">
            <a:spAutoFit/>
          </a:bodyPr>
          <a:lstStyle/>
          <a:p>
            <a:pPr algn="l">
              <a:lnSpc>
                <a:spcPts val="1320"/>
              </a:lnSpc>
              <a:spcAft>
                <a:spcPts val="0"/>
              </a:spcAft>
              <a:defRPr sz="1100" b="1">
                <a:solidFill>
                  <a:srgbClr val="6E6E73"/>
                </a:solidFill>
                <a:latin typeface="Calibri"/>
              </a:defRPr>
            </a:pPr>
            <a:r>
              <a:t>AI Services Market</a:t>
            </a:r>
          </a:p>
        </p:txBody>
      </p:sp>
      <p:sp>
        <p:nvSpPr>
          <p:cNvPr id="24" name="TextBox 23"/>
          <p:cNvSpPr txBox="1"/>
          <p:nvPr/>
        </p:nvSpPr>
        <p:spPr>
          <a:xfrm>
            <a:off x="8778240" y="5166360"/>
            <a:ext cx="2011680" cy="457200"/>
          </a:xfrm>
          <a:prstGeom prst="rect">
            <a:avLst/>
          </a:prstGeom>
          <a:noFill/>
        </p:spPr>
        <p:txBody>
          <a:bodyPr wrap="square">
            <a:spAutoFit/>
          </a:bodyPr>
          <a:lstStyle/>
          <a:p>
            <a:pPr algn="l">
              <a:lnSpc>
                <a:spcPts val="3360"/>
              </a:lnSpc>
              <a:spcAft>
                <a:spcPts val="0"/>
              </a:spcAft>
              <a:defRPr sz="2800" b="1">
                <a:solidFill>
                  <a:srgbClr val="0066CC"/>
                </a:solidFill>
                <a:latin typeface="Calibri"/>
              </a:defRPr>
            </a:pPr>
            <a:r>
              <a:t>$89B</a:t>
            </a:r>
          </a:p>
        </p:txBody>
      </p:sp>
      <p:sp>
        <p:nvSpPr>
          <p:cNvPr id="25" name="TextBox 24"/>
          <p:cNvSpPr txBox="1"/>
          <p:nvPr/>
        </p:nvSpPr>
        <p:spPr>
          <a:xfrm>
            <a:off x="8778240" y="5623560"/>
            <a:ext cx="2011680" cy="274320"/>
          </a:xfrm>
          <a:prstGeom prst="rect">
            <a:avLst/>
          </a:prstGeom>
          <a:noFill/>
        </p:spPr>
        <p:txBody>
          <a:bodyPr wrap="square">
            <a:spAutoFit/>
          </a:bodyPr>
          <a:lstStyle/>
          <a:p>
            <a:pPr algn="l">
              <a:lnSpc>
                <a:spcPts val="1200"/>
              </a:lnSpc>
              <a:spcAft>
                <a:spcPts val="0"/>
              </a:spcAft>
              <a:defRPr sz="1000" b="0">
                <a:solidFill>
                  <a:srgbClr val="AEAEB2"/>
                </a:solidFill>
                <a:latin typeface="Calibri"/>
              </a:defRPr>
            </a:pPr>
            <a:r>
              <a:t>+37% YoY</a:t>
            </a:r>
          </a:p>
        </p:txBody>
      </p:sp>
      <p:sp>
        <p:nvSpPr>
          <p:cNvPr id="26" name="TextBox 25"/>
          <p:cNvSpPr txBox="1"/>
          <p:nvPr/>
        </p:nvSpPr>
        <p:spPr>
          <a:xfrm>
            <a:off x="7315200" y="6309360"/>
            <a:ext cx="4114800" cy="274320"/>
          </a:xfrm>
          <a:prstGeom prst="rect">
            <a:avLst/>
          </a:prstGeom>
          <a:noFill/>
        </p:spPr>
        <p:txBody>
          <a:bodyPr wrap="square">
            <a:spAutoFit/>
          </a:bodyPr>
          <a:lstStyle/>
          <a:p>
            <a:pPr algn="r">
              <a:lnSpc>
                <a:spcPts val="1200"/>
              </a:lnSpc>
              <a:spcAft>
                <a:spcPts val="0"/>
              </a:spcAft>
              <a:defRPr sz="1000" b="0">
                <a:solidFill>
                  <a:srgbClr val="AEAEB2"/>
                </a:solidFill>
                <a:latin typeface="Calibri"/>
              </a:defRPr>
            </a:pPr>
            <a:r>
              <a:t>Sources: Goldman Sachs, IEA, SIA, IDC, Gartner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THE $320 BILLION QUESTION</a:t>
            </a:r>
          </a:p>
        </p:txBody>
      </p:sp>
      <p:sp>
        <p:nvSpPr>
          <p:cNvPr id="3" name="TextBox 2"/>
          <p:cNvSpPr txBox="1"/>
          <p:nvPr/>
        </p:nvSpPr>
        <p:spPr>
          <a:xfrm>
            <a:off x="914400" y="1097280"/>
            <a:ext cx="9144000" cy="640080"/>
          </a:xfrm>
          <a:prstGeom prst="rect">
            <a:avLst/>
          </a:prstGeom>
          <a:noFill/>
        </p:spPr>
        <p:txBody>
          <a:bodyPr wrap="square">
            <a:spAutoFit/>
          </a:bodyPr>
          <a:lstStyle/>
          <a:p>
            <a:pPr algn="l">
              <a:lnSpc>
                <a:spcPts val="4320"/>
              </a:lnSpc>
              <a:spcAft>
                <a:spcPts val="0"/>
              </a:spcAft>
              <a:defRPr sz="3600" b="1">
                <a:solidFill>
                  <a:srgbClr val="1D1D1F"/>
                </a:solidFill>
                <a:latin typeface="Calibri"/>
              </a:defRPr>
            </a:pPr>
            <a:r>
              <a:t>Where does the money come from?</a:t>
            </a:r>
          </a:p>
        </p:txBody>
      </p:sp>
      <p:sp>
        <p:nvSpPr>
          <p:cNvPr id="4" name="TextBox 3"/>
          <p:cNvSpPr txBox="1"/>
          <p:nvPr/>
        </p:nvSpPr>
        <p:spPr>
          <a:xfrm>
            <a:off x="914400" y="2011680"/>
            <a:ext cx="9601200" cy="640080"/>
          </a:xfrm>
          <a:prstGeom prst="rect">
            <a:avLst/>
          </a:prstGeom>
          <a:noFill/>
        </p:spPr>
        <p:txBody>
          <a:bodyPr wrap="square">
            <a:spAutoFit/>
          </a:bodyPr>
          <a:lstStyle/>
          <a:p>
            <a:pPr algn="l">
              <a:spcBef>
                <a:spcPts val="0"/>
              </a:spcBef>
              <a:spcAft>
                <a:spcPts val="400"/>
              </a:spcAft>
              <a:defRPr sz="1600" b="0">
                <a:solidFill>
                  <a:srgbClr val="1D1D1F"/>
                </a:solidFill>
                <a:latin typeface="Calibri"/>
              </a:defRPr>
            </a:pPr>
            <a:r>
              <a:t>•  Combined AI infrastructure spending by Microsoft, Google, and Amazon will exceed $180 billion in 2026</a:t>
            </a:r>
          </a:p>
        </p:txBody>
      </p:sp>
      <p:sp>
        <p:nvSpPr>
          <p:cNvPr id="5" name="TextBox 4"/>
          <p:cNvSpPr txBox="1"/>
          <p:nvPr/>
        </p:nvSpPr>
        <p:spPr>
          <a:xfrm>
            <a:off x="914400" y="2651760"/>
            <a:ext cx="9601200" cy="640080"/>
          </a:xfrm>
          <a:prstGeom prst="rect">
            <a:avLst/>
          </a:prstGeom>
          <a:noFill/>
        </p:spPr>
        <p:txBody>
          <a:bodyPr wrap="square">
            <a:spAutoFit/>
          </a:bodyPr>
          <a:lstStyle/>
          <a:p>
            <a:pPr algn="l">
              <a:spcBef>
                <a:spcPts val="0"/>
              </a:spcBef>
              <a:spcAft>
                <a:spcPts val="400"/>
              </a:spcAft>
              <a:defRPr sz="1600" b="0">
                <a:solidFill>
                  <a:srgbClr val="1D1D1F"/>
                </a:solidFill>
                <a:latin typeface="Calibri"/>
              </a:defRPr>
            </a:pPr>
            <a:r>
              <a:t>•  NVIDIA's data center revenue hit $35.1 billion in a single quarter</a:t>
            </a:r>
          </a:p>
        </p:txBody>
      </p:sp>
      <p:sp>
        <p:nvSpPr>
          <p:cNvPr id="6" name="TextBox 5"/>
          <p:cNvSpPr txBox="1"/>
          <p:nvPr/>
        </p:nvSpPr>
        <p:spPr>
          <a:xfrm>
            <a:off x="914400" y="3291840"/>
            <a:ext cx="9601200" cy="640080"/>
          </a:xfrm>
          <a:prstGeom prst="rect">
            <a:avLst/>
          </a:prstGeom>
          <a:noFill/>
        </p:spPr>
        <p:txBody>
          <a:bodyPr wrap="square">
            <a:spAutoFit/>
          </a:bodyPr>
          <a:lstStyle/>
          <a:p>
            <a:pPr algn="l">
              <a:spcBef>
                <a:spcPts val="0"/>
              </a:spcBef>
              <a:spcAft>
                <a:spcPts val="400"/>
              </a:spcAft>
              <a:defRPr sz="1600" b="0">
                <a:solidFill>
                  <a:srgbClr val="1D1D1F"/>
                </a:solidFill>
                <a:latin typeface="Calibri"/>
              </a:defRPr>
            </a:pPr>
            <a:r>
              <a:t>•  The global GPU market is a $184 billion behemoth growing at 48% per year</a:t>
            </a:r>
          </a:p>
        </p:txBody>
      </p:sp>
      <p:sp>
        <p:nvSpPr>
          <p:cNvPr id="7" name="TextBox 6"/>
          <p:cNvSpPr txBox="1"/>
          <p:nvPr/>
        </p:nvSpPr>
        <p:spPr>
          <a:xfrm>
            <a:off x="914400" y="3931920"/>
            <a:ext cx="9601200" cy="640080"/>
          </a:xfrm>
          <a:prstGeom prst="rect">
            <a:avLst/>
          </a:prstGeom>
          <a:noFill/>
        </p:spPr>
        <p:txBody>
          <a:bodyPr wrap="square">
            <a:spAutoFit/>
          </a:bodyPr>
          <a:lstStyle/>
          <a:p>
            <a:pPr algn="l">
              <a:spcBef>
                <a:spcPts val="0"/>
              </a:spcBef>
              <a:spcAft>
                <a:spcPts val="400"/>
              </a:spcAft>
              <a:defRPr sz="1600" b="0">
                <a:solidFill>
                  <a:srgbClr val="1D1D1F"/>
                </a:solidFill>
                <a:latin typeface="Calibri"/>
              </a:defRPr>
            </a:pPr>
            <a:r>
              <a:t>•  Every dollar of AI capex flows through the economy as higher prices — for cloud services, for software licenses, for electricity, for consumer hardware</a:t>
            </a:r>
          </a:p>
        </p:txBody>
      </p:sp>
      <p:sp>
        <p:nvSpPr>
          <p:cNvPr id="8" name="Rounded Rectangle 7"/>
          <p:cNvSpPr/>
          <p:nvPr/>
        </p:nvSpPr>
        <p:spPr>
          <a:xfrm>
            <a:off x="914400" y="4937760"/>
            <a:ext cx="10058400" cy="1097280"/>
          </a:xfrm>
          <a:prstGeom prst="roundRect">
            <a:avLst/>
          </a:prstGeom>
          <a:solidFill>
            <a:srgbClr val="E8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5120640"/>
            <a:ext cx="9326880" cy="731520"/>
          </a:xfrm>
          <a:prstGeom prst="rect">
            <a:avLst/>
          </a:prstGeom>
          <a:noFill/>
        </p:spPr>
        <p:txBody>
          <a:bodyPr wrap="square">
            <a:spAutoFit/>
          </a:bodyPr>
          <a:lstStyle/>
          <a:p>
            <a:pPr algn="l">
              <a:lnSpc>
                <a:spcPts val="2250"/>
              </a:lnSpc>
              <a:spcAft>
                <a:spcPts val="0"/>
              </a:spcAft>
              <a:defRPr sz="1500" b="0">
                <a:solidFill>
                  <a:srgbClr val="004488"/>
                </a:solidFill>
                <a:latin typeface="Calibri"/>
              </a:defRPr>
            </a:pPr>
            <a:r>
              <a:t>"Every dollar of AI capex flows through the economy as higher prices. For cloud services, for software licenses, for the electricity that powers the data centers, for the laptops whose memory chips got allocated to AI servers instead."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THE FOUR LAYERS OF AI INFLATION</a:t>
            </a:r>
          </a:p>
        </p:txBody>
      </p:sp>
      <p:sp>
        <p:nvSpPr>
          <p:cNvPr id="3" name="TextBox 2"/>
          <p:cNvSpPr txBox="1"/>
          <p:nvPr/>
        </p:nvSpPr>
        <p:spPr>
          <a:xfrm>
            <a:off x="914400" y="1005840"/>
            <a:ext cx="9144000" cy="548640"/>
          </a:xfrm>
          <a:prstGeom prst="rect">
            <a:avLst/>
          </a:prstGeom>
          <a:noFill/>
        </p:spPr>
        <p:txBody>
          <a:bodyPr wrap="square">
            <a:spAutoFit/>
          </a:bodyPr>
          <a:lstStyle/>
          <a:p>
            <a:pPr algn="l">
              <a:lnSpc>
                <a:spcPts val="3360"/>
              </a:lnSpc>
              <a:spcAft>
                <a:spcPts val="0"/>
              </a:spcAft>
              <a:defRPr sz="2800" b="1">
                <a:solidFill>
                  <a:srgbClr val="1D1D1F"/>
                </a:solidFill>
                <a:latin typeface="Calibri"/>
              </a:defRPr>
            </a:pPr>
            <a:r>
              <a:t>AI inflation doesn't hit you once — it hits you in waves</a:t>
            </a:r>
          </a:p>
        </p:txBody>
      </p:sp>
      <p:sp>
        <p:nvSpPr>
          <p:cNvPr id="4" name="Rectangle 3"/>
          <p:cNvSpPr/>
          <p:nvPr/>
        </p:nvSpPr>
        <p:spPr>
          <a:xfrm>
            <a:off x="914400" y="1828800"/>
            <a:ext cx="2377440" cy="73152"/>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901952"/>
            <a:ext cx="2377440" cy="3291840"/>
          </a:xfrm>
          <a:prstGeom prst="roundRect">
            <a:avLst/>
          </a:prstGeom>
          <a:solidFill>
            <a:srgbClr val="F8F8FA"/>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57400"/>
            <a:ext cx="2011680" cy="365760"/>
          </a:xfrm>
          <a:prstGeom prst="rect">
            <a:avLst/>
          </a:prstGeom>
          <a:noFill/>
        </p:spPr>
        <p:txBody>
          <a:bodyPr wrap="square">
            <a:spAutoFit/>
          </a:bodyPr>
          <a:lstStyle/>
          <a:p>
            <a:pPr algn="l">
              <a:lnSpc>
                <a:spcPts val="1920"/>
              </a:lnSpc>
              <a:spcAft>
                <a:spcPts val="0"/>
              </a:spcAft>
              <a:defRPr sz="1600" b="1">
                <a:solidFill>
                  <a:srgbClr val="D32F2F"/>
                </a:solidFill>
                <a:latin typeface="Calibri"/>
              </a:defRPr>
            </a:pPr>
            <a:r>
              <a:t>Layer 1: Direct</a:t>
            </a:r>
          </a:p>
        </p:txBody>
      </p:sp>
      <p:sp>
        <p:nvSpPr>
          <p:cNvPr id="7" name="TextBox 6"/>
          <p:cNvSpPr txBox="1"/>
          <p:nvPr/>
        </p:nvSpPr>
        <p:spPr>
          <a:xfrm>
            <a:off x="1097280" y="2514600"/>
            <a:ext cx="2011680" cy="914400"/>
          </a:xfrm>
          <a:prstGeom prst="rect">
            <a:avLst/>
          </a:prstGeom>
          <a:noFill/>
        </p:spPr>
        <p:txBody>
          <a:bodyPr wrap="square">
            <a:spAutoFit/>
          </a:bodyPr>
          <a:lstStyle/>
          <a:p>
            <a:pPr algn="l">
              <a:lnSpc>
                <a:spcPts val="1820"/>
              </a:lnSpc>
              <a:spcAft>
                <a:spcPts val="0"/>
              </a:spcAft>
              <a:defRPr sz="1300" b="0">
                <a:solidFill>
                  <a:srgbClr val="6E6E73"/>
                </a:solidFill>
                <a:latin typeface="Calibri"/>
              </a:defRPr>
            </a:pPr>
            <a:r>
              <a:t>GPUs, cloud instances, AI APIs, enterprise AI software</a:t>
            </a:r>
          </a:p>
        </p:txBody>
      </p:sp>
      <p:sp>
        <p:nvSpPr>
          <p:cNvPr id="8" name="TextBox 7"/>
          <p:cNvSpPr txBox="1"/>
          <p:nvPr/>
        </p:nvSpPr>
        <p:spPr>
          <a:xfrm>
            <a:off x="1097280" y="3566160"/>
            <a:ext cx="2011680" cy="1280160"/>
          </a:xfrm>
          <a:prstGeom prst="rect">
            <a:avLst/>
          </a:prstGeom>
          <a:noFill/>
        </p:spPr>
        <p:txBody>
          <a:bodyPr wrap="square">
            <a:spAutoFit/>
          </a:bodyPr>
          <a:lstStyle/>
          <a:p>
            <a:pPr algn="l">
              <a:lnSpc>
                <a:spcPts val="1820"/>
              </a:lnSpc>
              <a:spcAft>
                <a:spcPts val="0"/>
              </a:spcAft>
              <a:defRPr sz="1300" b="1">
                <a:solidFill>
                  <a:srgbClr val="1D1D1F"/>
                </a:solidFill>
                <a:latin typeface="Calibri"/>
              </a:defRPr>
            </a:pPr>
            <a:r>
              <a:t>GPU prices up 42%. Enterprise AI software premiums at 22%.</a:t>
            </a:r>
          </a:p>
        </p:txBody>
      </p:sp>
      <p:sp>
        <p:nvSpPr>
          <p:cNvPr id="9" name="Rectangle 8"/>
          <p:cNvSpPr/>
          <p:nvPr/>
        </p:nvSpPr>
        <p:spPr>
          <a:xfrm>
            <a:off x="3456432" y="1828800"/>
            <a:ext cx="2377440" cy="73152"/>
          </a:xfrm>
          <a:prstGeom prst="rect">
            <a:avLst/>
          </a:prstGeom>
          <a:solidFill>
            <a:srgbClr val="FF9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56432" y="1901952"/>
            <a:ext cx="2377440" cy="3291840"/>
          </a:xfrm>
          <a:prstGeom prst="roundRect">
            <a:avLst/>
          </a:prstGeom>
          <a:solidFill>
            <a:srgbClr val="F8F8FA"/>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2057400"/>
            <a:ext cx="2011680" cy="365760"/>
          </a:xfrm>
          <a:prstGeom prst="rect">
            <a:avLst/>
          </a:prstGeom>
          <a:noFill/>
        </p:spPr>
        <p:txBody>
          <a:bodyPr wrap="square">
            <a:spAutoFit/>
          </a:bodyPr>
          <a:lstStyle/>
          <a:p>
            <a:pPr algn="l">
              <a:lnSpc>
                <a:spcPts val="1920"/>
              </a:lnSpc>
              <a:spcAft>
                <a:spcPts val="0"/>
              </a:spcAft>
              <a:defRPr sz="1600" b="1">
                <a:solidFill>
                  <a:srgbClr val="FF9500"/>
                </a:solidFill>
                <a:latin typeface="Calibri"/>
              </a:defRPr>
            </a:pPr>
            <a:r>
              <a:t>Layer 2: Indirect</a:t>
            </a:r>
          </a:p>
        </p:txBody>
      </p:sp>
      <p:sp>
        <p:nvSpPr>
          <p:cNvPr id="12" name="TextBox 11"/>
          <p:cNvSpPr txBox="1"/>
          <p:nvPr/>
        </p:nvSpPr>
        <p:spPr>
          <a:xfrm>
            <a:off x="3639312" y="2514600"/>
            <a:ext cx="2011680" cy="914400"/>
          </a:xfrm>
          <a:prstGeom prst="rect">
            <a:avLst/>
          </a:prstGeom>
          <a:noFill/>
        </p:spPr>
        <p:txBody>
          <a:bodyPr wrap="square">
            <a:spAutoFit/>
          </a:bodyPr>
          <a:lstStyle/>
          <a:p>
            <a:pPr algn="l">
              <a:lnSpc>
                <a:spcPts val="1820"/>
              </a:lnSpc>
              <a:spcAft>
                <a:spcPts val="0"/>
              </a:spcAft>
              <a:defRPr sz="1300" b="0">
                <a:solidFill>
                  <a:srgbClr val="6E6E73"/>
                </a:solidFill>
                <a:latin typeface="Calibri"/>
              </a:defRPr>
            </a:pPr>
            <a:r>
              <a:t>Consumer laptops, phones, gaming PCs, SaaS subscriptions</a:t>
            </a:r>
          </a:p>
        </p:txBody>
      </p:sp>
      <p:sp>
        <p:nvSpPr>
          <p:cNvPr id="13" name="TextBox 12"/>
          <p:cNvSpPr txBox="1"/>
          <p:nvPr/>
        </p:nvSpPr>
        <p:spPr>
          <a:xfrm>
            <a:off x="3639312" y="3566160"/>
            <a:ext cx="2011680" cy="1280160"/>
          </a:xfrm>
          <a:prstGeom prst="rect">
            <a:avLst/>
          </a:prstGeom>
          <a:noFill/>
        </p:spPr>
        <p:txBody>
          <a:bodyPr wrap="square">
            <a:spAutoFit/>
          </a:bodyPr>
          <a:lstStyle/>
          <a:p>
            <a:pPr algn="l">
              <a:lnSpc>
                <a:spcPts val="1820"/>
              </a:lnSpc>
              <a:spcAft>
                <a:spcPts val="0"/>
              </a:spcAft>
              <a:defRPr sz="1300" b="1">
                <a:solidFill>
                  <a:srgbClr val="1D1D1F"/>
                </a:solidFill>
                <a:latin typeface="Calibri"/>
              </a:defRPr>
            </a:pPr>
            <a:r>
              <a:t>Laptop prices up 9% due to component allocation shift.</a:t>
            </a:r>
          </a:p>
        </p:txBody>
      </p:sp>
      <p:sp>
        <p:nvSpPr>
          <p:cNvPr id="14" name="Rectangle 13"/>
          <p:cNvSpPr/>
          <p:nvPr/>
        </p:nvSpPr>
        <p:spPr>
          <a:xfrm>
            <a:off x="5998464" y="1828800"/>
            <a:ext cx="2377440" cy="73152"/>
          </a:xfrm>
          <a:prstGeom prst="rect">
            <a:avLst/>
          </a:prstGeom>
          <a:solidFill>
            <a:srgbClr val="FBC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98464" y="1901952"/>
            <a:ext cx="2377440" cy="3291840"/>
          </a:xfrm>
          <a:prstGeom prst="roundRect">
            <a:avLst/>
          </a:prstGeom>
          <a:solidFill>
            <a:srgbClr val="F8F8FA"/>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1344" y="2057400"/>
            <a:ext cx="2011680" cy="365760"/>
          </a:xfrm>
          <a:prstGeom prst="rect">
            <a:avLst/>
          </a:prstGeom>
          <a:noFill/>
        </p:spPr>
        <p:txBody>
          <a:bodyPr wrap="square">
            <a:spAutoFit/>
          </a:bodyPr>
          <a:lstStyle/>
          <a:p>
            <a:pPr algn="l">
              <a:lnSpc>
                <a:spcPts val="1920"/>
              </a:lnSpc>
              <a:spcAft>
                <a:spcPts val="0"/>
              </a:spcAft>
              <a:defRPr sz="1600" b="1">
                <a:solidFill>
                  <a:srgbClr val="FBC02D"/>
                </a:solidFill>
                <a:latin typeface="Calibri"/>
              </a:defRPr>
            </a:pPr>
            <a:r>
              <a:t>Layer 3: Second-Order</a:t>
            </a:r>
          </a:p>
        </p:txBody>
      </p:sp>
      <p:sp>
        <p:nvSpPr>
          <p:cNvPr id="17" name="TextBox 16"/>
          <p:cNvSpPr txBox="1"/>
          <p:nvPr/>
        </p:nvSpPr>
        <p:spPr>
          <a:xfrm>
            <a:off x="6181344" y="2514600"/>
            <a:ext cx="2011680" cy="914400"/>
          </a:xfrm>
          <a:prstGeom prst="rect">
            <a:avLst/>
          </a:prstGeom>
          <a:noFill/>
        </p:spPr>
        <p:txBody>
          <a:bodyPr wrap="square">
            <a:spAutoFit/>
          </a:bodyPr>
          <a:lstStyle/>
          <a:p>
            <a:pPr algn="l">
              <a:lnSpc>
                <a:spcPts val="1820"/>
              </a:lnSpc>
              <a:spcAft>
                <a:spcPts val="0"/>
              </a:spcAft>
              <a:defRPr sz="1300" b="0">
                <a:solidFill>
                  <a:srgbClr val="6E6E73"/>
                </a:solidFill>
                <a:latin typeface="Calibri"/>
              </a:defRPr>
            </a:pPr>
            <a:r>
              <a:t>Housing near data centers, copper, water, cooling</a:t>
            </a:r>
          </a:p>
        </p:txBody>
      </p:sp>
      <p:sp>
        <p:nvSpPr>
          <p:cNvPr id="18" name="TextBox 17"/>
          <p:cNvSpPr txBox="1"/>
          <p:nvPr/>
        </p:nvSpPr>
        <p:spPr>
          <a:xfrm>
            <a:off x="6181344" y="3566160"/>
            <a:ext cx="2011680" cy="1280160"/>
          </a:xfrm>
          <a:prstGeom prst="rect">
            <a:avLst/>
          </a:prstGeom>
          <a:noFill/>
        </p:spPr>
        <p:txBody>
          <a:bodyPr wrap="square">
            <a:spAutoFit/>
          </a:bodyPr>
          <a:lstStyle/>
          <a:p>
            <a:pPr algn="l">
              <a:lnSpc>
                <a:spcPts val="1820"/>
              </a:lnSpc>
              <a:spcAft>
                <a:spcPts val="0"/>
              </a:spcAft>
              <a:defRPr sz="1300" b="1">
                <a:solidFill>
                  <a:srgbClr val="1D1D1F"/>
                </a:solidFill>
                <a:latin typeface="Calibri"/>
              </a:defRPr>
            </a:pPr>
            <a:r>
              <a:t>Housing in data center corridors up 8–15%. Copper hit $11,000/tonne.</a:t>
            </a:r>
          </a:p>
        </p:txBody>
      </p:sp>
      <p:sp>
        <p:nvSpPr>
          <p:cNvPr id="19" name="Rectangle 18"/>
          <p:cNvSpPr/>
          <p:nvPr/>
        </p:nvSpPr>
        <p:spPr>
          <a:xfrm>
            <a:off x="8540496" y="1828800"/>
            <a:ext cx="2377440" cy="7315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40496" y="1901952"/>
            <a:ext cx="2377440" cy="3291840"/>
          </a:xfrm>
          <a:prstGeom prst="roundRect">
            <a:avLst/>
          </a:prstGeom>
          <a:solidFill>
            <a:srgbClr val="F8F8FA"/>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23376" y="2057400"/>
            <a:ext cx="2011680" cy="365760"/>
          </a:xfrm>
          <a:prstGeom prst="rect">
            <a:avLst/>
          </a:prstGeom>
          <a:noFill/>
        </p:spPr>
        <p:txBody>
          <a:bodyPr wrap="square">
            <a:spAutoFit/>
          </a:bodyPr>
          <a:lstStyle/>
          <a:p>
            <a:pPr algn="l">
              <a:lnSpc>
                <a:spcPts val="1920"/>
              </a:lnSpc>
              <a:spcAft>
                <a:spcPts val="0"/>
              </a:spcAft>
              <a:defRPr sz="1600" b="1">
                <a:solidFill>
                  <a:srgbClr val="0066CC"/>
                </a:solidFill>
                <a:latin typeface="Calibri"/>
              </a:defRPr>
            </a:pPr>
            <a:r>
              <a:t>Layer 4: Lifestyle</a:t>
            </a:r>
          </a:p>
        </p:txBody>
      </p:sp>
      <p:sp>
        <p:nvSpPr>
          <p:cNvPr id="22" name="TextBox 21"/>
          <p:cNvSpPr txBox="1"/>
          <p:nvPr/>
        </p:nvSpPr>
        <p:spPr>
          <a:xfrm>
            <a:off x="8723376" y="2514600"/>
            <a:ext cx="2011680" cy="914400"/>
          </a:xfrm>
          <a:prstGeom prst="rect">
            <a:avLst/>
          </a:prstGeom>
          <a:noFill/>
        </p:spPr>
        <p:txBody>
          <a:bodyPr wrap="square">
            <a:spAutoFit/>
          </a:bodyPr>
          <a:lstStyle/>
          <a:p>
            <a:pPr algn="l">
              <a:lnSpc>
                <a:spcPts val="1820"/>
              </a:lnSpc>
              <a:spcAft>
                <a:spcPts val="0"/>
              </a:spcAft>
              <a:defRPr sz="1300" b="0">
                <a:solidFill>
                  <a:srgbClr val="6E6E73"/>
                </a:solidFill>
                <a:latin typeface="Calibri"/>
              </a:defRPr>
            </a:pPr>
            <a:r>
              <a:t>Streaming, ride-sharing, insurance, healthcare, education</a:t>
            </a:r>
          </a:p>
        </p:txBody>
      </p:sp>
      <p:sp>
        <p:nvSpPr>
          <p:cNvPr id="23" name="TextBox 22"/>
          <p:cNvSpPr txBox="1"/>
          <p:nvPr/>
        </p:nvSpPr>
        <p:spPr>
          <a:xfrm>
            <a:off x="8723376" y="3566160"/>
            <a:ext cx="2011680" cy="1280160"/>
          </a:xfrm>
          <a:prstGeom prst="rect">
            <a:avLst/>
          </a:prstGeom>
          <a:noFill/>
        </p:spPr>
        <p:txBody>
          <a:bodyPr wrap="square">
            <a:spAutoFit/>
          </a:bodyPr>
          <a:lstStyle/>
          <a:p>
            <a:pPr algn="l">
              <a:lnSpc>
                <a:spcPts val="1820"/>
              </a:lnSpc>
              <a:spcAft>
                <a:spcPts val="0"/>
              </a:spcAft>
              <a:defRPr sz="1300" b="1">
                <a:solidFill>
                  <a:srgbClr val="1D1D1F"/>
                </a:solidFill>
                <a:latin typeface="Calibri"/>
              </a:defRPr>
            </a:pPr>
            <a:r>
              <a:t>AI embedded in everything: 2–5% invisible surcharge on daily services.</a:t>
            </a:r>
          </a:p>
        </p:txBody>
      </p:sp>
      <p:sp>
        <p:nvSpPr>
          <p:cNvPr id="24" name="TextBox 23"/>
          <p:cNvSpPr txBox="1"/>
          <p:nvPr/>
        </p:nvSpPr>
        <p:spPr>
          <a:xfrm>
            <a:off x="914400" y="5669280"/>
            <a:ext cx="10058400" cy="457200"/>
          </a:xfrm>
          <a:prstGeom prst="rect">
            <a:avLst/>
          </a:prstGeom>
          <a:noFill/>
        </p:spPr>
        <p:txBody>
          <a:bodyPr wrap="square">
            <a:spAutoFit/>
          </a:bodyPr>
          <a:lstStyle/>
          <a:p>
            <a:pPr algn="ctr">
              <a:lnSpc>
                <a:spcPts val="1920"/>
              </a:lnSpc>
              <a:spcAft>
                <a:spcPts val="0"/>
              </a:spcAft>
              <a:defRPr sz="1600" b="1">
                <a:solidFill>
                  <a:srgbClr val="D32F2F"/>
                </a:solidFill>
                <a:latin typeface="Calibri"/>
              </a:defRPr>
            </a:pPr>
            <a:r>
              <a:t>Most people only notice Layer 1. The real cost is in Layers 2 through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lnSpc>
                <a:spcPts val="1439"/>
              </a:lnSpc>
              <a:spcAft>
                <a:spcPts val="0"/>
              </a:spcAft>
              <a:defRPr sz="1200" b="1">
                <a:solidFill>
                  <a:srgbClr val="D32F2F"/>
                </a:solidFill>
                <a:latin typeface="Calibri"/>
              </a:defRPr>
            </a:pPr>
            <a:r>
              <a:t>LAYER 1: DIRECT AI INFLATION</a:t>
            </a:r>
          </a:p>
        </p:txBody>
      </p:sp>
      <p:sp>
        <p:nvSpPr>
          <p:cNvPr id="3" name="TextBox 2"/>
          <p:cNvSpPr txBox="1"/>
          <p:nvPr/>
        </p:nvSpPr>
        <p:spPr>
          <a:xfrm>
            <a:off x="914400" y="1005840"/>
            <a:ext cx="9144000" cy="548640"/>
          </a:xfrm>
          <a:prstGeom prst="rect">
            <a:avLst/>
          </a:prstGeom>
          <a:noFill/>
        </p:spPr>
        <p:txBody>
          <a:bodyPr wrap="square">
            <a:spAutoFit/>
          </a:bodyPr>
          <a:lstStyle/>
          <a:p>
            <a:pPr algn="l">
              <a:lnSpc>
                <a:spcPts val="2879"/>
              </a:lnSpc>
              <a:spcAft>
                <a:spcPts val="0"/>
              </a:spcAft>
              <a:defRPr sz="2400" b="1">
                <a:solidFill>
                  <a:srgbClr val="1D1D1F"/>
                </a:solidFill>
                <a:latin typeface="Calibri"/>
              </a:defRPr>
            </a:pPr>
            <a:r>
              <a:t>Prices that rise immediately due to AI demand</a:t>
            </a:r>
          </a:p>
        </p:txBody>
      </p:sp>
      <p:sp>
        <p:nvSpPr>
          <p:cNvPr id="4" name="Rectangle 3"/>
          <p:cNvSpPr/>
          <p:nvPr/>
        </p:nvSpPr>
        <p:spPr>
          <a:xfrm>
            <a:off x="914400" y="1737360"/>
            <a:ext cx="10058400" cy="658368"/>
          </a:xfrm>
          <a:prstGeom prst="rect">
            <a:avLst/>
          </a:prstGeom>
          <a:solidFill>
            <a:srgbClr val="F8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74520"/>
            <a:ext cx="3657600" cy="365760"/>
          </a:xfrm>
          <a:prstGeom prst="rect">
            <a:avLst/>
          </a:prstGeom>
          <a:noFill/>
        </p:spPr>
        <p:txBody>
          <a:bodyPr wrap="square">
            <a:spAutoFit/>
          </a:bodyPr>
          <a:lstStyle/>
          <a:p>
            <a:pPr algn="l">
              <a:lnSpc>
                <a:spcPts val="1920"/>
              </a:lnSpc>
              <a:spcAft>
                <a:spcPts val="0"/>
              </a:spcAft>
              <a:defRPr sz="1600" b="1">
                <a:solidFill>
                  <a:srgbClr val="1D1D1F"/>
                </a:solidFill>
                <a:latin typeface="Calibri"/>
              </a:defRPr>
            </a:pPr>
            <a:r>
              <a:t>GPUs (Data Center)</a:t>
            </a:r>
          </a:p>
        </p:txBody>
      </p:sp>
      <p:sp>
        <p:nvSpPr>
          <p:cNvPr id="6" name="TextBox 5"/>
          <p:cNvSpPr txBox="1"/>
          <p:nvPr/>
        </p:nvSpPr>
        <p:spPr>
          <a:xfrm>
            <a:off x="5029200" y="1847088"/>
            <a:ext cx="1828800" cy="365760"/>
          </a:xfrm>
          <a:prstGeom prst="rect">
            <a:avLst/>
          </a:prstGeom>
          <a:noFill/>
        </p:spPr>
        <p:txBody>
          <a:bodyPr wrap="square">
            <a:spAutoFit/>
          </a:bodyPr>
          <a:lstStyle/>
          <a:p>
            <a:pPr algn="l">
              <a:lnSpc>
                <a:spcPts val="2640"/>
              </a:lnSpc>
              <a:spcAft>
                <a:spcPts val="0"/>
              </a:spcAft>
              <a:defRPr sz="2200" b="1">
                <a:solidFill>
                  <a:srgbClr val="D32F2F"/>
                </a:solidFill>
                <a:latin typeface="Calibri"/>
              </a:defRPr>
            </a:pPr>
            <a:r>
              <a:t>+42%</a:t>
            </a:r>
          </a:p>
        </p:txBody>
      </p:sp>
      <p:sp>
        <p:nvSpPr>
          <p:cNvPr id="7" name="TextBox 6"/>
          <p:cNvSpPr txBox="1"/>
          <p:nvPr/>
        </p:nvSpPr>
        <p:spPr>
          <a:xfrm>
            <a:off x="5029200" y="2121408"/>
            <a:ext cx="1828800" cy="22860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AI Premium</a:t>
            </a:r>
          </a:p>
        </p:txBody>
      </p:sp>
      <p:sp>
        <p:nvSpPr>
          <p:cNvPr id="8" name="TextBox 7"/>
          <p:cNvSpPr txBox="1"/>
          <p:nvPr/>
        </p:nvSpPr>
        <p:spPr>
          <a:xfrm>
            <a:off x="7315200" y="1901952"/>
            <a:ext cx="3200400" cy="320040"/>
          </a:xfrm>
          <a:prstGeom prst="rect">
            <a:avLst/>
          </a:prstGeom>
          <a:noFill/>
        </p:spPr>
        <p:txBody>
          <a:bodyPr wrap="square">
            <a:spAutoFit/>
          </a:bodyPr>
          <a:lstStyle/>
          <a:p>
            <a:pPr algn="l">
              <a:lnSpc>
                <a:spcPts val="1560"/>
              </a:lnSpc>
              <a:spcAft>
                <a:spcPts val="0"/>
              </a:spcAft>
              <a:defRPr sz="1300" b="0">
                <a:solidFill>
                  <a:srgbClr val="6E6E73"/>
                </a:solidFill>
                <a:latin typeface="Calibri"/>
              </a:defRPr>
            </a:pPr>
            <a:r>
              <a:t>$30K–$40K per H100</a:t>
            </a:r>
          </a:p>
        </p:txBody>
      </p:sp>
      <p:sp>
        <p:nvSpPr>
          <p:cNvPr id="9" name="TextBox 8"/>
          <p:cNvSpPr txBox="1"/>
          <p:nvPr/>
        </p:nvSpPr>
        <p:spPr>
          <a:xfrm>
            <a:off x="1097280" y="2532888"/>
            <a:ext cx="3657600" cy="365760"/>
          </a:xfrm>
          <a:prstGeom prst="rect">
            <a:avLst/>
          </a:prstGeom>
          <a:noFill/>
        </p:spPr>
        <p:txBody>
          <a:bodyPr wrap="square">
            <a:spAutoFit/>
          </a:bodyPr>
          <a:lstStyle/>
          <a:p>
            <a:pPr algn="l">
              <a:lnSpc>
                <a:spcPts val="1920"/>
              </a:lnSpc>
              <a:spcAft>
                <a:spcPts val="0"/>
              </a:spcAft>
              <a:defRPr sz="1600" b="1">
                <a:solidFill>
                  <a:srgbClr val="1D1D1F"/>
                </a:solidFill>
                <a:latin typeface="Calibri"/>
              </a:defRPr>
            </a:pPr>
            <a:r>
              <a:t>HBM Memory</a:t>
            </a:r>
          </a:p>
        </p:txBody>
      </p:sp>
      <p:sp>
        <p:nvSpPr>
          <p:cNvPr id="10" name="TextBox 9"/>
          <p:cNvSpPr txBox="1"/>
          <p:nvPr/>
        </p:nvSpPr>
        <p:spPr>
          <a:xfrm>
            <a:off x="5029200" y="2505456"/>
            <a:ext cx="1828800" cy="365760"/>
          </a:xfrm>
          <a:prstGeom prst="rect">
            <a:avLst/>
          </a:prstGeom>
          <a:noFill/>
        </p:spPr>
        <p:txBody>
          <a:bodyPr wrap="square">
            <a:spAutoFit/>
          </a:bodyPr>
          <a:lstStyle/>
          <a:p>
            <a:pPr algn="l">
              <a:lnSpc>
                <a:spcPts val="2640"/>
              </a:lnSpc>
              <a:spcAft>
                <a:spcPts val="0"/>
              </a:spcAft>
              <a:defRPr sz="2200" b="1">
                <a:solidFill>
                  <a:srgbClr val="D32F2F"/>
                </a:solidFill>
                <a:latin typeface="Calibri"/>
              </a:defRPr>
            </a:pPr>
            <a:r>
              <a:t>+38%</a:t>
            </a:r>
          </a:p>
        </p:txBody>
      </p:sp>
      <p:sp>
        <p:nvSpPr>
          <p:cNvPr id="11" name="TextBox 10"/>
          <p:cNvSpPr txBox="1"/>
          <p:nvPr/>
        </p:nvSpPr>
        <p:spPr>
          <a:xfrm>
            <a:off x="5029200" y="2779776"/>
            <a:ext cx="1828800" cy="22860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AI Premium</a:t>
            </a:r>
          </a:p>
        </p:txBody>
      </p:sp>
      <p:sp>
        <p:nvSpPr>
          <p:cNvPr id="12" name="TextBox 11"/>
          <p:cNvSpPr txBox="1"/>
          <p:nvPr/>
        </p:nvSpPr>
        <p:spPr>
          <a:xfrm>
            <a:off x="7315200" y="2560320"/>
            <a:ext cx="3200400" cy="320040"/>
          </a:xfrm>
          <a:prstGeom prst="rect">
            <a:avLst/>
          </a:prstGeom>
          <a:noFill/>
        </p:spPr>
        <p:txBody>
          <a:bodyPr wrap="square">
            <a:spAutoFit/>
          </a:bodyPr>
          <a:lstStyle/>
          <a:p>
            <a:pPr algn="l">
              <a:lnSpc>
                <a:spcPts val="1560"/>
              </a:lnSpc>
              <a:spcAft>
                <a:spcPts val="0"/>
              </a:spcAft>
              <a:defRPr sz="1300" b="0">
                <a:solidFill>
                  <a:srgbClr val="6E6E73"/>
                </a:solidFill>
                <a:latin typeface="Calibri"/>
              </a:defRPr>
            </a:pPr>
            <a:r>
              <a:t>$15–$25 per GB</a:t>
            </a:r>
          </a:p>
        </p:txBody>
      </p:sp>
      <p:sp>
        <p:nvSpPr>
          <p:cNvPr id="13" name="Rectangle 12"/>
          <p:cNvSpPr/>
          <p:nvPr/>
        </p:nvSpPr>
        <p:spPr>
          <a:xfrm>
            <a:off x="914400" y="3054096"/>
            <a:ext cx="10058400" cy="658368"/>
          </a:xfrm>
          <a:prstGeom prst="rect">
            <a:avLst/>
          </a:prstGeom>
          <a:solidFill>
            <a:srgbClr val="F8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91256"/>
            <a:ext cx="3657600" cy="365760"/>
          </a:xfrm>
          <a:prstGeom prst="rect">
            <a:avLst/>
          </a:prstGeom>
          <a:noFill/>
        </p:spPr>
        <p:txBody>
          <a:bodyPr wrap="square">
            <a:spAutoFit/>
          </a:bodyPr>
          <a:lstStyle/>
          <a:p>
            <a:pPr algn="l">
              <a:lnSpc>
                <a:spcPts val="1920"/>
              </a:lnSpc>
              <a:spcAft>
                <a:spcPts val="0"/>
              </a:spcAft>
              <a:defRPr sz="1600" b="1">
                <a:solidFill>
                  <a:srgbClr val="1D1D1F"/>
                </a:solidFill>
                <a:latin typeface="Calibri"/>
              </a:defRPr>
            </a:pPr>
            <a:r>
              <a:t>Cloud GPU Instances</a:t>
            </a:r>
          </a:p>
        </p:txBody>
      </p:sp>
      <p:sp>
        <p:nvSpPr>
          <p:cNvPr id="15" name="TextBox 14"/>
          <p:cNvSpPr txBox="1"/>
          <p:nvPr/>
        </p:nvSpPr>
        <p:spPr>
          <a:xfrm>
            <a:off x="5029200" y="3163824"/>
            <a:ext cx="1828800" cy="365760"/>
          </a:xfrm>
          <a:prstGeom prst="rect">
            <a:avLst/>
          </a:prstGeom>
          <a:noFill/>
        </p:spPr>
        <p:txBody>
          <a:bodyPr wrap="square">
            <a:spAutoFit/>
          </a:bodyPr>
          <a:lstStyle/>
          <a:p>
            <a:pPr algn="l">
              <a:lnSpc>
                <a:spcPts val="2640"/>
              </a:lnSpc>
              <a:spcAft>
                <a:spcPts val="0"/>
              </a:spcAft>
              <a:defRPr sz="2200" b="1">
                <a:solidFill>
                  <a:srgbClr val="D32F2F"/>
                </a:solidFill>
                <a:latin typeface="Calibri"/>
              </a:defRPr>
            </a:pPr>
            <a:r>
              <a:t>+28%</a:t>
            </a:r>
          </a:p>
        </p:txBody>
      </p:sp>
      <p:sp>
        <p:nvSpPr>
          <p:cNvPr id="16" name="TextBox 15"/>
          <p:cNvSpPr txBox="1"/>
          <p:nvPr/>
        </p:nvSpPr>
        <p:spPr>
          <a:xfrm>
            <a:off x="5029200" y="3438144"/>
            <a:ext cx="1828800" cy="22860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AI Premium</a:t>
            </a:r>
          </a:p>
        </p:txBody>
      </p:sp>
      <p:sp>
        <p:nvSpPr>
          <p:cNvPr id="17" name="TextBox 16"/>
          <p:cNvSpPr txBox="1"/>
          <p:nvPr/>
        </p:nvSpPr>
        <p:spPr>
          <a:xfrm>
            <a:off x="7315200" y="3218688"/>
            <a:ext cx="3200400" cy="320040"/>
          </a:xfrm>
          <a:prstGeom prst="rect">
            <a:avLst/>
          </a:prstGeom>
          <a:noFill/>
        </p:spPr>
        <p:txBody>
          <a:bodyPr wrap="square">
            <a:spAutoFit/>
          </a:bodyPr>
          <a:lstStyle/>
          <a:p>
            <a:pPr algn="l">
              <a:lnSpc>
                <a:spcPts val="1560"/>
              </a:lnSpc>
              <a:spcAft>
                <a:spcPts val="0"/>
              </a:spcAft>
              <a:defRPr sz="1300" b="0">
                <a:solidFill>
                  <a:srgbClr val="6E6E73"/>
                </a:solidFill>
                <a:latin typeface="Calibri"/>
              </a:defRPr>
            </a:pPr>
            <a:r>
              <a:t>$2.50–$12/hr</a:t>
            </a:r>
          </a:p>
        </p:txBody>
      </p:sp>
      <p:sp>
        <p:nvSpPr>
          <p:cNvPr id="18" name="TextBox 17"/>
          <p:cNvSpPr txBox="1"/>
          <p:nvPr/>
        </p:nvSpPr>
        <p:spPr>
          <a:xfrm>
            <a:off x="1097280" y="3849624"/>
            <a:ext cx="3657600" cy="365760"/>
          </a:xfrm>
          <a:prstGeom prst="rect">
            <a:avLst/>
          </a:prstGeom>
          <a:noFill/>
        </p:spPr>
        <p:txBody>
          <a:bodyPr wrap="square">
            <a:spAutoFit/>
          </a:bodyPr>
          <a:lstStyle/>
          <a:p>
            <a:pPr algn="l">
              <a:lnSpc>
                <a:spcPts val="1920"/>
              </a:lnSpc>
              <a:spcAft>
                <a:spcPts val="0"/>
              </a:spcAft>
              <a:defRPr sz="1600" b="1">
                <a:solidFill>
                  <a:srgbClr val="1D1D1F"/>
                </a:solidFill>
                <a:latin typeface="Calibri"/>
              </a:defRPr>
            </a:pPr>
            <a:r>
              <a:t>Enterprise AI Software</a:t>
            </a:r>
          </a:p>
        </p:txBody>
      </p:sp>
      <p:sp>
        <p:nvSpPr>
          <p:cNvPr id="19" name="TextBox 18"/>
          <p:cNvSpPr txBox="1"/>
          <p:nvPr/>
        </p:nvSpPr>
        <p:spPr>
          <a:xfrm>
            <a:off x="5029200" y="3822192"/>
            <a:ext cx="1828800" cy="365760"/>
          </a:xfrm>
          <a:prstGeom prst="rect">
            <a:avLst/>
          </a:prstGeom>
          <a:noFill/>
        </p:spPr>
        <p:txBody>
          <a:bodyPr wrap="square">
            <a:spAutoFit/>
          </a:bodyPr>
          <a:lstStyle/>
          <a:p>
            <a:pPr algn="l">
              <a:lnSpc>
                <a:spcPts val="2640"/>
              </a:lnSpc>
              <a:spcAft>
                <a:spcPts val="0"/>
              </a:spcAft>
              <a:defRPr sz="2200" b="1">
                <a:solidFill>
                  <a:srgbClr val="D32F2F"/>
                </a:solidFill>
                <a:latin typeface="Calibri"/>
              </a:defRPr>
            </a:pPr>
            <a:r>
              <a:t>+22%</a:t>
            </a:r>
          </a:p>
        </p:txBody>
      </p:sp>
      <p:sp>
        <p:nvSpPr>
          <p:cNvPr id="20" name="TextBox 19"/>
          <p:cNvSpPr txBox="1"/>
          <p:nvPr/>
        </p:nvSpPr>
        <p:spPr>
          <a:xfrm>
            <a:off x="5029200" y="4096512"/>
            <a:ext cx="1828800" cy="22860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AI Premium</a:t>
            </a:r>
          </a:p>
        </p:txBody>
      </p:sp>
      <p:sp>
        <p:nvSpPr>
          <p:cNvPr id="21" name="TextBox 20"/>
          <p:cNvSpPr txBox="1"/>
          <p:nvPr/>
        </p:nvSpPr>
        <p:spPr>
          <a:xfrm>
            <a:off x="7315200" y="3877056"/>
            <a:ext cx="3200400" cy="320040"/>
          </a:xfrm>
          <a:prstGeom prst="rect">
            <a:avLst/>
          </a:prstGeom>
          <a:noFill/>
        </p:spPr>
        <p:txBody>
          <a:bodyPr wrap="square">
            <a:spAutoFit/>
          </a:bodyPr>
          <a:lstStyle/>
          <a:p>
            <a:pPr algn="l">
              <a:lnSpc>
                <a:spcPts val="1560"/>
              </a:lnSpc>
              <a:spcAft>
                <a:spcPts val="0"/>
              </a:spcAft>
              <a:defRPr sz="1300" b="0">
                <a:solidFill>
                  <a:srgbClr val="6E6E73"/>
                </a:solidFill>
                <a:latin typeface="Calibri"/>
              </a:defRPr>
            </a:pPr>
            <a:r>
              <a:t>$30–$50/user/mo</a:t>
            </a:r>
          </a:p>
        </p:txBody>
      </p:sp>
      <p:sp>
        <p:nvSpPr>
          <p:cNvPr id="22" name="Rectangle 21"/>
          <p:cNvSpPr/>
          <p:nvPr/>
        </p:nvSpPr>
        <p:spPr>
          <a:xfrm>
            <a:off x="914400" y="4370832"/>
            <a:ext cx="10058400" cy="658368"/>
          </a:xfrm>
          <a:prstGeom prst="rect">
            <a:avLst/>
          </a:prstGeom>
          <a:solidFill>
            <a:srgbClr val="F8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4507992"/>
            <a:ext cx="3657600" cy="365760"/>
          </a:xfrm>
          <a:prstGeom prst="rect">
            <a:avLst/>
          </a:prstGeom>
          <a:noFill/>
        </p:spPr>
        <p:txBody>
          <a:bodyPr wrap="square">
            <a:spAutoFit/>
          </a:bodyPr>
          <a:lstStyle/>
          <a:p>
            <a:pPr algn="l">
              <a:lnSpc>
                <a:spcPts val="1920"/>
              </a:lnSpc>
              <a:spcAft>
                <a:spcPts val="0"/>
              </a:spcAft>
              <a:defRPr sz="1600" b="1">
                <a:solidFill>
                  <a:srgbClr val="1D1D1F"/>
                </a:solidFill>
                <a:latin typeface="Calibri"/>
              </a:defRPr>
            </a:pPr>
            <a:r>
              <a:t>AI Servers</a:t>
            </a:r>
          </a:p>
        </p:txBody>
      </p:sp>
      <p:sp>
        <p:nvSpPr>
          <p:cNvPr id="24" name="TextBox 23"/>
          <p:cNvSpPr txBox="1"/>
          <p:nvPr/>
        </p:nvSpPr>
        <p:spPr>
          <a:xfrm>
            <a:off x="5029200" y="4480560"/>
            <a:ext cx="1828800" cy="365760"/>
          </a:xfrm>
          <a:prstGeom prst="rect">
            <a:avLst/>
          </a:prstGeom>
          <a:noFill/>
        </p:spPr>
        <p:txBody>
          <a:bodyPr wrap="square">
            <a:spAutoFit/>
          </a:bodyPr>
          <a:lstStyle/>
          <a:p>
            <a:pPr algn="l">
              <a:lnSpc>
                <a:spcPts val="2640"/>
              </a:lnSpc>
              <a:spcAft>
                <a:spcPts val="0"/>
              </a:spcAft>
              <a:defRPr sz="2200" b="1">
                <a:solidFill>
                  <a:srgbClr val="D32F2F"/>
                </a:solidFill>
                <a:latin typeface="Calibri"/>
              </a:defRPr>
            </a:pPr>
            <a:r>
              <a:t>+35%</a:t>
            </a:r>
          </a:p>
        </p:txBody>
      </p:sp>
      <p:sp>
        <p:nvSpPr>
          <p:cNvPr id="25" name="TextBox 24"/>
          <p:cNvSpPr txBox="1"/>
          <p:nvPr/>
        </p:nvSpPr>
        <p:spPr>
          <a:xfrm>
            <a:off x="5029200" y="4754880"/>
            <a:ext cx="1828800" cy="22860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AI Premium</a:t>
            </a:r>
          </a:p>
        </p:txBody>
      </p:sp>
      <p:sp>
        <p:nvSpPr>
          <p:cNvPr id="26" name="TextBox 25"/>
          <p:cNvSpPr txBox="1"/>
          <p:nvPr/>
        </p:nvSpPr>
        <p:spPr>
          <a:xfrm>
            <a:off x="7315200" y="4535424"/>
            <a:ext cx="3200400" cy="320040"/>
          </a:xfrm>
          <a:prstGeom prst="rect">
            <a:avLst/>
          </a:prstGeom>
          <a:noFill/>
        </p:spPr>
        <p:txBody>
          <a:bodyPr wrap="square">
            <a:spAutoFit/>
          </a:bodyPr>
          <a:lstStyle/>
          <a:p>
            <a:pPr algn="l">
              <a:lnSpc>
                <a:spcPts val="1560"/>
              </a:lnSpc>
              <a:spcAft>
                <a:spcPts val="0"/>
              </a:spcAft>
              <a:defRPr sz="1300" b="0">
                <a:solidFill>
                  <a:srgbClr val="6E6E73"/>
                </a:solidFill>
                <a:latin typeface="Calibri"/>
              </a:defRPr>
            </a:pPr>
            <a:r>
              <a:t>$200K–$500K</a:t>
            </a:r>
          </a:p>
        </p:txBody>
      </p:sp>
      <p:sp>
        <p:nvSpPr>
          <p:cNvPr id="27" name="TextBox 26"/>
          <p:cNvSpPr txBox="1"/>
          <p:nvPr/>
        </p:nvSpPr>
        <p:spPr>
          <a:xfrm>
            <a:off x="1097280" y="5166360"/>
            <a:ext cx="3657600" cy="365760"/>
          </a:xfrm>
          <a:prstGeom prst="rect">
            <a:avLst/>
          </a:prstGeom>
          <a:noFill/>
        </p:spPr>
        <p:txBody>
          <a:bodyPr wrap="square">
            <a:spAutoFit/>
          </a:bodyPr>
          <a:lstStyle/>
          <a:p>
            <a:pPr algn="l">
              <a:lnSpc>
                <a:spcPts val="1920"/>
              </a:lnSpc>
              <a:spcAft>
                <a:spcPts val="0"/>
              </a:spcAft>
              <a:defRPr sz="1600" b="1">
                <a:solidFill>
                  <a:srgbClr val="1D1D1F"/>
                </a:solidFill>
                <a:latin typeface="Calibri"/>
              </a:defRPr>
            </a:pPr>
            <a:r>
              <a:t>Model Training Compute</a:t>
            </a:r>
          </a:p>
        </p:txBody>
      </p:sp>
      <p:sp>
        <p:nvSpPr>
          <p:cNvPr id="28" name="TextBox 27"/>
          <p:cNvSpPr txBox="1"/>
          <p:nvPr/>
        </p:nvSpPr>
        <p:spPr>
          <a:xfrm>
            <a:off x="5029200" y="5138928"/>
            <a:ext cx="1828800" cy="365760"/>
          </a:xfrm>
          <a:prstGeom prst="rect">
            <a:avLst/>
          </a:prstGeom>
          <a:noFill/>
        </p:spPr>
        <p:txBody>
          <a:bodyPr wrap="square">
            <a:spAutoFit/>
          </a:bodyPr>
          <a:lstStyle/>
          <a:p>
            <a:pPr algn="l">
              <a:lnSpc>
                <a:spcPts val="2640"/>
              </a:lnSpc>
              <a:spcAft>
                <a:spcPts val="0"/>
              </a:spcAft>
              <a:defRPr sz="2200" b="1">
                <a:solidFill>
                  <a:srgbClr val="D32F2F"/>
                </a:solidFill>
                <a:latin typeface="Calibri"/>
              </a:defRPr>
            </a:pPr>
            <a:r>
              <a:t>+55%</a:t>
            </a:r>
          </a:p>
        </p:txBody>
      </p:sp>
      <p:sp>
        <p:nvSpPr>
          <p:cNvPr id="29" name="TextBox 28"/>
          <p:cNvSpPr txBox="1"/>
          <p:nvPr/>
        </p:nvSpPr>
        <p:spPr>
          <a:xfrm>
            <a:off x="5029200" y="5413248"/>
            <a:ext cx="1828800" cy="22860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AI Premium</a:t>
            </a:r>
          </a:p>
        </p:txBody>
      </p:sp>
      <p:sp>
        <p:nvSpPr>
          <p:cNvPr id="30" name="TextBox 29"/>
          <p:cNvSpPr txBox="1"/>
          <p:nvPr/>
        </p:nvSpPr>
        <p:spPr>
          <a:xfrm>
            <a:off x="7315200" y="5193792"/>
            <a:ext cx="3200400" cy="320040"/>
          </a:xfrm>
          <a:prstGeom prst="rect">
            <a:avLst/>
          </a:prstGeom>
          <a:noFill/>
        </p:spPr>
        <p:txBody>
          <a:bodyPr wrap="square">
            <a:spAutoFit/>
          </a:bodyPr>
          <a:lstStyle/>
          <a:p>
            <a:pPr algn="l">
              <a:lnSpc>
                <a:spcPts val="1560"/>
              </a:lnSpc>
              <a:spcAft>
                <a:spcPts val="0"/>
              </a:spcAft>
              <a:defRPr sz="1300" b="0">
                <a:solidFill>
                  <a:srgbClr val="6E6E73"/>
                </a:solidFill>
                <a:latin typeface="Calibri"/>
              </a:defRPr>
            </a:pPr>
            <a:r>
              <a:t>$5M–$500M per model</a:t>
            </a:r>
          </a:p>
        </p:txBody>
      </p:sp>
      <p:sp>
        <p:nvSpPr>
          <p:cNvPr id="31" name="TextBox 30"/>
          <p:cNvSpPr txBox="1"/>
          <p:nvPr/>
        </p:nvSpPr>
        <p:spPr>
          <a:xfrm>
            <a:off x="914400" y="6035040"/>
            <a:ext cx="10058400" cy="274320"/>
          </a:xfrm>
          <a:prstGeom prst="rect">
            <a:avLst/>
          </a:prstGeom>
          <a:noFill/>
        </p:spPr>
        <p:txBody>
          <a:bodyPr wrap="square">
            <a:spAutoFit/>
          </a:bodyPr>
          <a:lstStyle/>
          <a:p>
            <a:pPr algn="l">
              <a:lnSpc>
                <a:spcPts val="1200"/>
              </a:lnSpc>
              <a:spcAft>
                <a:spcPts val="0"/>
              </a:spcAft>
              <a:defRPr sz="1000" b="0">
                <a:solidFill>
                  <a:srgbClr val="AEAEB2"/>
                </a:solidFill>
                <a:latin typeface="Calibri"/>
              </a:defRPr>
            </a:pPr>
            <a:r>
              <a:t>Sources: NVIDIA earnings, SK Hynix, AWS/Azure/GCP pricing, Gartner, Epoch 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GLOBAL AI INFLATION EXPOSURE</a:t>
            </a:r>
          </a:p>
        </p:txBody>
      </p:sp>
      <p:sp>
        <p:nvSpPr>
          <p:cNvPr id="3" name="TextBox 2"/>
          <p:cNvSpPr txBox="1"/>
          <p:nvPr/>
        </p:nvSpPr>
        <p:spPr>
          <a:xfrm>
            <a:off x="914400" y="1005840"/>
            <a:ext cx="9144000" cy="548640"/>
          </a:xfrm>
          <a:prstGeom prst="rect">
            <a:avLst/>
          </a:prstGeom>
          <a:noFill/>
        </p:spPr>
        <p:txBody>
          <a:bodyPr wrap="square">
            <a:spAutoFit/>
          </a:bodyPr>
          <a:lstStyle/>
          <a:p>
            <a:pPr algn="l">
              <a:lnSpc>
                <a:spcPts val="3360"/>
              </a:lnSpc>
              <a:spcAft>
                <a:spcPts val="0"/>
              </a:spcAft>
              <a:defRPr sz="2800" b="1">
                <a:solidFill>
                  <a:srgbClr val="1D1D1F"/>
                </a:solidFill>
                <a:latin typeface="Calibri"/>
              </a:defRPr>
            </a:pPr>
            <a:r>
              <a:t>AI inflation doesn't hit every country equally</a:t>
            </a:r>
          </a:p>
        </p:txBody>
      </p:sp>
      <p:sp>
        <p:nvSpPr>
          <p:cNvPr id="4" name="TextBox 3"/>
          <p:cNvSpPr txBox="1"/>
          <p:nvPr/>
        </p:nvSpPr>
        <p:spPr>
          <a:xfrm>
            <a:off x="914400" y="1828800"/>
            <a:ext cx="4572000" cy="365760"/>
          </a:xfrm>
          <a:prstGeom prst="rect">
            <a:avLst/>
          </a:prstGeom>
          <a:noFill/>
        </p:spPr>
        <p:txBody>
          <a:bodyPr wrap="square">
            <a:spAutoFit/>
          </a:bodyPr>
          <a:lstStyle/>
          <a:p>
            <a:pPr algn="l">
              <a:lnSpc>
                <a:spcPts val="1560"/>
              </a:lnSpc>
              <a:spcAft>
                <a:spcPts val="0"/>
              </a:spcAft>
              <a:defRPr sz="1300" b="1">
                <a:solidFill>
                  <a:srgbClr val="D32F2F"/>
                </a:solidFill>
                <a:latin typeface="Calibri"/>
              </a:defRPr>
            </a:pPr>
            <a:r>
              <a:t>MOST EXPOSED</a:t>
            </a:r>
          </a:p>
        </p:txBody>
      </p:sp>
      <p:sp>
        <p:nvSpPr>
          <p:cNvPr id="5" name="TextBox 4"/>
          <p:cNvSpPr txBox="1"/>
          <p:nvPr/>
        </p:nvSpPr>
        <p:spPr>
          <a:xfrm>
            <a:off x="1097280" y="2240280"/>
            <a:ext cx="18288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United States</a:t>
            </a:r>
          </a:p>
        </p:txBody>
      </p:sp>
      <p:sp>
        <p:nvSpPr>
          <p:cNvPr id="6" name="TextBox 5"/>
          <p:cNvSpPr txBox="1"/>
          <p:nvPr/>
        </p:nvSpPr>
        <p:spPr>
          <a:xfrm>
            <a:off x="3200400" y="2240280"/>
            <a:ext cx="914400" cy="274320"/>
          </a:xfrm>
          <a:prstGeom prst="rect">
            <a:avLst/>
          </a:prstGeom>
          <a:noFill/>
        </p:spPr>
        <p:txBody>
          <a:bodyPr wrap="square">
            <a:spAutoFit/>
          </a:bodyPr>
          <a:lstStyle/>
          <a:p>
            <a:pPr algn="l">
              <a:lnSpc>
                <a:spcPts val="1680"/>
              </a:lnSpc>
              <a:spcAft>
                <a:spcPts val="0"/>
              </a:spcAft>
              <a:defRPr sz="1400" b="1">
                <a:solidFill>
                  <a:srgbClr val="D32F2F"/>
                </a:solidFill>
                <a:latin typeface="Calibri"/>
              </a:defRPr>
            </a:pPr>
            <a:r>
              <a:t>78/100</a:t>
            </a:r>
          </a:p>
        </p:txBody>
      </p:sp>
      <p:sp>
        <p:nvSpPr>
          <p:cNvPr id="7" name="TextBox 6"/>
          <p:cNvSpPr txBox="1"/>
          <p:nvPr/>
        </p:nvSpPr>
        <p:spPr>
          <a:xfrm>
            <a:off x="4206240" y="2240280"/>
            <a:ext cx="1371600" cy="27432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GPU demand, data center electricity, enterprise AI</a:t>
            </a:r>
          </a:p>
        </p:txBody>
      </p:sp>
      <p:sp>
        <p:nvSpPr>
          <p:cNvPr id="8" name="TextBox 7"/>
          <p:cNvSpPr txBox="1"/>
          <p:nvPr/>
        </p:nvSpPr>
        <p:spPr>
          <a:xfrm>
            <a:off x="1097280" y="2624328"/>
            <a:ext cx="18288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Taiwan</a:t>
            </a:r>
          </a:p>
        </p:txBody>
      </p:sp>
      <p:sp>
        <p:nvSpPr>
          <p:cNvPr id="9" name="TextBox 8"/>
          <p:cNvSpPr txBox="1"/>
          <p:nvPr/>
        </p:nvSpPr>
        <p:spPr>
          <a:xfrm>
            <a:off x="3200400" y="2624328"/>
            <a:ext cx="914400" cy="274320"/>
          </a:xfrm>
          <a:prstGeom prst="rect">
            <a:avLst/>
          </a:prstGeom>
          <a:noFill/>
        </p:spPr>
        <p:txBody>
          <a:bodyPr wrap="square">
            <a:spAutoFit/>
          </a:bodyPr>
          <a:lstStyle/>
          <a:p>
            <a:pPr algn="l">
              <a:lnSpc>
                <a:spcPts val="1680"/>
              </a:lnSpc>
              <a:spcAft>
                <a:spcPts val="0"/>
              </a:spcAft>
              <a:defRPr sz="1400" b="1">
                <a:solidFill>
                  <a:srgbClr val="D32F2F"/>
                </a:solidFill>
                <a:latin typeface="Calibri"/>
              </a:defRPr>
            </a:pPr>
            <a:r>
              <a:t>74/100</a:t>
            </a:r>
          </a:p>
        </p:txBody>
      </p:sp>
      <p:sp>
        <p:nvSpPr>
          <p:cNvPr id="10" name="TextBox 9"/>
          <p:cNvSpPr txBox="1"/>
          <p:nvPr/>
        </p:nvSpPr>
        <p:spPr>
          <a:xfrm>
            <a:off x="4206240" y="2624328"/>
            <a:ext cx="1371600" cy="27432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TSMC production demand, water usage, electricity</a:t>
            </a:r>
          </a:p>
        </p:txBody>
      </p:sp>
      <p:sp>
        <p:nvSpPr>
          <p:cNvPr id="11" name="TextBox 10"/>
          <p:cNvSpPr txBox="1"/>
          <p:nvPr/>
        </p:nvSpPr>
        <p:spPr>
          <a:xfrm>
            <a:off x="1097280" y="3008376"/>
            <a:ext cx="18288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China</a:t>
            </a:r>
          </a:p>
        </p:txBody>
      </p:sp>
      <p:sp>
        <p:nvSpPr>
          <p:cNvPr id="12" name="TextBox 11"/>
          <p:cNvSpPr txBox="1"/>
          <p:nvPr/>
        </p:nvSpPr>
        <p:spPr>
          <a:xfrm>
            <a:off x="3200400" y="3008376"/>
            <a:ext cx="914400" cy="274320"/>
          </a:xfrm>
          <a:prstGeom prst="rect">
            <a:avLst/>
          </a:prstGeom>
          <a:noFill/>
        </p:spPr>
        <p:txBody>
          <a:bodyPr wrap="square">
            <a:spAutoFit/>
          </a:bodyPr>
          <a:lstStyle/>
          <a:p>
            <a:pPr algn="l">
              <a:lnSpc>
                <a:spcPts val="1680"/>
              </a:lnSpc>
              <a:spcAft>
                <a:spcPts val="0"/>
              </a:spcAft>
              <a:defRPr sz="1400" b="1">
                <a:solidFill>
                  <a:srgbClr val="D32F2F"/>
                </a:solidFill>
                <a:latin typeface="Calibri"/>
              </a:defRPr>
            </a:pPr>
            <a:r>
              <a:t>72/100</a:t>
            </a:r>
          </a:p>
        </p:txBody>
      </p:sp>
      <p:sp>
        <p:nvSpPr>
          <p:cNvPr id="13" name="TextBox 12"/>
          <p:cNvSpPr txBox="1"/>
          <p:nvPr/>
        </p:nvSpPr>
        <p:spPr>
          <a:xfrm>
            <a:off x="4206240" y="3008376"/>
            <a:ext cx="1371600" cy="27432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Semiconductor restrictions, domestic chip development</a:t>
            </a:r>
          </a:p>
        </p:txBody>
      </p:sp>
      <p:sp>
        <p:nvSpPr>
          <p:cNvPr id="14" name="TextBox 13"/>
          <p:cNvSpPr txBox="1"/>
          <p:nvPr/>
        </p:nvSpPr>
        <p:spPr>
          <a:xfrm>
            <a:off x="1097280" y="3392424"/>
            <a:ext cx="18288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Singapore</a:t>
            </a:r>
          </a:p>
        </p:txBody>
      </p:sp>
      <p:sp>
        <p:nvSpPr>
          <p:cNvPr id="15" name="TextBox 14"/>
          <p:cNvSpPr txBox="1"/>
          <p:nvPr/>
        </p:nvSpPr>
        <p:spPr>
          <a:xfrm>
            <a:off x="3200400" y="3392424"/>
            <a:ext cx="914400" cy="274320"/>
          </a:xfrm>
          <a:prstGeom prst="rect">
            <a:avLst/>
          </a:prstGeom>
          <a:noFill/>
        </p:spPr>
        <p:txBody>
          <a:bodyPr wrap="square">
            <a:spAutoFit/>
          </a:bodyPr>
          <a:lstStyle/>
          <a:p>
            <a:pPr algn="l">
              <a:lnSpc>
                <a:spcPts val="1680"/>
              </a:lnSpc>
              <a:spcAft>
                <a:spcPts val="0"/>
              </a:spcAft>
              <a:defRPr sz="1400" b="1">
                <a:solidFill>
                  <a:srgbClr val="D32F2F"/>
                </a:solidFill>
                <a:latin typeface="Calibri"/>
              </a:defRPr>
            </a:pPr>
            <a:r>
              <a:t>70/100</a:t>
            </a:r>
          </a:p>
        </p:txBody>
      </p:sp>
      <p:sp>
        <p:nvSpPr>
          <p:cNvPr id="16" name="TextBox 15"/>
          <p:cNvSpPr txBox="1"/>
          <p:nvPr/>
        </p:nvSpPr>
        <p:spPr>
          <a:xfrm>
            <a:off x="4206240" y="3392424"/>
            <a:ext cx="1371600" cy="27432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Data center density, electricity constraints</a:t>
            </a:r>
          </a:p>
        </p:txBody>
      </p:sp>
      <p:sp>
        <p:nvSpPr>
          <p:cNvPr id="17" name="TextBox 16"/>
          <p:cNvSpPr txBox="1"/>
          <p:nvPr/>
        </p:nvSpPr>
        <p:spPr>
          <a:xfrm>
            <a:off x="1097280" y="3776472"/>
            <a:ext cx="18288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South Korea</a:t>
            </a:r>
          </a:p>
        </p:txBody>
      </p:sp>
      <p:sp>
        <p:nvSpPr>
          <p:cNvPr id="18" name="TextBox 17"/>
          <p:cNvSpPr txBox="1"/>
          <p:nvPr/>
        </p:nvSpPr>
        <p:spPr>
          <a:xfrm>
            <a:off x="3200400" y="3776472"/>
            <a:ext cx="914400" cy="274320"/>
          </a:xfrm>
          <a:prstGeom prst="rect">
            <a:avLst/>
          </a:prstGeom>
          <a:noFill/>
        </p:spPr>
        <p:txBody>
          <a:bodyPr wrap="square">
            <a:spAutoFit/>
          </a:bodyPr>
          <a:lstStyle/>
          <a:p>
            <a:pPr algn="l">
              <a:lnSpc>
                <a:spcPts val="1680"/>
              </a:lnSpc>
              <a:spcAft>
                <a:spcPts val="0"/>
              </a:spcAft>
              <a:defRPr sz="1400" b="1">
                <a:solidFill>
                  <a:srgbClr val="D32F2F"/>
                </a:solidFill>
                <a:latin typeface="Calibri"/>
              </a:defRPr>
            </a:pPr>
            <a:r>
              <a:t>68/100</a:t>
            </a:r>
          </a:p>
        </p:txBody>
      </p:sp>
      <p:sp>
        <p:nvSpPr>
          <p:cNvPr id="19" name="TextBox 18"/>
          <p:cNvSpPr txBox="1"/>
          <p:nvPr/>
        </p:nvSpPr>
        <p:spPr>
          <a:xfrm>
            <a:off x="4206240" y="3776472"/>
            <a:ext cx="1371600" cy="27432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Memory chip production, semiconductor equipment</a:t>
            </a:r>
          </a:p>
        </p:txBody>
      </p:sp>
      <p:sp>
        <p:nvSpPr>
          <p:cNvPr id="20" name="TextBox 19"/>
          <p:cNvSpPr txBox="1"/>
          <p:nvPr/>
        </p:nvSpPr>
        <p:spPr>
          <a:xfrm>
            <a:off x="6858000" y="1828800"/>
            <a:ext cx="4572000" cy="365760"/>
          </a:xfrm>
          <a:prstGeom prst="rect">
            <a:avLst/>
          </a:prstGeom>
          <a:noFill/>
        </p:spPr>
        <p:txBody>
          <a:bodyPr wrap="square">
            <a:spAutoFit/>
          </a:bodyPr>
          <a:lstStyle/>
          <a:p>
            <a:pPr algn="l">
              <a:lnSpc>
                <a:spcPts val="1560"/>
              </a:lnSpc>
              <a:spcAft>
                <a:spcPts val="0"/>
              </a:spcAft>
              <a:defRPr sz="1300" b="1">
                <a:solidFill>
                  <a:srgbClr val="34C759"/>
                </a:solidFill>
                <a:latin typeface="Calibri"/>
              </a:defRPr>
            </a:pPr>
            <a:r>
              <a:t>LEAST EXPOSED</a:t>
            </a:r>
          </a:p>
        </p:txBody>
      </p:sp>
      <p:sp>
        <p:nvSpPr>
          <p:cNvPr id="21" name="TextBox 20"/>
          <p:cNvSpPr txBox="1"/>
          <p:nvPr/>
        </p:nvSpPr>
        <p:spPr>
          <a:xfrm>
            <a:off x="7040880" y="2240280"/>
            <a:ext cx="164592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Norway</a:t>
            </a:r>
          </a:p>
        </p:txBody>
      </p:sp>
      <p:sp>
        <p:nvSpPr>
          <p:cNvPr id="22" name="TextBox 21"/>
          <p:cNvSpPr txBox="1"/>
          <p:nvPr/>
        </p:nvSpPr>
        <p:spPr>
          <a:xfrm>
            <a:off x="8778240" y="2240280"/>
            <a:ext cx="914400" cy="274320"/>
          </a:xfrm>
          <a:prstGeom prst="rect">
            <a:avLst/>
          </a:prstGeom>
          <a:noFill/>
        </p:spPr>
        <p:txBody>
          <a:bodyPr wrap="square">
            <a:spAutoFit/>
          </a:bodyPr>
          <a:lstStyle/>
          <a:p>
            <a:pPr algn="l">
              <a:lnSpc>
                <a:spcPts val="1680"/>
              </a:lnSpc>
              <a:spcAft>
                <a:spcPts val="0"/>
              </a:spcAft>
              <a:defRPr sz="1400" b="1">
                <a:solidFill>
                  <a:srgbClr val="34C759"/>
                </a:solidFill>
                <a:latin typeface="Calibri"/>
              </a:defRPr>
            </a:pPr>
            <a:r>
              <a:t>38/100</a:t>
            </a:r>
          </a:p>
        </p:txBody>
      </p:sp>
      <p:sp>
        <p:nvSpPr>
          <p:cNvPr id="23" name="TextBox 22"/>
          <p:cNvSpPr txBox="1"/>
          <p:nvPr/>
        </p:nvSpPr>
        <p:spPr>
          <a:xfrm>
            <a:off x="9784080" y="2240280"/>
            <a:ext cx="1645920" cy="27432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98% renewable energy, cold climate</a:t>
            </a:r>
          </a:p>
        </p:txBody>
      </p:sp>
      <p:sp>
        <p:nvSpPr>
          <p:cNvPr id="24" name="TextBox 23"/>
          <p:cNvSpPr txBox="1"/>
          <p:nvPr/>
        </p:nvSpPr>
        <p:spPr>
          <a:xfrm>
            <a:off x="7040880" y="2624328"/>
            <a:ext cx="164592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Kenya</a:t>
            </a:r>
          </a:p>
        </p:txBody>
      </p:sp>
      <p:sp>
        <p:nvSpPr>
          <p:cNvPr id="25" name="TextBox 24"/>
          <p:cNvSpPr txBox="1"/>
          <p:nvPr/>
        </p:nvSpPr>
        <p:spPr>
          <a:xfrm>
            <a:off x="8778240" y="2624328"/>
            <a:ext cx="914400" cy="274320"/>
          </a:xfrm>
          <a:prstGeom prst="rect">
            <a:avLst/>
          </a:prstGeom>
          <a:noFill/>
        </p:spPr>
        <p:txBody>
          <a:bodyPr wrap="square">
            <a:spAutoFit/>
          </a:bodyPr>
          <a:lstStyle/>
          <a:p>
            <a:pPr algn="l">
              <a:lnSpc>
                <a:spcPts val="1680"/>
              </a:lnSpc>
              <a:spcAft>
                <a:spcPts val="0"/>
              </a:spcAft>
              <a:defRPr sz="1400" b="1">
                <a:solidFill>
                  <a:srgbClr val="34C759"/>
                </a:solidFill>
                <a:latin typeface="Calibri"/>
              </a:defRPr>
            </a:pPr>
            <a:r>
              <a:t>34/100</a:t>
            </a:r>
          </a:p>
        </p:txBody>
      </p:sp>
      <p:sp>
        <p:nvSpPr>
          <p:cNvPr id="26" name="TextBox 25"/>
          <p:cNvSpPr txBox="1"/>
          <p:nvPr/>
        </p:nvSpPr>
        <p:spPr>
          <a:xfrm>
            <a:off x="9784080" y="2624328"/>
            <a:ext cx="1645920" cy="27432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82% renewable, low AI adoption</a:t>
            </a:r>
          </a:p>
        </p:txBody>
      </p:sp>
      <p:sp>
        <p:nvSpPr>
          <p:cNvPr id="27" name="TextBox 26"/>
          <p:cNvSpPr txBox="1"/>
          <p:nvPr/>
        </p:nvSpPr>
        <p:spPr>
          <a:xfrm>
            <a:off x="7040880" y="3008376"/>
            <a:ext cx="164592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Argentina</a:t>
            </a:r>
          </a:p>
        </p:txBody>
      </p:sp>
      <p:sp>
        <p:nvSpPr>
          <p:cNvPr id="28" name="TextBox 27"/>
          <p:cNvSpPr txBox="1"/>
          <p:nvPr/>
        </p:nvSpPr>
        <p:spPr>
          <a:xfrm>
            <a:off x="8778240" y="3008376"/>
            <a:ext cx="914400" cy="274320"/>
          </a:xfrm>
          <a:prstGeom prst="rect">
            <a:avLst/>
          </a:prstGeom>
          <a:noFill/>
        </p:spPr>
        <p:txBody>
          <a:bodyPr wrap="square">
            <a:spAutoFit/>
          </a:bodyPr>
          <a:lstStyle/>
          <a:p>
            <a:pPr algn="l">
              <a:lnSpc>
                <a:spcPts val="1680"/>
              </a:lnSpc>
              <a:spcAft>
                <a:spcPts val="0"/>
              </a:spcAft>
              <a:defRPr sz="1400" b="1">
                <a:solidFill>
                  <a:srgbClr val="34C759"/>
                </a:solidFill>
                <a:latin typeface="Calibri"/>
              </a:defRPr>
            </a:pPr>
            <a:r>
              <a:t>38/100</a:t>
            </a:r>
          </a:p>
        </p:txBody>
      </p:sp>
      <p:sp>
        <p:nvSpPr>
          <p:cNvPr id="29" name="TextBox 28"/>
          <p:cNvSpPr txBox="1"/>
          <p:nvPr/>
        </p:nvSpPr>
        <p:spPr>
          <a:xfrm>
            <a:off x="9784080" y="3008376"/>
            <a:ext cx="1645920" cy="27432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AI inflation negligible vs macro</a:t>
            </a:r>
          </a:p>
        </p:txBody>
      </p:sp>
      <p:sp>
        <p:nvSpPr>
          <p:cNvPr id="30" name="TextBox 29"/>
          <p:cNvSpPr txBox="1"/>
          <p:nvPr/>
        </p:nvSpPr>
        <p:spPr>
          <a:xfrm>
            <a:off x="7040880" y="3392424"/>
            <a:ext cx="164592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Sweden</a:t>
            </a:r>
          </a:p>
        </p:txBody>
      </p:sp>
      <p:sp>
        <p:nvSpPr>
          <p:cNvPr id="31" name="TextBox 30"/>
          <p:cNvSpPr txBox="1"/>
          <p:nvPr/>
        </p:nvSpPr>
        <p:spPr>
          <a:xfrm>
            <a:off x="8778240" y="3392424"/>
            <a:ext cx="914400" cy="274320"/>
          </a:xfrm>
          <a:prstGeom prst="rect">
            <a:avLst/>
          </a:prstGeom>
          <a:noFill/>
        </p:spPr>
        <p:txBody>
          <a:bodyPr wrap="square">
            <a:spAutoFit/>
          </a:bodyPr>
          <a:lstStyle/>
          <a:p>
            <a:pPr algn="l">
              <a:lnSpc>
                <a:spcPts val="1680"/>
              </a:lnSpc>
              <a:spcAft>
                <a:spcPts val="0"/>
              </a:spcAft>
              <a:defRPr sz="1400" b="1">
                <a:solidFill>
                  <a:srgbClr val="34C759"/>
                </a:solidFill>
                <a:latin typeface="Calibri"/>
              </a:defRPr>
            </a:pPr>
            <a:r>
              <a:t>42/100</a:t>
            </a:r>
          </a:p>
        </p:txBody>
      </p:sp>
      <p:sp>
        <p:nvSpPr>
          <p:cNvPr id="32" name="TextBox 31"/>
          <p:cNvSpPr txBox="1"/>
          <p:nvPr/>
        </p:nvSpPr>
        <p:spPr>
          <a:xfrm>
            <a:off x="9784080" y="3392424"/>
            <a:ext cx="1645920" cy="27432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60% renewable, Nordic cooling</a:t>
            </a:r>
          </a:p>
        </p:txBody>
      </p:sp>
      <p:sp>
        <p:nvSpPr>
          <p:cNvPr id="33" name="TextBox 32"/>
          <p:cNvSpPr txBox="1"/>
          <p:nvPr/>
        </p:nvSpPr>
        <p:spPr>
          <a:xfrm>
            <a:off x="7040880" y="3776472"/>
            <a:ext cx="164592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Mexico</a:t>
            </a:r>
          </a:p>
        </p:txBody>
      </p:sp>
      <p:sp>
        <p:nvSpPr>
          <p:cNvPr id="34" name="TextBox 33"/>
          <p:cNvSpPr txBox="1"/>
          <p:nvPr/>
        </p:nvSpPr>
        <p:spPr>
          <a:xfrm>
            <a:off x="8778240" y="3776472"/>
            <a:ext cx="914400" cy="274320"/>
          </a:xfrm>
          <a:prstGeom prst="rect">
            <a:avLst/>
          </a:prstGeom>
          <a:noFill/>
        </p:spPr>
        <p:txBody>
          <a:bodyPr wrap="square">
            <a:spAutoFit/>
          </a:bodyPr>
          <a:lstStyle/>
          <a:p>
            <a:pPr algn="l">
              <a:lnSpc>
                <a:spcPts val="1680"/>
              </a:lnSpc>
              <a:spcAft>
                <a:spcPts val="0"/>
              </a:spcAft>
              <a:defRPr sz="1400" b="1">
                <a:solidFill>
                  <a:srgbClr val="34C759"/>
                </a:solidFill>
                <a:latin typeface="Calibri"/>
              </a:defRPr>
            </a:pPr>
            <a:r>
              <a:t>44/100</a:t>
            </a:r>
          </a:p>
        </p:txBody>
      </p:sp>
      <p:sp>
        <p:nvSpPr>
          <p:cNvPr id="35" name="TextBox 34"/>
          <p:cNvSpPr txBox="1"/>
          <p:nvPr/>
        </p:nvSpPr>
        <p:spPr>
          <a:xfrm>
            <a:off x="9784080" y="3776472"/>
            <a:ext cx="1645920" cy="274320"/>
          </a:xfrm>
          <a:prstGeom prst="rect">
            <a:avLst/>
          </a:prstGeom>
          <a:noFill/>
        </p:spPr>
        <p:txBody>
          <a:bodyPr wrap="square">
            <a:spAutoFit/>
          </a:bodyPr>
          <a:lstStyle/>
          <a:p>
            <a:pPr algn="l">
              <a:lnSpc>
                <a:spcPts val="1200"/>
              </a:lnSpc>
              <a:spcAft>
                <a:spcPts val="0"/>
              </a:spcAft>
              <a:defRPr sz="1000" b="0">
                <a:solidFill>
                  <a:srgbClr val="6E6E73"/>
                </a:solidFill>
                <a:latin typeface="Calibri"/>
              </a:defRPr>
            </a:pPr>
            <a:r>
              <a:t>Low current AI adoption</a:t>
            </a:r>
          </a:p>
        </p:txBody>
      </p:sp>
      <p:sp>
        <p:nvSpPr>
          <p:cNvPr id="36" name="Rounded Rectangle 35"/>
          <p:cNvSpPr/>
          <p:nvPr/>
        </p:nvSpPr>
        <p:spPr>
          <a:xfrm>
            <a:off x="914400" y="4754880"/>
            <a:ext cx="10058400" cy="1371600"/>
          </a:xfrm>
          <a:prstGeom prst="roundRect">
            <a:avLst/>
          </a:prstGeom>
          <a:solidFill>
            <a:srgbClr val="E8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80160" y="4937760"/>
            <a:ext cx="9326880" cy="365760"/>
          </a:xfrm>
          <a:prstGeom prst="rect">
            <a:avLst/>
          </a:prstGeom>
          <a:noFill/>
        </p:spPr>
        <p:txBody>
          <a:bodyPr wrap="square">
            <a:spAutoFit/>
          </a:bodyPr>
          <a:lstStyle/>
          <a:p>
            <a:pPr algn="l">
              <a:lnSpc>
                <a:spcPts val="2160"/>
              </a:lnSpc>
              <a:spcAft>
                <a:spcPts val="0"/>
              </a:spcAft>
              <a:defRPr sz="1800" b="1">
                <a:solidFill>
                  <a:srgbClr val="004488"/>
                </a:solidFill>
                <a:latin typeface="Calibri"/>
              </a:defRPr>
            </a:pPr>
            <a:r>
              <a:t>The Bitter Irony</a:t>
            </a:r>
          </a:p>
        </p:txBody>
      </p:sp>
      <p:sp>
        <p:nvSpPr>
          <p:cNvPr id="38" name="TextBox 37"/>
          <p:cNvSpPr txBox="1"/>
          <p:nvPr/>
        </p:nvSpPr>
        <p:spPr>
          <a:xfrm>
            <a:off x="1280160" y="5349240"/>
            <a:ext cx="9326880" cy="640080"/>
          </a:xfrm>
          <a:prstGeom prst="rect">
            <a:avLst/>
          </a:prstGeom>
          <a:noFill/>
        </p:spPr>
        <p:txBody>
          <a:bodyPr wrap="square">
            <a:spAutoFit/>
          </a:bodyPr>
          <a:lstStyle/>
          <a:p>
            <a:pPr algn="l">
              <a:lnSpc>
                <a:spcPts val="2250"/>
              </a:lnSpc>
              <a:spcAft>
                <a:spcPts val="0"/>
              </a:spcAft>
              <a:defRPr sz="1500" b="0">
                <a:solidFill>
                  <a:srgbClr val="004488"/>
                </a:solidFill>
                <a:latin typeface="Calibri"/>
              </a:defRPr>
            </a:pPr>
            <a:r>
              <a:t>The countries benefiting most from AI — the US, China, Singapore — are also paying the highest AI inflation tax. There's a bitter irony in being punished by your own success.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THE ELECTRICITY TIME BOMB</a:t>
            </a:r>
          </a:p>
        </p:txBody>
      </p:sp>
      <p:sp>
        <p:nvSpPr>
          <p:cNvPr id="3" name="TextBox 2"/>
          <p:cNvSpPr txBox="1"/>
          <p:nvPr/>
        </p:nvSpPr>
        <p:spPr>
          <a:xfrm>
            <a:off x="914400" y="1005840"/>
            <a:ext cx="9144000" cy="548640"/>
          </a:xfrm>
          <a:prstGeom prst="rect">
            <a:avLst/>
          </a:prstGeom>
          <a:noFill/>
        </p:spPr>
        <p:txBody>
          <a:bodyPr wrap="square">
            <a:spAutoFit/>
          </a:bodyPr>
          <a:lstStyle/>
          <a:p>
            <a:pPr algn="l">
              <a:lnSpc>
                <a:spcPts val="3360"/>
              </a:lnSpc>
              <a:spcAft>
                <a:spcPts val="0"/>
              </a:spcAft>
              <a:defRPr sz="2800" b="1">
                <a:solidFill>
                  <a:srgbClr val="1D1D1F"/>
                </a:solidFill>
                <a:latin typeface="Calibri"/>
              </a:defRPr>
            </a:pPr>
            <a:r>
              <a:t>AI's insatiable appetite for power</a:t>
            </a:r>
          </a:p>
        </p:txBody>
      </p:sp>
      <p:sp>
        <p:nvSpPr>
          <p:cNvPr id="4" name="Rounded Rectangle 3"/>
          <p:cNvSpPr/>
          <p:nvPr/>
        </p:nvSpPr>
        <p:spPr>
          <a:xfrm>
            <a:off x="914400" y="1737360"/>
            <a:ext cx="23774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737360"/>
            <a:ext cx="2377440" cy="1280160"/>
          </a:xfrm>
          <a:prstGeom prst="roundRect">
            <a:avLst/>
          </a:prstGeom>
          <a:solidFill>
            <a:srgbClr val="FFFFFF"/>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74520"/>
            <a:ext cx="2011680" cy="274320"/>
          </a:xfrm>
          <a:prstGeom prst="rect">
            <a:avLst/>
          </a:prstGeom>
          <a:noFill/>
        </p:spPr>
        <p:txBody>
          <a:bodyPr wrap="square">
            <a:spAutoFit/>
          </a:bodyPr>
          <a:lstStyle/>
          <a:p>
            <a:pPr algn="l">
              <a:lnSpc>
                <a:spcPts val="1320"/>
              </a:lnSpc>
              <a:spcAft>
                <a:spcPts val="0"/>
              </a:spcAft>
              <a:defRPr sz="1100" b="1">
                <a:solidFill>
                  <a:srgbClr val="6E6E73"/>
                </a:solidFill>
                <a:latin typeface="Calibri"/>
              </a:defRPr>
            </a:pPr>
            <a:r>
              <a:t>ChatGPT Query vs Google</a:t>
            </a:r>
          </a:p>
        </p:txBody>
      </p:sp>
      <p:sp>
        <p:nvSpPr>
          <p:cNvPr id="7" name="TextBox 6"/>
          <p:cNvSpPr txBox="1"/>
          <p:nvPr/>
        </p:nvSpPr>
        <p:spPr>
          <a:xfrm>
            <a:off x="1097280" y="2148840"/>
            <a:ext cx="2011680" cy="457200"/>
          </a:xfrm>
          <a:prstGeom prst="rect">
            <a:avLst/>
          </a:prstGeom>
          <a:noFill/>
        </p:spPr>
        <p:txBody>
          <a:bodyPr wrap="square">
            <a:spAutoFit/>
          </a:bodyPr>
          <a:lstStyle/>
          <a:p>
            <a:pPr algn="l">
              <a:lnSpc>
                <a:spcPts val="3360"/>
              </a:lnSpc>
              <a:spcAft>
                <a:spcPts val="0"/>
              </a:spcAft>
              <a:defRPr sz="2800" b="1">
                <a:solidFill>
                  <a:srgbClr val="0066CC"/>
                </a:solidFill>
                <a:latin typeface="Calibri"/>
              </a:defRPr>
            </a:pPr>
            <a:r>
              <a:t>~10x</a:t>
            </a:r>
          </a:p>
        </p:txBody>
      </p:sp>
      <p:sp>
        <p:nvSpPr>
          <p:cNvPr id="8" name="TextBox 7"/>
          <p:cNvSpPr txBox="1"/>
          <p:nvPr/>
        </p:nvSpPr>
        <p:spPr>
          <a:xfrm>
            <a:off x="1097280" y="2606040"/>
            <a:ext cx="2011680" cy="274320"/>
          </a:xfrm>
          <a:prstGeom prst="rect">
            <a:avLst/>
          </a:prstGeom>
          <a:noFill/>
        </p:spPr>
        <p:txBody>
          <a:bodyPr wrap="square">
            <a:spAutoFit/>
          </a:bodyPr>
          <a:lstStyle/>
          <a:p>
            <a:pPr algn="l">
              <a:lnSpc>
                <a:spcPts val="1200"/>
              </a:lnSpc>
              <a:spcAft>
                <a:spcPts val="0"/>
              </a:spcAft>
              <a:defRPr sz="1000" b="0">
                <a:solidFill>
                  <a:srgbClr val="AEAEB2"/>
                </a:solidFill>
                <a:latin typeface="Calibri"/>
              </a:defRPr>
            </a:pPr>
            <a:r>
              <a:t>Energy per query</a:t>
            </a:r>
          </a:p>
        </p:txBody>
      </p:sp>
      <p:sp>
        <p:nvSpPr>
          <p:cNvPr id="9" name="Rounded Rectangle 8"/>
          <p:cNvSpPr/>
          <p:nvPr/>
        </p:nvSpPr>
        <p:spPr>
          <a:xfrm>
            <a:off x="3456432" y="1737360"/>
            <a:ext cx="23774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56432" y="1737360"/>
            <a:ext cx="2377440" cy="1280160"/>
          </a:xfrm>
          <a:prstGeom prst="roundRect">
            <a:avLst/>
          </a:prstGeom>
          <a:solidFill>
            <a:srgbClr val="FFFFFF"/>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1874520"/>
            <a:ext cx="2011680" cy="274320"/>
          </a:xfrm>
          <a:prstGeom prst="rect">
            <a:avLst/>
          </a:prstGeom>
          <a:noFill/>
        </p:spPr>
        <p:txBody>
          <a:bodyPr wrap="square">
            <a:spAutoFit/>
          </a:bodyPr>
          <a:lstStyle/>
          <a:p>
            <a:pPr algn="l">
              <a:lnSpc>
                <a:spcPts val="1320"/>
              </a:lnSpc>
              <a:spcAft>
                <a:spcPts val="0"/>
              </a:spcAft>
              <a:defRPr sz="1100" b="1">
                <a:solidFill>
                  <a:srgbClr val="6E6E73"/>
                </a:solidFill>
                <a:latin typeface="Calibri"/>
              </a:defRPr>
            </a:pPr>
            <a:r>
              <a:t>DC Electricity 2026</a:t>
            </a:r>
          </a:p>
        </p:txBody>
      </p:sp>
      <p:sp>
        <p:nvSpPr>
          <p:cNvPr id="12" name="TextBox 11"/>
          <p:cNvSpPr txBox="1"/>
          <p:nvPr/>
        </p:nvSpPr>
        <p:spPr>
          <a:xfrm>
            <a:off x="3639312" y="2148840"/>
            <a:ext cx="2011680" cy="457200"/>
          </a:xfrm>
          <a:prstGeom prst="rect">
            <a:avLst/>
          </a:prstGeom>
          <a:noFill/>
        </p:spPr>
        <p:txBody>
          <a:bodyPr wrap="square">
            <a:spAutoFit/>
          </a:bodyPr>
          <a:lstStyle/>
          <a:p>
            <a:pPr algn="l">
              <a:lnSpc>
                <a:spcPts val="3360"/>
              </a:lnSpc>
              <a:spcAft>
                <a:spcPts val="0"/>
              </a:spcAft>
              <a:defRPr sz="2800" b="1">
                <a:solidFill>
                  <a:srgbClr val="0066CC"/>
                </a:solidFill>
                <a:latin typeface="Calibri"/>
              </a:defRPr>
            </a:pPr>
            <a:r>
              <a:t>580 TWh</a:t>
            </a:r>
          </a:p>
        </p:txBody>
      </p:sp>
      <p:sp>
        <p:nvSpPr>
          <p:cNvPr id="13" name="TextBox 12"/>
          <p:cNvSpPr txBox="1"/>
          <p:nvPr/>
        </p:nvSpPr>
        <p:spPr>
          <a:xfrm>
            <a:off x="3639312" y="2606040"/>
            <a:ext cx="2011680" cy="274320"/>
          </a:xfrm>
          <a:prstGeom prst="rect">
            <a:avLst/>
          </a:prstGeom>
          <a:noFill/>
        </p:spPr>
        <p:txBody>
          <a:bodyPr wrap="square">
            <a:spAutoFit/>
          </a:bodyPr>
          <a:lstStyle/>
          <a:p>
            <a:pPr algn="l">
              <a:lnSpc>
                <a:spcPts val="1200"/>
              </a:lnSpc>
              <a:spcAft>
                <a:spcPts val="0"/>
              </a:spcAft>
              <a:defRPr sz="1000" b="0">
                <a:solidFill>
                  <a:srgbClr val="AEAEB2"/>
                </a:solidFill>
                <a:latin typeface="Calibri"/>
              </a:defRPr>
            </a:pPr>
            <a:r>
              <a:t>+26% vs 2024</a:t>
            </a:r>
          </a:p>
        </p:txBody>
      </p:sp>
      <p:sp>
        <p:nvSpPr>
          <p:cNvPr id="14" name="Rounded Rectangle 13"/>
          <p:cNvSpPr/>
          <p:nvPr/>
        </p:nvSpPr>
        <p:spPr>
          <a:xfrm>
            <a:off x="5998464" y="1737360"/>
            <a:ext cx="23774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98464" y="1737360"/>
            <a:ext cx="2377440" cy="1280160"/>
          </a:xfrm>
          <a:prstGeom prst="roundRect">
            <a:avLst/>
          </a:prstGeom>
          <a:solidFill>
            <a:srgbClr val="FFFFFF"/>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1344" y="1874520"/>
            <a:ext cx="2011680" cy="274320"/>
          </a:xfrm>
          <a:prstGeom prst="rect">
            <a:avLst/>
          </a:prstGeom>
          <a:noFill/>
        </p:spPr>
        <p:txBody>
          <a:bodyPr wrap="square">
            <a:spAutoFit/>
          </a:bodyPr>
          <a:lstStyle/>
          <a:p>
            <a:pPr algn="l">
              <a:lnSpc>
                <a:spcPts val="1320"/>
              </a:lnSpc>
              <a:spcAft>
                <a:spcPts val="0"/>
              </a:spcAft>
              <a:defRPr sz="1100" b="1">
                <a:solidFill>
                  <a:srgbClr val="6E6E73"/>
                </a:solidFill>
                <a:latin typeface="Calibri"/>
              </a:defRPr>
            </a:pPr>
            <a:r>
              <a:t>AI Share of DC Power</a:t>
            </a:r>
          </a:p>
        </p:txBody>
      </p:sp>
      <p:sp>
        <p:nvSpPr>
          <p:cNvPr id="17" name="TextBox 16"/>
          <p:cNvSpPr txBox="1"/>
          <p:nvPr/>
        </p:nvSpPr>
        <p:spPr>
          <a:xfrm>
            <a:off x="6181344" y="2148840"/>
            <a:ext cx="2011680" cy="457200"/>
          </a:xfrm>
          <a:prstGeom prst="rect">
            <a:avLst/>
          </a:prstGeom>
          <a:noFill/>
        </p:spPr>
        <p:txBody>
          <a:bodyPr wrap="square">
            <a:spAutoFit/>
          </a:bodyPr>
          <a:lstStyle/>
          <a:p>
            <a:pPr algn="l">
              <a:lnSpc>
                <a:spcPts val="3360"/>
              </a:lnSpc>
              <a:spcAft>
                <a:spcPts val="0"/>
              </a:spcAft>
              <a:defRPr sz="2800" b="1">
                <a:solidFill>
                  <a:srgbClr val="0066CC"/>
                </a:solidFill>
                <a:latin typeface="Calibri"/>
              </a:defRPr>
            </a:pPr>
            <a:r>
              <a:t>52%</a:t>
            </a:r>
          </a:p>
        </p:txBody>
      </p:sp>
      <p:sp>
        <p:nvSpPr>
          <p:cNvPr id="18" name="TextBox 17"/>
          <p:cNvSpPr txBox="1"/>
          <p:nvPr/>
        </p:nvSpPr>
        <p:spPr>
          <a:xfrm>
            <a:off x="6181344" y="2606040"/>
            <a:ext cx="2011680" cy="274320"/>
          </a:xfrm>
          <a:prstGeom prst="rect">
            <a:avLst/>
          </a:prstGeom>
          <a:noFill/>
        </p:spPr>
        <p:txBody>
          <a:bodyPr wrap="square">
            <a:spAutoFit/>
          </a:bodyPr>
          <a:lstStyle/>
          <a:p>
            <a:pPr algn="l">
              <a:lnSpc>
                <a:spcPts val="1200"/>
              </a:lnSpc>
              <a:spcAft>
                <a:spcPts val="0"/>
              </a:spcAft>
              <a:defRPr sz="1000" b="0">
                <a:solidFill>
                  <a:srgbClr val="AEAEB2"/>
                </a:solidFill>
                <a:latin typeface="Calibri"/>
              </a:defRPr>
            </a:pPr>
            <a:r>
              <a:t>Up from 10% in 2020</a:t>
            </a:r>
          </a:p>
        </p:txBody>
      </p:sp>
      <p:sp>
        <p:nvSpPr>
          <p:cNvPr id="19" name="Rounded Rectangle 18"/>
          <p:cNvSpPr/>
          <p:nvPr/>
        </p:nvSpPr>
        <p:spPr>
          <a:xfrm>
            <a:off x="8540496" y="1737360"/>
            <a:ext cx="237744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40496" y="1737360"/>
            <a:ext cx="2377440" cy="1280160"/>
          </a:xfrm>
          <a:prstGeom prst="roundRect">
            <a:avLst/>
          </a:prstGeom>
          <a:solidFill>
            <a:srgbClr val="FFFFFF"/>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23376" y="1874520"/>
            <a:ext cx="2011680" cy="274320"/>
          </a:xfrm>
          <a:prstGeom prst="rect">
            <a:avLst/>
          </a:prstGeom>
          <a:noFill/>
        </p:spPr>
        <p:txBody>
          <a:bodyPr wrap="square">
            <a:spAutoFit/>
          </a:bodyPr>
          <a:lstStyle/>
          <a:p>
            <a:pPr algn="l">
              <a:lnSpc>
                <a:spcPts val="1320"/>
              </a:lnSpc>
              <a:spcAft>
                <a:spcPts val="0"/>
              </a:spcAft>
              <a:defRPr sz="1100" b="1">
                <a:solidFill>
                  <a:srgbClr val="6E6E73"/>
                </a:solidFill>
                <a:latin typeface="Calibri"/>
              </a:defRPr>
            </a:pPr>
            <a:r>
              <a:t>IEA 2030 Projection</a:t>
            </a:r>
          </a:p>
        </p:txBody>
      </p:sp>
      <p:sp>
        <p:nvSpPr>
          <p:cNvPr id="22" name="TextBox 21"/>
          <p:cNvSpPr txBox="1"/>
          <p:nvPr/>
        </p:nvSpPr>
        <p:spPr>
          <a:xfrm>
            <a:off x="8723376" y="2148840"/>
            <a:ext cx="2011680" cy="457200"/>
          </a:xfrm>
          <a:prstGeom prst="rect">
            <a:avLst/>
          </a:prstGeom>
          <a:noFill/>
        </p:spPr>
        <p:txBody>
          <a:bodyPr wrap="square">
            <a:spAutoFit/>
          </a:bodyPr>
          <a:lstStyle/>
          <a:p>
            <a:pPr algn="l">
              <a:lnSpc>
                <a:spcPts val="3360"/>
              </a:lnSpc>
              <a:spcAft>
                <a:spcPts val="0"/>
              </a:spcAft>
              <a:defRPr sz="2800" b="1">
                <a:solidFill>
                  <a:srgbClr val="0066CC"/>
                </a:solidFill>
                <a:latin typeface="Calibri"/>
              </a:defRPr>
            </a:pPr>
            <a:r>
              <a:t>1,000 TWh</a:t>
            </a:r>
          </a:p>
        </p:txBody>
      </p:sp>
      <p:sp>
        <p:nvSpPr>
          <p:cNvPr id="23" name="TextBox 22"/>
          <p:cNvSpPr txBox="1"/>
          <p:nvPr/>
        </p:nvSpPr>
        <p:spPr>
          <a:xfrm>
            <a:off x="8723376" y="2606040"/>
            <a:ext cx="2011680" cy="274320"/>
          </a:xfrm>
          <a:prstGeom prst="rect">
            <a:avLst/>
          </a:prstGeom>
          <a:noFill/>
        </p:spPr>
        <p:txBody>
          <a:bodyPr wrap="square">
            <a:spAutoFit/>
          </a:bodyPr>
          <a:lstStyle/>
          <a:p>
            <a:pPr algn="l">
              <a:lnSpc>
                <a:spcPts val="1200"/>
              </a:lnSpc>
              <a:spcAft>
                <a:spcPts val="0"/>
              </a:spcAft>
              <a:defRPr sz="1000" b="0">
                <a:solidFill>
                  <a:srgbClr val="AEAEB2"/>
                </a:solidFill>
                <a:latin typeface="Calibri"/>
              </a:defRPr>
            </a:pPr>
            <a:r>
              <a:t>Doubling from today</a:t>
            </a:r>
          </a:p>
        </p:txBody>
      </p:sp>
      <p:sp>
        <p:nvSpPr>
          <p:cNvPr id="24" name="TextBox 23"/>
          <p:cNvSpPr txBox="1"/>
          <p:nvPr/>
        </p:nvSpPr>
        <p:spPr>
          <a:xfrm>
            <a:off x="914400" y="3383280"/>
            <a:ext cx="10058400" cy="502920"/>
          </a:xfrm>
          <a:prstGeom prst="rect">
            <a:avLst/>
          </a:prstGeom>
          <a:noFill/>
        </p:spPr>
        <p:txBody>
          <a:bodyPr wrap="square">
            <a:spAutoFit/>
          </a:bodyPr>
          <a:lstStyle/>
          <a:p>
            <a:pPr algn="l">
              <a:spcBef>
                <a:spcPts val="0"/>
              </a:spcBef>
              <a:spcAft>
                <a:spcPts val="200"/>
              </a:spcAft>
              <a:defRPr sz="1400" b="0">
                <a:solidFill>
                  <a:srgbClr val="1D1D1F"/>
                </a:solidFill>
                <a:latin typeface="Calibri"/>
              </a:defRPr>
            </a:pPr>
            <a:r>
              <a:t>⚡  Ireland: Data centers consume 21% of national electricity grid — highest globally</a:t>
            </a:r>
          </a:p>
        </p:txBody>
      </p:sp>
      <p:sp>
        <p:nvSpPr>
          <p:cNvPr id="25" name="TextBox 24"/>
          <p:cNvSpPr txBox="1"/>
          <p:nvPr/>
        </p:nvSpPr>
        <p:spPr>
          <a:xfrm>
            <a:off x="914400" y="3886200"/>
            <a:ext cx="10058400" cy="502920"/>
          </a:xfrm>
          <a:prstGeom prst="rect">
            <a:avLst/>
          </a:prstGeom>
          <a:noFill/>
        </p:spPr>
        <p:txBody>
          <a:bodyPr wrap="square">
            <a:spAutoFit/>
          </a:bodyPr>
          <a:lstStyle/>
          <a:p>
            <a:pPr algn="l">
              <a:spcBef>
                <a:spcPts val="0"/>
              </a:spcBef>
              <a:spcAft>
                <a:spcPts val="200"/>
              </a:spcAft>
              <a:defRPr sz="1400" b="0">
                <a:solidFill>
                  <a:srgbClr val="1D1D1F"/>
                </a:solidFill>
                <a:latin typeface="Calibri"/>
              </a:defRPr>
            </a:pPr>
            <a:r>
              <a:t>⚡  PJM Interconnection revised US 2030 demand forecast up 40% due to AI</a:t>
            </a:r>
          </a:p>
        </p:txBody>
      </p:sp>
      <p:sp>
        <p:nvSpPr>
          <p:cNvPr id="26" name="TextBox 25"/>
          <p:cNvSpPr txBox="1"/>
          <p:nvPr/>
        </p:nvSpPr>
        <p:spPr>
          <a:xfrm>
            <a:off x="914400" y="4389120"/>
            <a:ext cx="10058400" cy="502920"/>
          </a:xfrm>
          <a:prstGeom prst="rect">
            <a:avLst/>
          </a:prstGeom>
          <a:noFill/>
        </p:spPr>
        <p:txBody>
          <a:bodyPr wrap="square">
            <a:spAutoFit/>
          </a:bodyPr>
          <a:lstStyle/>
          <a:p>
            <a:pPr algn="l">
              <a:spcBef>
                <a:spcPts val="0"/>
              </a:spcBef>
              <a:spcAft>
                <a:spcPts val="200"/>
              </a:spcAft>
              <a:defRPr sz="1400" b="0">
                <a:solidFill>
                  <a:srgbClr val="1D1D1F"/>
                </a:solidFill>
                <a:latin typeface="Calibri"/>
              </a:defRPr>
            </a:pPr>
            <a:r>
              <a:t>⚡  Data center corridors seeing residential electricity rates 8–12% above national average</a:t>
            </a:r>
          </a:p>
        </p:txBody>
      </p:sp>
      <p:sp>
        <p:nvSpPr>
          <p:cNvPr id="27" name="TextBox 26"/>
          <p:cNvSpPr txBox="1"/>
          <p:nvPr/>
        </p:nvSpPr>
        <p:spPr>
          <a:xfrm>
            <a:off x="914400" y="4892040"/>
            <a:ext cx="10058400" cy="502920"/>
          </a:xfrm>
          <a:prstGeom prst="rect">
            <a:avLst/>
          </a:prstGeom>
          <a:noFill/>
        </p:spPr>
        <p:txBody>
          <a:bodyPr wrap="square">
            <a:spAutoFit/>
          </a:bodyPr>
          <a:lstStyle/>
          <a:p>
            <a:pPr algn="l">
              <a:spcBef>
                <a:spcPts val="0"/>
              </a:spcBef>
              <a:spcAft>
                <a:spcPts val="200"/>
              </a:spcAft>
              <a:defRPr sz="1400" b="0">
                <a:solidFill>
                  <a:srgbClr val="1D1D1F"/>
                </a:solidFill>
                <a:latin typeface="Calibri"/>
              </a:defRPr>
            </a:pPr>
            <a:r>
              <a:t>⚡  A single frontier AI model consumes as much electricity as 1,000 US households in a year</a:t>
            </a:r>
          </a:p>
        </p:txBody>
      </p:sp>
      <p:sp>
        <p:nvSpPr>
          <p:cNvPr id="28" name="TextBox 27"/>
          <p:cNvSpPr txBox="1"/>
          <p:nvPr/>
        </p:nvSpPr>
        <p:spPr>
          <a:xfrm>
            <a:off x="914400" y="5394960"/>
            <a:ext cx="10058400" cy="502920"/>
          </a:xfrm>
          <a:prstGeom prst="rect">
            <a:avLst/>
          </a:prstGeom>
          <a:noFill/>
        </p:spPr>
        <p:txBody>
          <a:bodyPr wrap="square">
            <a:spAutoFit/>
          </a:bodyPr>
          <a:lstStyle/>
          <a:p>
            <a:pPr algn="l">
              <a:spcBef>
                <a:spcPts val="0"/>
              </a:spcBef>
              <a:spcAft>
                <a:spcPts val="200"/>
              </a:spcAft>
              <a:defRPr sz="1400" b="0">
                <a:solidFill>
                  <a:srgbClr val="1D1D1F"/>
                </a:solidFill>
                <a:latin typeface="Calibri"/>
              </a:defRPr>
            </a:pPr>
            <a:r>
              <a:t>⚡  Utilities delaying coal plant retirements to meet AI data center demand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YOUR PERSONAL AI TAX</a:t>
            </a:r>
          </a:p>
        </p:txBody>
      </p:sp>
      <p:sp>
        <p:nvSpPr>
          <p:cNvPr id="3" name="TextBox 2"/>
          <p:cNvSpPr txBox="1"/>
          <p:nvPr/>
        </p:nvSpPr>
        <p:spPr>
          <a:xfrm>
            <a:off x="914400" y="1005840"/>
            <a:ext cx="9144000" cy="548640"/>
          </a:xfrm>
          <a:prstGeom prst="rect">
            <a:avLst/>
          </a:prstGeom>
          <a:noFill/>
        </p:spPr>
        <p:txBody>
          <a:bodyPr wrap="square">
            <a:spAutoFit/>
          </a:bodyPr>
          <a:lstStyle/>
          <a:p>
            <a:pPr algn="l">
              <a:lnSpc>
                <a:spcPts val="3360"/>
              </a:lnSpc>
              <a:spcAft>
                <a:spcPts val="0"/>
              </a:spcAft>
              <a:defRPr sz="2800" b="1">
                <a:solidFill>
                  <a:srgbClr val="1D1D1F"/>
                </a:solidFill>
                <a:latin typeface="Calibri"/>
              </a:defRPr>
            </a:pPr>
            <a:r>
              <a:t>What AI inflation costs the average tech worker</a:t>
            </a:r>
          </a:p>
        </p:txBody>
      </p:sp>
      <p:sp>
        <p:nvSpPr>
          <p:cNvPr id="4" name="Rounded Rectangle 3"/>
          <p:cNvSpPr/>
          <p:nvPr/>
        </p:nvSpPr>
        <p:spPr>
          <a:xfrm>
            <a:off x="914400" y="1828800"/>
            <a:ext cx="4114800" cy="228600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011680"/>
            <a:ext cx="3657600" cy="274320"/>
          </a:xfrm>
          <a:prstGeom prst="rect">
            <a:avLst/>
          </a:prstGeom>
          <a:noFill/>
        </p:spPr>
        <p:txBody>
          <a:bodyPr wrap="square">
            <a:spAutoFit/>
          </a:bodyPr>
          <a:lstStyle/>
          <a:p>
            <a:pPr algn="l">
              <a:lnSpc>
                <a:spcPts val="1320"/>
              </a:lnSpc>
              <a:spcAft>
                <a:spcPts val="0"/>
              </a:spcAft>
              <a:defRPr sz="1100" b="1">
                <a:solidFill>
                  <a:srgbClr val="FFFFFF"/>
                </a:solidFill>
                <a:latin typeface="Calibri"/>
              </a:defRPr>
            </a:pPr>
            <a:r>
              <a:t>ANNUAL AI INFLATION EXPOSURE</a:t>
            </a:r>
          </a:p>
        </p:txBody>
      </p:sp>
      <p:sp>
        <p:nvSpPr>
          <p:cNvPr id="6" name="TextBox 5"/>
          <p:cNvSpPr txBox="1"/>
          <p:nvPr/>
        </p:nvSpPr>
        <p:spPr>
          <a:xfrm>
            <a:off x="1188720" y="2468880"/>
            <a:ext cx="3657600" cy="914400"/>
          </a:xfrm>
          <a:prstGeom prst="rect">
            <a:avLst/>
          </a:prstGeom>
          <a:noFill/>
        </p:spPr>
        <p:txBody>
          <a:bodyPr wrap="square">
            <a:spAutoFit/>
          </a:bodyPr>
          <a:lstStyle/>
          <a:p>
            <a:pPr algn="l">
              <a:lnSpc>
                <a:spcPts val="8640"/>
              </a:lnSpc>
              <a:spcAft>
                <a:spcPts val="0"/>
              </a:spcAft>
              <a:defRPr sz="7200" b="1">
                <a:solidFill>
                  <a:srgbClr val="FFFFFF"/>
                </a:solidFill>
                <a:latin typeface="Calibri"/>
              </a:defRPr>
            </a:pPr>
            <a:r>
              <a:t>$648</a:t>
            </a:r>
          </a:p>
        </p:txBody>
      </p:sp>
      <p:sp>
        <p:nvSpPr>
          <p:cNvPr id="7" name="TextBox 6"/>
          <p:cNvSpPr txBox="1"/>
          <p:nvPr/>
        </p:nvSpPr>
        <p:spPr>
          <a:xfrm>
            <a:off x="1188720" y="3474720"/>
            <a:ext cx="3657600" cy="365760"/>
          </a:xfrm>
          <a:prstGeom prst="rect">
            <a:avLst/>
          </a:prstGeom>
          <a:noFill/>
        </p:spPr>
        <p:txBody>
          <a:bodyPr wrap="square">
            <a:spAutoFit/>
          </a:bodyPr>
          <a:lstStyle/>
          <a:p>
            <a:pPr algn="l">
              <a:lnSpc>
                <a:spcPts val="1560"/>
              </a:lnSpc>
              <a:spcAft>
                <a:spcPts val="0"/>
              </a:spcAft>
              <a:defRPr sz="1300" b="0">
                <a:solidFill>
                  <a:srgbClr val="FFFFFF"/>
                </a:solidFill>
                <a:latin typeface="Calibri"/>
              </a:defRPr>
            </a:pPr>
            <a:r>
              <a:t>$54 per month  |  US tech worker, family of 4</a:t>
            </a:r>
          </a:p>
        </p:txBody>
      </p:sp>
      <p:sp>
        <p:nvSpPr>
          <p:cNvPr id="8" name="TextBox 7"/>
          <p:cNvSpPr txBox="1"/>
          <p:nvPr/>
        </p:nvSpPr>
        <p:spPr>
          <a:xfrm>
            <a:off x="5669280" y="1828800"/>
            <a:ext cx="4572000" cy="365760"/>
          </a:xfrm>
          <a:prstGeom prst="rect">
            <a:avLst/>
          </a:prstGeom>
          <a:noFill/>
        </p:spPr>
        <p:txBody>
          <a:bodyPr wrap="square">
            <a:spAutoFit/>
          </a:bodyPr>
          <a:lstStyle/>
          <a:p>
            <a:pPr algn="l">
              <a:lnSpc>
                <a:spcPts val="1560"/>
              </a:lnSpc>
              <a:spcAft>
                <a:spcPts val="0"/>
              </a:spcAft>
              <a:defRPr sz="1300" b="1">
                <a:solidFill>
                  <a:srgbClr val="6E6E73"/>
                </a:solidFill>
                <a:latin typeface="Calibri"/>
              </a:defRPr>
            </a:pPr>
            <a:r>
              <a:t>TYPICAL BREAKDOWN</a:t>
            </a:r>
          </a:p>
        </p:txBody>
      </p:sp>
      <p:sp>
        <p:nvSpPr>
          <p:cNvPr id="9" name="TextBox 8"/>
          <p:cNvSpPr txBox="1"/>
          <p:nvPr/>
        </p:nvSpPr>
        <p:spPr>
          <a:xfrm>
            <a:off x="5669280" y="2286000"/>
            <a:ext cx="3200400" cy="320040"/>
          </a:xfrm>
          <a:prstGeom prst="rect">
            <a:avLst/>
          </a:prstGeom>
          <a:noFill/>
        </p:spPr>
        <p:txBody>
          <a:bodyPr wrap="square">
            <a:spAutoFit/>
          </a:bodyPr>
          <a:lstStyle/>
          <a:p>
            <a:pPr algn="l">
              <a:lnSpc>
                <a:spcPts val="1680"/>
              </a:lnSpc>
              <a:spcAft>
                <a:spcPts val="0"/>
              </a:spcAft>
              <a:defRPr sz="1400" b="0">
                <a:solidFill>
                  <a:srgbClr val="1D1D1F"/>
                </a:solidFill>
                <a:latin typeface="Calibri"/>
              </a:defRPr>
            </a:pPr>
            <a:r>
              <a:t>Software &amp; SaaS</a:t>
            </a:r>
          </a:p>
        </p:txBody>
      </p:sp>
      <p:sp>
        <p:nvSpPr>
          <p:cNvPr id="10" name="TextBox 9"/>
          <p:cNvSpPr txBox="1"/>
          <p:nvPr/>
        </p:nvSpPr>
        <p:spPr>
          <a:xfrm>
            <a:off x="9144000" y="2286000"/>
            <a:ext cx="1371600" cy="320040"/>
          </a:xfrm>
          <a:prstGeom prst="rect">
            <a:avLst/>
          </a:prstGeom>
          <a:noFill/>
        </p:spPr>
        <p:txBody>
          <a:bodyPr wrap="square">
            <a:spAutoFit/>
          </a:bodyPr>
          <a:lstStyle/>
          <a:p>
            <a:pPr algn="r">
              <a:lnSpc>
                <a:spcPts val="1680"/>
              </a:lnSpc>
              <a:spcAft>
                <a:spcPts val="0"/>
              </a:spcAft>
              <a:defRPr sz="1400" b="1">
                <a:solidFill>
                  <a:srgbClr val="D32F2F"/>
                </a:solidFill>
                <a:latin typeface="Calibri"/>
              </a:defRPr>
            </a:pPr>
            <a:r>
              <a:t>$210</a:t>
            </a:r>
          </a:p>
        </p:txBody>
      </p:sp>
      <p:sp>
        <p:nvSpPr>
          <p:cNvPr id="11" name="Rectangle 10"/>
          <p:cNvSpPr/>
          <p:nvPr/>
        </p:nvSpPr>
        <p:spPr>
          <a:xfrm>
            <a:off x="5669280" y="2606040"/>
            <a:ext cx="4846320" cy="1270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0" y="2670048"/>
            <a:ext cx="3200400" cy="320040"/>
          </a:xfrm>
          <a:prstGeom prst="rect">
            <a:avLst/>
          </a:prstGeom>
          <a:noFill/>
        </p:spPr>
        <p:txBody>
          <a:bodyPr wrap="square">
            <a:spAutoFit/>
          </a:bodyPr>
          <a:lstStyle/>
          <a:p>
            <a:pPr algn="l">
              <a:lnSpc>
                <a:spcPts val="1680"/>
              </a:lnSpc>
              <a:spcAft>
                <a:spcPts val="0"/>
              </a:spcAft>
              <a:defRPr sz="1400" b="0">
                <a:solidFill>
                  <a:srgbClr val="1D1D1F"/>
                </a:solidFill>
                <a:latin typeface="Calibri"/>
              </a:defRPr>
            </a:pPr>
            <a:r>
              <a:t>Laptop (AI premium)</a:t>
            </a:r>
          </a:p>
        </p:txBody>
      </p:sp>
      <p:sp>
        <p:nvSpPr>
          <p:cNvPr id="13" name="TextBox 12"/>
          <p:cNvSpPr txBox="1"/>
          <p:nvPr/>
        </p:nvSpPr>
        <p:spPr>
          <a:xfrm>
            <a:off x="9144000" y="2670048"/>
            <a:ext cx="1371600" cy="320040"/>
          </a:xfrm>
          <a:prstGeom prst="rect">
            <a:avLst/>
          </a:prstGeom>
          <a:noFill/>
        </p:spPr>
        <p:txBody>
          <a:bodyPr wrap="square">
            <a:spAutoFit/>
          </a:bodyPr>
          <a:lstStyle/>
          <a:p>
            <a:pPr algn="r">
              <a:lnSpc>
                <a:spcPts val="1680"/>
              </a:lnSpc>
              <a:spcAft>
                <a:spcPts val="0"/>
              </a:spcAft>
              <a:defRPr sz="1400" b="1">
                <a:solidFill>
                  <a:srgbClr val="D32F2F"/>
                </a:solidFill>
                <a:latin typeface="Calibri"/>
              </a:defRPr>
            </a:pPr>
            <a:r>
              <a:t>$62</a:t>
            </a:r>
          </a:p>
        </p:txBody>
      </p:sp>
      <p:sp>
        <p:nvSpPr>
          <p:cNvPr id="14" name="Rectangle 13"/>
          <p:cNvSpPr/>
          <p:nvPr/>
        </p:nvSpPr>
        <p:spPr>
          <a:xfrm>
            <a:off x="5669280" y="2990088"/>
            <a:ext cx="4846320" cy="1270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3054096"/>
            <a:ext cx="3200400" cy="320040"/>
          </a:xfrm>
          <a:prstGeom prst="rect">
            <a:avLst/>
          </a:prstGeom>
          <a:noFill/>
        </p:spPr>
        <p:txBody>
          <a:bodyPr wrap="square">
            <a:spAutoFit/>
          </a:bodyPr>
          <a:lstStyle/>
          <a:p>
            <a:pPr algn="l">
              <a:lnSpc>
                <a:spcPts val="1680"/>
              </a:lnSpc>
              <a:spcAft>
                <a:spcPts val="0"/>
              </a:spcAft>
              <a:defRPr sz="1400" b="0">
                <a:solidFill>
                  <a:srgbClr val="1D1D1F"/>
                </a:solidFill>
                <a:latin typeface="Calibri"/>
              </a:defRPr>
            </a:pPr>
            <a:r>
              <a:t>Electricity (AI demand)</a:t>
            </a:r>
          </a:p>
        </p:txBody>
      </p:sp>
      <p:sp>
        <p:nvSpPr>
          <p:cNvPr id="16" name="TextBox 15"/>
          <p:cNvSpPr txBox="1"/>
          <p:nvPr/>
        </p:nvSpPr>
        <p:spPr>
          <a:xfrm>
            <a:off x="9144000" y="3054096"/>
            <a:ext cx="1371600" cy="320040"/>
          </a:xfrm>
          <a:prstGeom prst="rect">
            <a:avLst/>
          </a:prstGeom>
          <a:noFill/>
        </p:spPr>
        <p:txBody>
          <a:bodyPr wrap="square">
            <a:spAutoFit/>
          </a:bodyPr>
          <a:lstStyle/>
          <a:p>
            <a:pPr algn="r">
              <a:lnSpc>
                <a:spcPts val="1680"/>
              </a:lnSpc>
              <a:spcAft>
                <a:spcPts val="0"/>
              </a:spcAft>
              <a:defRPr sz="1400" b="1">
                <a:solidFill>
                  <a:srgbClr val="D32F2F"/>
                </a:solidFill>
                <a:latin typeface="Calibri"/>
              </a:defRPr>
            </a:pPr>
            <a:r>
              <a:t>$58</a:t>
            </a:r>
          </a:p>
        </p:txBody>
      </p:sp>
      <p:sp>
        <p:nvSpPr>
          <p:cNvPr id="17" name="Rectangle 16"/>
          <p:cNvSpPr/>
          <p:nvPr/>
        </p:nvSpPr>
        <p:spPr>
          <a:xfrm>
            <a:off x="5669280" y="3374136"/>
            <a:ext cx="4846320" cy="1270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0" y="3438144"/>
            <a:ext cx="3200400" cy="320040"/>
          </a:xfrm>
          <a:prstGeom prst="rect">
            <a:avLst/>
          </a:prstGeom>
          <a:noFill/>
        </p:spPr>
        <p:txBody>
          <a:bodyPr wrap="square">
            <a:spAutoFit/>
          </a:bodyPr>
          <a:lstStyle/>
          <a:p>
            <a:pPr algn="l">
              <a:lnSpc>
                <a:spcPts val="1680"/>
              </a:lnSpc>
              <a:spcAft>
                <a:spcPts val="0"/>
              </a:spcAft>
              <a:defRPr sz="1400" b="0">
                <a:solidFill>
                  <a:srgbClr val="1D1D1F"/>
                </a:solidFill>
                <a:latin typeface="Calibri"/>
              </a:defRPr>
            </a:pPr>
            <a:r>
              <a:t>Insurance &amp; Healthcare</a:t>
            </a:r>
          </a:p>
        </p:txBody>
      </p:sp>
      <p:sp>
        <p:nvSpPr>
          <p:cNvPr id="19" name="TextBox 18"/>
          <p:cNvSpPr txBox="1"/>
          <p:nvPr/>
        </p:nvSpPr>
        <p:spPr>
          <a:xfrm>
            <a:off x="9144000" y="3438144"/>
            <a:ext cx="1371600" cy="320040"/>
          </a:xfrm>
          <a:prstGeom prst="rect">
            <a:avLst/>
          </a:prstGeom>
          <a:noFill/>
        </p:spPr>
        <p:txBody>
          <a:bodyPr wrap="square">
            <a:spAutoFit/>
          </a:bodyPr>
          <a:lstStyle/>
          <a:p>
            <a:pPr algn="r">
              <a:lnSpc>
                <a:spcPts val="1680"/>
              </a:lnSpc>
              <a:spcAft>
                <a:spcPts val="0"/>
              </a:spcAft>
              <a:defRPr sz="1400" b="1">
                <a:solidFill>
                  <a:srgbClr val="D32F2F"/>
                </a:solidFill>
                <a:latin typeface="Calibri"/>
              </a:defRPr>
            </a:pPr>
            <a:r>
              <a:t>$75</a:t>
            </a:r>
          </a:p>
        </p:txBody>
      </p:sp>
      <p:sp>
        <p:nvSpPr>
          <p:cNvPr id="20" name="Rectangle 19"/>
          <p:cNvSpPr/>
          <p:nvPr/>
        </p:nvSpPr>
        <p:spPr>
          <a:xfrm>
            <a:off x="5669280" y="3758184"/>
            <a:ext cx="4846320" cy="1270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0" y="3822192"/>
            <a:ext cx="3200400" cy="320040"/>
          </a:xfrm>
          <a:prstGeom prst="rect">
            <a:avLst/>
          </a:prstGeom>
          <a:noFill/>
        </p:spPr>
        <p:txBody>
          <a:bodyPr wrap="square">
            <a:spAutoFit/>
          </a:bodyPr>
          <a:lstStyle/>
          <a:p>
            <a:pPr algn="l">
              <a:lnSpc>
                <a:spcPts val="1680"/>
              </a:lnSpc>
              <a:spcAft>
                <a:spcPts val="0"/>
              </a:spcAft>
              <a:defRPr sz="1400" b="0">
                <a:solidFill>
                  <a:srgbClr val="1D1D1F"/>
                </a:solidFill>
                <a:latin typeface="Calibri"/>
              </a:defRPr>
            </a:pPr>
            <a:r>
              <a:t>Internet &amp; Connectivity</a:t>
            </a:r>
          </a:p>
        </p:txBody>
      </p:sp>
      <p:sp>
        <p:nvSpPr>
          <p:cNvPr id="22" name="TextBox 21"/>
          <p:cNvSpPr txBox="1"/>
          <p:nvPr/>
        </p:nvSpPr>
        <p:spPr>
          <a:xfrm>
            <a:off x="9144000" y="3822192"/>
            <a:ext cx="1371600" cy="320040"/>
          </a:xfrm>
          <a:prstGeom prst="rect">
            <a:avLst/>
          </a:prstGeom>
          <a:noFill/>
        </p:spPr>
        <p:txBody>
          <a:bodyPr wrap="square">
            <a:spAutoFit/>
          </a:bodyPr>
          <a:lstStyle/>
          <a:p>
            <a:pPr algn="r">
              <a:lnSpc>
                <a:spcPts val="1680"/>
              </a:lnSpc>
              <a:spcAft>
                <a:spcPts val="0"/>
              </a:spcAft>
              <a:defRPr sz="1400" b="1">
                <a:solidFill>
                  <a:srgbClr val="D32F2F"/>
                </a:solidFill>
                <a:latin typeface="Calibri"/>
              </a:defRPr>
            </a:pPr>
            <a:r>
              <a:t>$28</a:t>
            </a:r>
          </a:p>
        </p:txBody>
      </p:sp>
      <p:sp>
        <p:nvSpPr>
          <p:cNvPr id="23" name="Rectangle 22"/>
          <p:cNvSpPr/>
          <p:nvPr/>
        </p:nvSpPr>
        <p:spPr>
          <a:xfrm>
            <a:off x="5669280" y="4142232"/>
            <a:ext cx="4846320" cy="1270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0" y="4206240"/>
            <a:ext cx="3200400" cy="320040"/>
          </a:xfrm>
          <a:prstGeom prst="rect">
            <a:avLst/>
          </a:prstGeom>
          <a:noFill/>
        </p:spPr>
        <p:txBody>
          <a:bodyPr wrap="square">
            <a:spAutoFit/>
          </a:bodyPr>
          <a:lstStyle/>
          <a:p>
            <a:pPr algn="l">
              <a:lnSpc>
                <a:spcPts val="1680"/>
              </a:lnSpc>
              <a:spcAft>
                <a:spcPts val="0"/>
              </a:spcAft>
              <a:defRPr sz="1400" b="0">
                <a:solidFill>
                  <a:srgbClr val="1D1D1F"/>
                </a:solidFill>
                <a:latin typeface="Calibri"/>
              </a:defRPr>
            </a:pPr>
            <a:r>
              <a:t>Cloud Services</a:t>
            </a:r>
          </a:p>
        </p:txBody>
      </p:sp>
      <p:sp>
        <p:nvSpPr>
          <p:cNvPr id="25" name="TextBox 24"/>
          <p:cNvSpPr txBox="1"/>
          <p:nvPr/>
        </p:nvSpPr>
        <p:spPr>
          <a:xfrm>
            <a:off x="9144000" y="4206240"/>
            <a:ext cx="1371600" cy="320040"/>
          </a:xfrm>
          <a:prstGeom prst="rect">
            <a:avLst/>
          </a:prstGeom>
          <a:noFill/>
        </p:spPr>
        <p:txBody>
          <a:bodyPr wrap="square">
            <a:spAutoFit/>
          </a:bodyPr>
          <a:lstStyle/>
          <a:p>
            <a:pPr algn="r">
              <a:lnSpc>
                <a:spcPts val="1680"/>
              </a:lnSpc>
              <a:spcAft>
                <a:spcPts val="0"/>
              </a:spcAft>
              <a:defRPr sz="1400" b="1">
                <a:solidFill>
                  <a:srgbClr val="D32F2F"/>
                </a:solidFill>
                <a:latin typeface="Calibri"/>
              </a:defRPr>
            </a:pPr>
            <a:r>
              <a:t>$24</a:t>
            </a:r>
          </a:p>
        </p:txBody>
      </p:sp>
      <p:sp>
        <p:nvSpPr>
          <p:cNvPr id="26" name="Rectangle 25"/>
          <p:cNvSpPr/>
          <p:nvPr/>
        </p:nvSpPr>
        <p:spPr>
          <a:xfrm>
            <a:off x="5669280" y="4526280"/>
            <a:ext cx="4846320" cy="1270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4590288"/>
            <a:ext cx="3200400" cy="320040"/>
          </a:xfrm>
          <a:prstGeom prst="rect">
            <a:avLst/>
          </a:prstGeom>
          <a:noFill/>
        </p:spPr>
        <p:txBody>
          <a:bodyPr wrap="square">
            <a:spAutoFit/>
          </a:bodyPr>
          <a:lstStyle/>
          <a:p>
            <a:pPr algn="l">
              <a:lnSpc>
                <a:spcPts val="1680"/>
              </a:lnSpc>
              <a:spcAft>
                <a:spcPts val="0"/>
              </a:spcAft>
              <a:defRPr sz="1400" b="0">
                <a:solidFill>
                  <a:srgbClr val="1D1D1F"/>
                </a:solidFill>
                <a:latin typeface="Calibri"/>
              </a:defRPr>
            </a:pPr>
            <a:r>
              <a:t>AI Subscriptions (risk)</a:t>
            </a:r>
          </a:p>
        </p:txBody>
      </p:sp>
      <p:sp>
        <p:nvSpPr>
          <p:cNvPr id="28" name="TextBox 27"/>
          <p:cNvSpPr txBox="1"/>
          <p:nvPr/>
        </p:nvSpPr>
        <p:spPr>
          <a:xfrm>
            <a:off x="9144000" y="4590288"/>
            <a:ext cx="1371600" cy="320040"/>
          </a:xfrm>
          <a:prstGeom prst="rect">
            <a:avLst/>
          </a:prstGeom>
          <a:noFill/>
        </p:spPr>
        <p:txBody>
          <a:bodyPr wrap="square">
            <a:spAutoFit/>
          </a:bodyPr>
          <a:lstStyle/>
          <a:p>
            <a:pPr algn="r">
              <a:lnSpc>
                <a:spcPts val="1680"/>
              </a:lnSpc>
              <a:spcAft>
                <a:spcPts val="0"/>
              </a:spcAft>
              <a:defRPr sz="1400" b="1">
                <a:solidFill>
                  <a:srgbClr val="D32F2F"/>
                </a:solidFill>
                <a:latin typeface="Calibri"/>
              </a:defRPr>
            </a:pPr>
            <a:r>
              <a:t>$42</a:t>
            </a:r>
          </a:p>
        </p:txBody>
      </p:sp>
      <p:sp>
        <p:nvSpPr>
          <p:cNvPr id="29" name="Rectangle 28"/>
          <p:cNvSpPr/>
          <p:nvPr/>
        </p:nvSpPr>
        <p:spPr>
          <a:xfrm>
            <a:off x="5669280" y="4910328"/>
            <a:ext cx="4846320" cy="1270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14400" y="4754880"/>
            <a:ext cx="10058400" cy="1097280"/>
          </a:xfrm>
          <a:prstGeom prst="roundRect">
            <a:avLst/>
          </a:prstGeom>
          <a:solidFill>
            <a:srgbClr val="E8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80160" y="4892040"/>
            <a:ext cx="9326880" cy="320040"/>
          </a:xfrm>
          <a:prstGeom prst="rect">
            <a:avLst/>
          </a:prstGeom>
          <a:noFill/>
        </p:spPr>
        <p:txBody>
          <a:bodyPr wrap="square">
            <a:spAutoFit/>
          </a:bodyPr>
          <a:lstStyle/>
          <a:p>
            <a:pPr algn="l">
              <a:lnSpc>
                <a:spcPts val="1920"/>
              </a:lnSpc>
              <a:spcAft>
                <a:spcPts val="0"/>
              </a:spcAft>
              <a:defRPr sz="1600" b="1">
                <a:solidFill>
                  <a:srgbClr val="004488"/>
                </a:solidFill>
                <a:latin typeface="Calibri"/>
              </a:defRPr>
            </a:pPr>
            <a:r>
              <a:t>For Enterprises</a:t>
            </a:r>
          </a:p>
        </p:txBody>
      </p:sp>
      <p:sp>
        <p:nvSpPr>
          <p:cNvPr id="32" name="TextBox 31"/>
          <p:cNvSpPr txBox="1"/>
          <p:nvPr/>
        </p:nvSpPr>
        <p:spPr>
          <a:xfrm>
            <a:off x="1280160" y="5257800"/>
            <a:ext cx="9326880" cy="457200"/>
          </a:xfrm>
          <a:prstGeom prst="rect">
            <a:avLst/>
          </a:prstGeom>
          <a:noFill/>
        </p:spPr>
        <p:txBody>
          <a:bodyPr wrap="square">
            <a:spAutoFit/>
          </a:bodyPr>
          <a:lstStyle/>
          <a:p>
            <a:pPr algn="l">
              <a:lnSpc>
                <a:spcPts val="2250"/>
              </a:lnSpc>
              <a:spcAft>
                <a:spcPts val="0"/>
              </a:spcAft>
              <a:defRPr sz="1500" b="0">
                <a:solidFill>
                  <a:srgbClr val="004488"/>
                </a:solidFill>
                <a:latin typeface="Calibri"/>
              </a:defRPr>
            </a:pPr>
            <a:r>
              <a:t>Mid-size enterprises face $2–5 million per year in AI inflation exposure across cloud, compute, energy, and software licensing.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THE ENVIRONMENTAL LEDGER</a:t>
            </a:r>
          </a:p>
        </p:txBody>
      </p:sp>
      <p:sp>
        <p:nvSpPr>
          <p:cNvPr id="3" name="TextBox 2"/>
          <p:cNvSpPr txBox="1"/>
          <p:nvPr/>
        </p:nvSpPr>
        <p:spPr>
          <a:xfrm>
            <a:off x="914400" y="1005840"/>
            <a:ext cx="9144000" cy="548640"/>
          </a:xfrm>
          <a:prstGeom prst="rect">
            <a:avLst/>
          </a:prstGeom>
          <a:noFill/>
        </p:spPr>
        <p:txBody>
          <a:bodyPr wrap="square">
            <a:spAutoFit/>
          </a:bodyPr>
          <a:lstStyle/>
          <a:p>
            <a:pPr algn="l">
              <a:lnSpc>
                <a:spcPts val="3360"/>
              </a:lnSpc>
              <a:spcAft>
                <a:spcPts val="0"/>
              </a:spcAft>
              <a:defRPr sz="2800" b="1">
                <a:solidFill>
                  <a:srgbClr val="1D1D1F"/>
                </a:solidFill>
                <a:latin typeface="Calibri"/>
              </a:defRPr>
            </a:pPr>
            <a:r>
              <a:t>The tax that never appears on a balance sheet</a:t>
            </a:r>
          </a:p>
        </p:txBody>
      </p:sp>
      <p:sp>
        <p:nvSpPr>
          <p:cNvPr id="4" name="TextBox 3"/>
          <p:cNvSpPr txBox="1"/>
          <p:nvPr/>
        </p:nvSpPr>
        <p:spPr>
          <a:xfrm>
            <a:off x="914400" y="1828800"/>
            <a:ext cx="4572000" cy="365760"/>
          </a:xfrm>
          <a:prstGeom prst="rect">
            <a:avLst/>
          </a:prstGeom>
          <a:noFill/>
        </p:spPr>
        <p:txBody>
          <a:bodyPr wrap="square">
            <a:spAutoFit/>
          </a:bodyPr>
          <a:lstStyle/>
          <a:p>
            <a:pPr algn="l">
              <a:lnSpc>
                <a:spcPts val="1560"/>
              </a:lnSpc>
              <a:spcAft>
                <a:spcPts val="0"/>
              </a:spcAft>
              <a:defRPr sz="1300" b="1">
                <a:solidFill>
                  <a:srgbClr val="D32F2F"/>
                </a:solidFill>
                <a:latin typeface="Calibri"/>
              </a:defRPr>
            </a:pPr>
            <a:r>
              <a:t>CARBON EMISSIONS</a:t>
            </a:r>
          </a:p>
        </p:txBody>
      </p:sp>
      <p:sp>
        <p:nvSpPr>
          <p:cNvPr id="5" name="TextBox 4"/>
          <p:cNvSpPr txBox="1"/>
          <p:nvPr/>
        </p:nvSpPr>
        <p:spPr>
          <a:xfrm>
            <a:off x="1097280" y="2286000"/>
            <a:ext cx="22860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Microsoft carbon emissions</a:t>
            </a:r>
          </a:p>
        </p:txBody>
      </p:sp>
      <p:sp>
        <p:nvSpPr>
          <p:cNvPr id="6" name="TextBox 5"/>
          <p:cNvSpPr txBox="1"/>
          <p:nvPr/>
        </p:nvSpPr>
        <p:spPr>
          <a:xfrm>
            <a:off x="3474720" y="2286000"/>
            <a:ext cx="1828800" cy="274320"/>
          </a:xfrm>
          <a:prstGeom prst="rect">
            <a:avLst/>
          </a:prstGeom>
          <a:noFill/>
        </p:spPr>
        <p:txBody>
          <a:bodyPr wrap="square">
            <a:spAutoFit/>
          </a:bodyPr>
          <a:lstStyle/>
          <a:p>
            <a:pPr algn="l">
              <a:lnSpc>
                <a:spcPts val="1680"/>
              </a:lnSpc>
              <a:spcAft>
                <a:spcPts val="0"/>
              </a:spcAft>
              <a:defRPr sz="1400" b="1">
                <a:solidFill>
                  <a:srgbClr val="D32F2F"/>
                </a:solidFill>
                <a:latin typeface="Calibri"/>
              </a:defRPr>
            </a:pPr>
            <a:r>
              <a:t>+29% since 2020</a:t>
            </a:r>
          </a:p>
        </p:txBody>
      </p:sp>
      <p:sp>
        <p:nvSpPr>
          <p:cNvPr id="7" name="TextBox 6"/>
          <p:cNvSpPr txBox="1"/>
          <p:nvPr/>
        </p:nvSpPr>
        <p:spPr>
          <a:xfrm>
            <a:off x="1097280" y="2697480"/>
            <a:ext cx="22860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Google GHG emissions</a:t>
            </a:r>
          </a:p>
        </p:txBody>
      </p:sp>
      <p:sp>
        <p:nvSpPr>
          <p:cNvPr id="8" name="TextBox 7"/>
          <p:cNvSpPr txBox="1"/>
          <p:nvPr/>
        </p:nvSpPr>
        <p:spPr>
          <a:xfrm>
            <a:off x="3474720" y="2697480"/>
            <a:ext cx="1828800" cy="274320"/>
          </a:xfrm>
          <a:prstGeom prst="rect">
            <a:avLst/>
          </a:prstGeom>
          <a:noFill/>
        </p:spPr>
        <p:txBody>
          <a:bodyPr wrap="square">
            <a:spAutoFit/>
          </a:bodyPr>
          <a:lstStyle/>
          <a:p>
            <a:pPr algn="l">
              <a:lnSpc>
                <a:spcPts val="1680"/>
              </a:lnSpc>
              <a:spcAft>
                <a:spcPts val="0"/>
              </a:spcAft>
              <a:defRPr sz="1400" b="1">
                <a:solidFill>
                  <a:srgbClr val="D32F2F"/>
                </a:solidFill>
                <a:latin typeface="Calibri"/>
              </a:defRPr>
            </a:pPr>
            <a:r>
              <a:t>+48% over 5 years</a:t>
            </a:r>
          </a:p>
        </p:txBody>
      </p:sp>
      <p:sp>
        <p:nvSpPr>
          <p:cNvPr id="9" name="TextBox 8"/>
          <p:cNvSpPr txBox="1"/>
          <p:nvPr/>
        </p:nvSpPr>
        <p:spPr>
          <a:xfrm>
            <a:off x="1097280" y="3108960"/>
            <a:ext cx="22860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Coal plant retirements</a:t>
            </a:r>
          </a:p>
        </p:txBody>
      </p:sp>
      <p:sp>
        <p:nvSpPr>
          <p:cNvPr id="10" name="TextBox 9"/>
          <p:cNvSpPr txBox="1"/>
          <p:nvPr/>
        </p:nvSpPr>
        <p:spPr>
          <a:xfrm>
            <a:off x="3474720" y="3108960"/>
            <a:ext cx="1828800" cy="274320"/>
          </a:xfrm>
          <a:prstGeom prst="rect">
            <a:avLst/>
          </a:prstGeom>
          <a:noFill/>
        </p:spPr>
        <p:txBody>
          <a:bodyPr wrap="square">
            <a:spAutoFit/>
          </a:bodyPr>
          <a:lstStyle/>
          <a:p>
            <a:pPr algn="l">
              <a:lnSpc>
                <a:spcPts val="1680"/>
              </a:lnSpc>
              <a:spcAft>
                <a:spcPts val="0"/>
              </a:spcAft>
              <a:defRPr sz="1400" b="1">
                <a:solidFill>
                  <a:srgbClr val="D32F2F"/>
                </a:solidFill>
                <a:latin typeface="Calibri"/>
              </a:defRPr>
            </a:pPr>
            <a:r>
              <a:t>Being delayed</a:t>
            </a:r>
          </a:p>
        </p:txBody>
      </p:sp>
      <p:sp>
        <p:nvSpPr>
          <p:cNvPr id="11" name="TextBox 10"/>
          <p:cNvSpPr txBox="1"/>
          <p:nvPr/>
        </p:nvSpPr>
        <p:spPr>
          <a:xfrm>
            <a:off x="6400800" y="1828800"/>
            <a:ext cx="4572000" cy="365760"/>
          </a:xfrm>
          <a:prstGeom prst="rect">
            <a:avLst/>
          </a:prstGeom>
          <a:noFill/>
        </p:spPr>
        <p:txBody>
          <a:bodyPr wrap="square">
            <a:spAutoFit/>
          </a:bodyPr>
          <a:lstStyle/>
          <a:p>
            <a:pPr algn="l">
              <a:lnSpc>
                <a:spcPts val="1560"/>
              </a:lnSpc>
              <a:spcAft>
                <a:spcPts val="0"/>
              </a:spcAft>
              <a:defRPr sz="1300" b="1">
                <a:solidFill>
                  <a:srgbClr val="0066CC"/>
                </a:solidFill>
                <a:latin typeface="Calibri"/>
              </a:defRPr>
            </a:pPr>
            <a:r>
              <a:t>WATER CONSUMPTION</a:t>
            </a:r>
          </a:p>
        </p:txBody>
      </p:sp>
      <p:sp>
        <p:nvSpPr>
          <p:cNvPr id="12" name="TextBox 11"/>
          <p:cNvSpPr txBox="1"/>
          <p:nvPr/>
        </p:nvSpPr>
        <p:spPr>
          <a:xfrm>
            <a:off x="6583680" y="2286000"/>
            <a:ext cx="210312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Single data center</a:t>
            </a:r>
          </a:p>
        </p:txBody>
      </p:sp>
      <p:sp>
        <p:nvSpPr>
          <p:cNvPr id="13" name="TextBox 12"/>
          <p:cNvSpPr txBox="1"/>
          <p:nvPr/>
        </p:nvSpPr>
        <p:spPr>
          <a:xfrm>
            <a:off x="8778240" y="2286000"/>
            <a:ext cx="2560320" cy="32004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uses as much water as a small city</a:t>
            </a:r>
          </a:p>
        </p:txBody>
      </p:sp>
      <p:sp>
        <p:nvSpPr>
          <p:cNvPr id="14" name="TextBox 13"/>
          <p:cNvSpPr txBox="1"/>
          <p:nvPr/>
        </p:nvSpPr>
        <p:spPr>
          <a:xfrm>
            <a:off x="6583680" y="2697480"/>
            <a:ext cx="210312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TSMC fabs (Taiwan)</a:t>
            </a:r>
          </a:p>
        </p:txBody>
      </p:sp>
      <p:sp>
        <p:nvSpPr>
          <p:cNvPr id="15" name="TextBox 14"/>
          <p:cNvSpPr txBox="1"/>
          <p:nvPr/>
        </p:nvSpPr>
        <p:spPr>
          <a:xfrm>
            <a:off x="8778240" y="2697480"/>
            <a:ext cx="2560320" cy="32004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156,000 tonnes of water per day</a:t>
            </a:r>
          </a:p>
        </p:txBody>
      </p:sp>
      <p:sp>
        <p:nvSpPr>
          <p:cNvPr id="16" name="TextBox 15"/>
          <p:cNvSpPr txBox="1"/>
          <p:nvPr/>
        </p:nvSpPr>
        <p:spPr>
          <a:xfrm>
            <a:off x="6583680" y="3108960"/>
            <a:ext cx="210312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Drought regions</a:t>
            </a:r>
          </a:p>
        </p:txBody>
      </p:sp>
      <p:sp>
        <p:nvSpPr>
          <p:cNvPr id="17" name="TextBox 16"/>
          <p:cNvSpPr txBox="1"/>
          <p:nvPr/>
        </p:nvSpPr>
        <p:spPr>
          <a:xfrm>
            <a:off x="8778240" y="3108960"/>
            <a:ext cx="2560320" cy="32004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AI competes with agriculture</a:t>
            </a:r>
          </a:p>
        </p:txBody>
      </p:sp>
      <p:sp>
        <p:nvSpPr>
          <p:cNvPr id="18" name="Rounded Rectangle 17"/>
          <p:cNvSpPr/>
          <p:nvPr/>
        </p:nvSpPr>
        <p:spPr>
          <a:xfrm>
            <a:off x="914400" y="4023360"/>
            <a:ext cx="10058400" cy="2011680"/>
          </a:xfrm>
          <a:prstGeom prst="roundRect">
            <a:avLst/>
          </a:prstGeom>
          <a:solidFill>
            <a:srgbClr val="FF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4206240"/>
            <a:ext cx="9326880" cy="457200"/>
          </a:xfrm>
          <a:prstGeom prst="rect">
            <a:avLst/>
          </a:prstGeom>
          <a:noFill/>
        </p:spPr>
        <p:txBody>
          <a:bodyPr wrap="square">
            <a:spAutoFit/>
          </a:bodyPr>
          <a:lstStyle/>
          <a:p>
            <a:pPr algn="l">
              <a:lnSpc>
                <a:spcPts val="2160"/>
              </a:lnSpc>
              <a:spcAft>
                <a:spcPts val="0"/>
              </a:spcAft>
              <a:defRPr sz="1800" b="1">
                <a:solidFill>
                  <a:srgbClr val="D32F2F"/>
                </a:solidFill>
                <a:latin typeface="Calibri"/>
              </a:defRPr>
            </a:pPr>
            <a:r>
              <a:t>The Uncomfortable Question</a:t>
            </a:r>
          </a:p>
        </p:txBody>
      </p:sp>
      <p:sp>
        <p:nvSpPr>
          <p:cNvPr id="20" name="TextBox 19"/>
          <p:cNvSpPr txBox="1"/>
          <p:nvPr/>
        </p:nvSpPr>
        <p:spPr>
          <a:xfrm>
            <a:off x="1280160" y="4663440"/>
            <a:ext cx="9326880" cy="1188720"/>
          </a:xfrm>
          <a:prstGeom prst="rect">
            <a:avLst/>
          </a:prstGeom>
          <a:noFill/>
        </p:spPr>
        <p:txBody>
          <a:bodyPr wrap="square">
            <a:spAutoFit/>
          </a:bodyPr>
          <a:lstStyle/>
          <a:p>
            <a:pPr algn="l">
              <a:spcBef>
                <a:spcPts val="0"/>
              </a:spcBef>
              <a:spcAft>
                <a:spcPts val="1200"/>
              </a:spcAft>
              <a:defRPr sz="1800" b="1">
                <a:solidFill>
                  <a:srgbClr val="1D1D1F"/>
                </a:solidFill>
                <a:latin typeface="Calibri"/>
              </a:defRPr>
            </a:pPr>
            <a:r>
              <a:t>Is a 2% improvement in email drafting worth rebooting coal plants?</a:t>
            </a:r>
          </a:p>
          <a:p>
            <a:pPr algn="l">
              <a:spcBef>
                <a:spcPts val="0"/>
              </a:spcBef>
              <a:spcAft>
                <a:spcPts val="400"/>
              </a:spcAft>
              <a:defRPr sz="1400" b="0">
                <a:solidFill>
                  <a:srgbClr val="6E6E73"/>
                </a:solidFill>
                <a:latin typeface="Calibri"/>
              </a:defRPr>
            </a:pPr>
            <a:r>
              <a:t>Renewables take years to build. Data centers take months. The gap between AI's energy hunger and clean energy's ability to feed it is the defining environmental tension of this decade.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THE LABOR LEDGER</a:t>
            </a:r>
          </a:p>
        </p:txBody>
      </p:sp>
      <p:sp>
        <p:nvSpPr>
          <p:cNvPr id="3" name="TextBox 2"/>
          <p:cNvSpPr txBox="1"/>
          <p:nvPr/>
        </p:nvSpPr>
        <p:spPr>
          <a:xfrm>
            <a:off x="914400" y="1005840"/>
            <a:ext cx="9144000" cy="548640"/>
          </a:xfrm>
          <a:prstGeom prst="rect">
            <a:avLst/>
          </a:prstGeom>
          <a:noFill/>
        </p:spPr>
        <p:txBody>
          <a:bodyPr wrap="square">
            <a:spAutoFit/>
          </a:bodyPr>
          <a:lstStyle/>
          <a:p>
            <a:pPr algn="l">
              <a:lnSpc>
                <a:spcPts val="2879"/>
              </a:lnSpc>
              <a:spcAft>
                <a:spcPts val="0"/>
              </a:spcAft>
              <a:defRPr sz="2400" b="1">
                <a:solidFill>
                  <a:srgbClr val="1D1D1F"/>
                </a:solidFill>
                <a:latin typeface="Calibri"/>
              </a:defRPr>
            </a:pPr>
            <a:r>
              <a:t>AI doesn't just raise the price of things. It erases the price of people.</a:t>
            </a:r>
          </a:p>
        </p:txBody>
      </p:sp>
      <p:sp>
        <p:nvSpPr>
          <p:cNvPr id="4" name="Rounded Rectangle 3"/>
          <p:cNvSpPr/>
          <p:nvPr/>
        </p:nvSpPr>
        <p:spPr>
          <a:xfrm>
            <a:off x="914400" y="1828800"/>
            <a:ext cx="3108960" cy="1645920"/>
          </a:xfrm>
          <a:prstGeom prst="roundRect">
            <a:avLst/>
          </a:prstGeom>
          <a:solidFill>
            <a:srgbClr val="F8F8FA"/>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965960"/>
            <a:ext cx="2651760" cy="640080"/>
          </a:xfrm>
          <a:prstGeom prst="rect">
            <a:avLst/>
          </a:prstGeom>
          <a:noFill/>
        </p:spPr>
        <p:txBody>
          <a:bodyPr wrap="square">
            <a:spAutoFit/>
          </a:bodyPr>
          <a:lstStyle/>
          <a:p>
            <a:pPr algn="l">
              <a:lnSpc>
                <a:spcPts val="4800"/>
              </a:lnSpc>
              <a:spcAft>
                <a:spcPts val="0"/>
              </a:spcAft>
              <a:defRPr sz="4000" b="1">
                <a:solidFill>
                  <a:srgbClr val="0066CC"/>
                </a:solidFill>
                <a:latin typeface="Calibri"/>
              </a:defRPr>
            </a:pPr>
            <a:r>
              <a:t>12M</a:t>
            </a:r>
          </a:p>
        </p:txBody>
      </p:sp>
      <p:sp>
        <p:nvSpPr>
          <p:cNvPr id="6" name="TextBox 5"/>
          <p:cNvSpPr txBox="1"/>
          <p:nvPr/>
        </p:nvSpPr>
        <p:spPr>
          <a:xfrm>
            <a:off x="1143000" y="2651760"/>
            <a:ext cx="2651760" cy="502920"/>
          </a:xfrm>
          <a:prstGeom prst="rect">
            <a:avLst/>
          </a:prstGeom>
          <a:noFill/>
        </p:spPr>
        <p:txBody>
          <a:bodyPr wrap="square">
            <a:spAutoFit/>
          </a:bodyPr>
          <a:lstStyle/>
          <a:p>
            <a:pPr algn="l">
              <a:lnSpc>
                <a:spcPts val="1690"/>
              </a:lnSpc>
              <a:spcAft>
                <a:spcPts val="0"/>
              </a:spcAft>
              <a:defRPr sz="1300" b="0">
                <a:solidFill>
                  <a:srgbClr val="1D1D1F"/>
                </a:solidFill>
                <a:latin typeface="Calibri"/>
              </a:defRPr>
            </a:pPr>
            <a:r>
              <a:t>Americans needing to</a:t>
            </a:r>
            <a:br/>
            <a:r>
              <a:t>change occupations by 2030</a:t>
            </a:r>
          </a:p>
        </p:txBody>
      </p:sp>
      <p:sp>
        <p:nvSpPr>
          <p:cNvPr id="7" name="TextBox 6"/>
          <p:cNvSpPr txBox="1"/>
          <p:nvPr/>
        </p:nvSpPr>
        <p:spPr>
          <a:xfrm>
            <a:off x="1143000" y="3200400"/>
            <a:ext cx="2651760" cy="228600"/>
          </a:xfrm>
          <a:prstGeom prst="rect">
            <a:avLst/>
          </a:prstGeom>
          <a:noFill/>
        </p:spPr>
        <p:txBody>
          <a:bodyPr wrap="square">
            <a:spAutoFit/>
          </a:bodyPr>
          <a:lstStyle/>
          <a:p>
            <a:pPr algn="l">
              <a:lnSpc>
                <a:spcPts val="1200"/>
              </a:lnSpc>
              <a:spcAft>
                <a:spcPts val="0"/>
              </a:spcAft>
              <a:defRPr sz="1000" b="0">
                <a:solidFill>
                  <a:srgbClr val="AEAEB2"/>
                </a:solidFill>
                <a:latin typeface="Calibri"/>
              </a:defRPr>
            </a:pPr>
            <a:r>
              <a:t>Source: McKinsey</a:t>
            </a:r>
          </a:p>
        </p:txBody>
      </p:sp>
      <p:sp>
        <p:nvSpPr>
          <p:cNvPr id="8" name="Rounded Rectangle 7"/>
          <p:cNvSpPr/>
          <p:nvPr/>
        </p:nvSpPr>
        <p:spPr>
          <a:xfrm>
            <a:off x="4389120" y="1828800"/>
            <a:ext cx="3108960" cy="1645920"/>
          </a:xfrm>
          <a:prstGeom prst="roundRect">
            <a:avLst/>
          </a:prstGeom>
          <a:solidFill>
            <a:srgbClr val="F8F8FA"/>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965960"/>
            <a:ext cx="2651760" cy="640080"/>
          </a:xfrm>
          <a:prstGeom prst="rect">
            <a:avLst/>
          </a:prstGeom>
          <a:noFill/>
        </p:spPr>
        <p:txBody>
          <a:bodyPr wrap="square">
            <a:spAutoFit/>
          </a:bodyPr>
          <a:lstStyle/>
          <a:p>
            <a:pPr algn="l">
              <a:lnSpc>
                <a:spcPts val="4800"/>
              </a:lnSpc>
              <a:spcAft>
                <a:spcPts val="0"/>
              </a:spcAft>
              <a:defRPr sz="4000" b="1">
                <a:solidFill>
                  <a:srgbClr val="0066CC"/>
                </a:solidFill>
                <a:latin typeface="Calibri"/>
              </a:defRPr>
            </a:pPr>
            <a:r>
              <a:t>300M</a:t>
            </a:r>
          </a:p>
        </p:txBody>
      </p:sp>
      <p:sp>
        <p:nvSpPr>
          <p:cNvPr id="10" name="TextBox 9"/>
          <p:cNvSpPr txBox="1"/>
          <p:nvPr/>
        </p:nvSpPr>
        <p:spPr>
          <a:xfrm>
            <a:off x="4617720" y="2651760"/>
            <a:ext cx="2651760" cy="502920"/>
          </a:xfrm>
          <a:prstGeom prst="rect">
            <a:avLst/>
          </a:prstGeom>
          <a:noFill/>
        </p:spPr>
        <p:txBody>
          <a:bodyPr wrap="square">
            <a:spAutoFit/>
          </a:bodyPr>
          <a:lstStyle/>
          <a:p>
            <a:pPr algn="l">
              <a:lnSpc>
                <a:spcPts val="1690"/>
              </a:lnSpc>
              <a:spcAft>
                <a:spcPts val="0"/>
              </a:spcAft>
              <a:defRPr sz="1300" b="0">
                <a:solidFill>
                  <a:srgbClr val="1D1D1F"/>
                </a:solidFill>
                <a:latin typeface="Calibri"/>
              </a:defRPr>
            </a:pPr>
            <a:r>
              <a:t>Global jobs exposed to</a:t>
            </a:r>
            <a:br/>
            <a:r>
              <a:t>AI-driven disruption</a:t>
            </a:r>
          </a:p>
        </p:txBody>
      </p:sp>
      <p:sp>
        <p:nvSpPr>
          <p:cNvPr id="11" name="TextBox 10"/>
          <p:cNvSpPr txBox="1"/>
          <p:nvPr/>
        </p:nvSpPr>
        <p:spPr>
          <a:xfrm>
            <a:off x="4617720" y="3200400"/>
            <a:ext cx="2651760" cy="228600"/>
          </a:xfrm>
          <a:prstGeom prst="rect">
            <a:avLst/>
          </a:prstGeom>
          <a:noFill/>
        </p:spPr>
        <p:txBody>
          <a:bodyPr wrap="square">
            <a:spAutoFit/>
          </a:bodyPr>
          <a:lstStyle/>
          <a:p>
            <a:pPr algn="l">
              <a:lnSpc>
                <a:spcPts val="1200"/>
              </a:lnSpc>
              <a:spcAft>
                <a:spcPts val="0"/>
              </a:spcAft>
              <a:defRPr sz="1000" b="0">
                <a:solidFill>
                  <a:srgbClr val="AEAEB2"/>
                </a:solidFill>
                <a:latin typeface="Calibri"/>
              </a:defRPr>
            </a:pPr>
            <a:r>
              <a:t>Source: Goldman Sachs</a:t>
            </a:r>
          </a:p>
        </p:txBody>
      </p:sp>
      <p:sp>
        <p:nvSpPr>
          <p:cNvPr id="12" name="Rounded Rectangle 11"/>
          <p:cNvSpPr/>
          <p:nvPr/>
        </p:nvSpPr>
        <p:spPr>
          <a:xfrm>
            <a:off x="7863840" y="1828800"/>
            <a:ext cx="3108960" cy="1645920"/>
          </a:xfrm>
          <a:prstGeom prst="roundRect">
            <a:avLst/>
          </a:prstGeom>
          <a:solidFill>
            <a:srgbClr val="F8F8FA"/>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965960"/>
            <a:ext cx="2651760" cy="640080"/>
          </a:xfrm>
          <a:prstGeom prst="rect">
            <a:avLst/>
          </a:prstGeom>
          <a:noFill/>
        </p:spPr>
        <p:txBody>
          <a:bodyPr wrap="square">
            <a:spAutoFit/>
          </a:bodyPr>
          <a:lstStyle/>
          <a:p>
            <a:pPr algn="l">
              <a:lnSpc>
                <a:spcPts val="4800"/>
              </a:lnSpc>
              <a:spcAft>
                <a:spcPts val="0"/>
              </a:spcAft>
              <a:defRPr sz="4000" b="1">
                <a:solidFill>
                  <a:srgbClr val="0066CC"/>
                </a:solidFill>
                <a:latin typeface="Calibri"/>
              </a:defRPr>
            </a:pPr>
            <a:r>
              <a:t>$320B</a:t>
            </a:r>
          </a:p>
        </p:txBody>
      </p:sp>
      <p:sp>
        <p:nvSpPr>
          <p:cNvPr id="14" name="TextBox 13"/>
          <p:cNvSpPr txBox="1"/>
          <p:nvPr/>
        </p:nvSpPr>
        <p:spPr>
          <a:xfrm>
            <a:off x="8092440" y="2651760"/>
            <a:ext cx="2651760" cy="502920"/>
          </a:xfrm>
          <a:prstGeom prst="rect">
            <a:avLst/>
          </a:prstGeom>
          <a:noFill/>
        </p:spPr>
        <p:txBody>
          <a:bodyPr wrap="square">
            <a:spAutoFit/>
          </a:bodyPr>
          <a:lstStyle/>
          <a:p>
            <a:pPr algn="l">
              <a:lnSpc>
                <a:spcPts val="1690"/>
              </a:lnSpc>
              <a:spcAft>
                <a:spcPts val="0"/>
              </a:spcAft>
              <a:defRPr sz="1300" b="0">
                <a:solidFill>
                  <a:srgbClr val="1D1D1F"/>
                </a:solidFill>
                <a:latin typeface="Calibri"/>
              </a:defRPr>
            </a:pPr>
            <a:r>
              <a:t>Spent building AI</a:t>
            </a:r>
            <a:br/>
            <a:r>
              <a:t>designed to replace labor</a:t>
            </a:r>
          </a:p>
        </p:txBody>
      </p:sp>
      <p:sp>
        <p:nvSpPr>
          <p:cNvPr id="15" name="TextBox 14"/>
          <p:cNvSpPr txBox="1"/>
          <p:nvPr/>
        </p:nvSpPr>
        <p:spPr>
          <a:xfrm>
            <a:off x="8092440" y="3200400"/>
            <a:ext cx="2651760" cy="228600"/>
          </a:xfrm>
          <a:prstGeom prst="rect">
            <a:avLst/>
          </a:prstGeom>
          <a:noFill/>
        </p:spPr>
        <p:txBody>
          <a:bodyPr wrap="square">
            <a:spAutoFit/>
          </a:bodyPr>
          <a:lstStyle/>
          <a:p>
            <a:pPr algn="l">
              <a:lnSpc>
                <a:spcPts val="1200"/>
              </a:lnSpc>
              <a:spcAft>
                <a:spcPts val="0"/>
              </a:spcAft>
              <a:defRPr sz="1000" b="0">
                <a:solidFill>
                  <a:srgbClr val="AEAEB2"/>
                </a:solidFill>
                <a:latin typeface="Calibri"/>
              </a:defRPr>
            </a:pPr>
            <a:r>
              <a:t>Source: Industry estimates</a:t>
            </a:r>
          </a:p>
        </p:txBody>
      </p:sp>
      <p:sp>
        <p:nvSpPr>
          <p:cNvPr id="16" name="Rounded Rectangle 15"/>
          <p:cNvSpPr/>
          <p:nvPr/>
        </p:nvSpPr>
        <p:spPr>
          <a:xfrm>
            <a:off x="914400" y="3931920"/>
            <a:ext cx="10058400" cy="914400"/>
          </a:xfrm>
          <a:prstGeom prst="roundRect">
            <a:avLst/>
          </a:prstGeom>
          <a:solidFill>
            <a:srgbClr val="E8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80160" y="4069080"/>
            <a:ext cx="9326880" cy="640080"/>
          </a:xfrm>
          <a:prstGeom prst="rect">
            <a:avLst/>
          </a:prstGeom>
          <a:noFill/>
        </p:spPr>
        <p:txBody>
          <a:bodyPr wrap="square">
            <a:spAutoFit/>
          </a:bodyPr>
          <a:lstStyle/>
          <a:p>
            <a:pPr algn="l">
              <a:lnSpc>
                <a:spcPts val="2250"/>
              </a:lnSpc>
              <a:spcAft>
                <a:spcPts val="0"/>
              </a:spcAft>
              <a:defRPr sz="1500" b="1">
                <a:solidFill>
                  <a:srgbClr val="004488"/>
                </a:solidFill>
                <a:latin typeface="Calibri"/>
              </a:defRPr>
            </a:pPr>
            <a:r>
              <a:t>You pay more for the products that AI makes, while being paid less — or nothing — for the work that AI replaces. The consumer pays the AI inflation tax. The worker pays the AI deflation tax. Often, they're the same person.</a:t>
            </a:r>
          </a:p>
        </p:txBody>
      </p:sp>
      <p:sp>
        <p:nvSpPr>
          <p:cNvPr id="18" name="TextBox 17"/>
          <p:cNvSpPr txBox="1"/>
          <p:nvPr/>
        </p:nvSpPr>
        <p:spPr>
          <a:xfrm>
            <a:off x="914400" y="5120640"/>
            <a:ext cx="10058400" cy="365760"/>
          </a:xfrm>
          <a:prstGeom prst="rect">
            <a:avLst/>
          </a:prstGeom>
          <a:noFill/>
        </p:spPr>
        <p:txBody>
          <a:bodyPr wrap="square">
            <a:spAutoFit/>
          </a:bodyPr>
          <a:lstStyle/>
          <a:p>
            <a:pPr algn="l">
              <a:lnSpc>
                <a:spcPts val="1439"/>
              </a:lnSpc>
              <a:spcAft>
                <a:spcPts val="0"/>
              </a:spcAft>
              <a:defRPr sz="1200" b="1">
                <a:solidFill>
                  <a:srgbClr val="6E6E73"/>
                </a:solidFill>
                <a:latin typeface="Calibri"/>
              </a:defRPr>
            </a:pPr>
            <a:r>
              <a:t>ROLES BEING COMPRESSED, DESKILLED, OR ELIMINATED</a:t>
            </a:r>
          </a:p>
        </p:txBody>
      </p:sp>
      <p:sp>
        <p:nvSpPr>
          <p:cNvPr id="19" name="TextBox 18"/>
          <p:cNvSpPr txBox="1"/>
          <p:nvPr/>
        </p:nvSpPr>
        <p:spPr>
          <a:xfrm>
            <a:off x="914400" y="5577840"/>
            <a:ext cx="10058400" cy="457200"/>
          </a:xfrm>
          <a:prstGeom prst="rect">
            <a:avLst/>
          </a:prstGeom>
          <a:noFill/>
        </p:spPr>
        <p:txBody>
          <a:bodyPr wrap="square">
            <a:spAutoFit/>
          </a:bodyPr>
          <a:lstStyle/>
          <a:p>
            <a:pPr algn="ctr">
              <a:lnSpc>
                <a:spcPts val="1680"/>
              </a:lnSpc>
              <a:spcAft>
                <a:spcPts val="0"/>
              </a:spcAft>
              <a:defRPr sz="1400" b="0">
                <a:solidFill>
                  <a:srgbClr val="1D1D1F"/>
                </a:solidFill>
                <a:latin typeface="Calibri"/>
              </a:defRPr>
            </a:pPr>
            <a:r>
              <a:t>Call center workers  •  Paralegals  •  Junior copywriters  •  Translators  •  Entry-level designers  •  Radiologists  •  Tax accountants  •  Boilerplate coders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AI SUBSCRIPTION TRACKER</a:t>
            </a:r>
          </a:p>
        </p:txBody>
      </p:sp>
      <p:sp>
        <p:nvSpPr>
          <p:cNvPr id="3" name="TextBox 2"/>
          <p:cNvSpPr txBox="1"/>
          <p:nvPr/>
        </p:nvSpPr>
        <p:spPr>
          <a:xfrm>
            <a:off x="914400" y="1005840"/>
            <a:ext cx="9144000" cy="548640"/>
          </a:xfrm>
          <a:prstGeom prst="rect">
            <a:avLst/>
          </a:prstGeom>
          <a:noFill/>
        </p:spPr>
        <p:txBody>
          <a:bodyPr wrap="square">
            <a:spAutoFit/>
          </a:bodyPr>
          <a:lstStyle/>
          <a:p>
            <a:pPr algn="l">
              <a:lnSpc>
                <a:spcPts val="3360"/>
              </a:lnSpc>
              <a:spcAft>
                <a:spcPts val="0"/>
              </a:spcAft>
              <a:defRPr sz="2800" b="1">
                <a:solidFill>
                  <a:srgbClr val="1D1D1F"/>
                </a:solidFill>
                <a:latin typeface="Calibri"/>
              </a:defRPr>
            </a:pPr>
            <a:r>
              <a:t>Real pricing data for major AI services</a:t>
            </a:r>
          </a:p>
        </p:txBody>
      </p:sp>
      <p:sp>
        <p:nvSpPr>
          <p:cNvPr id="4" name="Rounded Rectangle 3"/>
          <p:cNvSpPr/>
          <p:nvPr/>
        </p:nvSpPr>
        <p:spPr>
          <a:xfrm>
            <a:off x="914400" y="1737360"/>
            <a:ext cx="237744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737360"/>
            <a:ext cx="2377440" cy="1097280"/>
          </a:xfrm>
          <a:prstGeom prst="roundRect">
            <a:avLst/>
          </a:prstGeom>
          <a:solidFill>
            <a:srgbClr val="FFFFFF"/>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74520"/>
            <a:ext cx="2011680" cy="274320"/>
          </a:xfrm>
          <a:prstGeom prst="rect">
            <a:avLst/>
          </a:prstGeom>
          <a:noFill/>
        </p:spPr>
        <p:txBody>
          <a:bodyPr wrap="square">
            <a:spAutoFit/>
          </a:bodyPr>
          <a:lstStyle/>
          <a:p>
            <a:pPr algn="l">
              <a:lnSpc>
                <a:spcPts val="1320"/>
              </a:lnSpc>
              <a:spcAft>
                <a:spcPts val="0"/>
              </a:spcAft>
              <a:defRPr sz="1100" b="1">
                <a:solidFill>
                  <a:srgbClr val="6E6E73"/>
                </a:solidFill>
                <a:latin typeface="Calibri"/>
              </a:defRPr>
            </a:pPr>
            <a:r>
              <a:t>Avg Consumer Monthly</a:t>
            </a:r>
          </a:p>
        </p:txBody>
      </p:sp>
      <p:sp>
        <p:nvSpPr>
          <p:cNvPr id="7" name="TextBox 6"/>
          <p:cNvSpPr txBox="1"/>
          <p:nvPr/>
        </p:nvSpPr>
        <p:spPr>
          <a:xfrm>
            <a:off x="1097280" y="2148840"/>
            <a:ext cx="2011680" cy="457200"/>
          </a:xfrm>
          <a:prstGeom prst="rect">
            <a:avLst/>
          </a:prstGeom>
          <a:noFill/>
        </p:spPr>
        <p:txBody>
          <a:bodyPr wrap="square">
            <a:spAutoFit/>
          </a:bodyPr>
          <a:lstStyle/>
          <a:p>
            <a:pPr algn="l">
              <a:lnSpc>
                <a:spcPts val="3360"/>
              </a:lnSpc>
              <a:spcAft>
                <a:spcPts val="0"/>
              </a:spcAft>
              <a:defRPr sz="2800" b="1">
                <a:solidFill>
                  <a:srgbClr val="0066CC"/>
                </a:solidFill>
                <a:latin typeface="Calibri"/>
              </a:defRPr>
            </a:pPr>
            <a:r>
              <a:t>$21</a:t>
            </a:r>
          </a:p>
        </p:txBody>
      </p:sp>
      <p:sp>
        <p:nvSpPr>
          <p:cNvPr id="8" name="Rounded Rectangle 7"/>
          <p:cNvSpPr/>
          <p:nvPr/>
        </p:nvSpPr>
        <p:spPr>
          <a:xfrm>
            <a:off x="3520440" y="1737360"/>
            <a:ext cx="237744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20440" y="1737360"/>
            <a:ext cx="2377440" cy="1097280"/>
          </a:xfrm>
          <a:prstGeom prst="roundRect">
            <a:avLst/>
          </a:prstGeom>
          <a:solidFill>
            <a:srgbClr val="FFFFFF"/>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1874520"/>
            <a:ext cx="2011680" cy="274320"/>
          </a:xfrm>
          <a:prstGeom prst="rect">
            <a:avLst/>
          </a:prstGeom>
          <a:noFill/>
        </p:spPr>
        <p:txBody>
          <a:bodyPr wrap="square">
            <a:spAutoFit/>
          </a:bodyPr>
          <a:lstStyle/>
          <a:p>
            <a:pPr algn="l">
              <a:lnSpc>
                <a:spcPts val="1320"/>
              </a:lnSpc>
              <a:spcAft>
                <a:spcPts val="0"/>
              </a:spcAft>
              <a:defRPr sz="1100" b="1">
                <a:solidFill>
                  <a:srgbClr val="6E6E73"/>
                </a:solidFill>
                <a:latin typeface="Calibri"/>
              </a:defRPr>
            </a:pPr>
            <a:r>
              <a:t>Avg Enterprise / User</a:t>
            </a:r>
          </a:p>
        </p:txBody>
      </p:sp>
      <p:sp>
        <p:nvSpPr>
          <p:cNvPr id="11" name="TextBox 10"/>
          <p:cNvSpPr txBox="1"/>
          <p:nvPr/>
        </p:nvSpPr>
        <p:spPr>
          <a:xfrm>
            <a:off x="3703320" y="2148840"/>
            <a:ext cx="2011680" cy="457200"/>
          </a:xfrm>
          <a:prstGeom prst="rect">
            <a:avLst/>
          </a:prstGeom>
          <a:noFill/>
        </p:spPr>
        <p:txBody>
          <a:bodyPr wrap="square">
            <a:spAutoFit/>
          </a:bodyPr>
          <a:lstStyle/>
          <a:p>
            <a:pPr algn="l">
              <a:lnSpc>
                <a:spcPts val="3360"/>
              </a:lnSpc>
              <a:spcAft>
                <a:spcPts val="0"/>
              </a:spcAft>
              <a:defRPr sz="2800" b="1">
                <a:solidFill>
                  <a:srgbClr val="0066CC"/>
                </a:solidFill>
                <a:latin typeface="Calibri"/>
              </a:defRPr>
            </a:pPr>
            <a:r>
              <a:t>$25</a:t>
            </a:r>
          </a:p>
        </p:txBody>
      </p:sp>
      <p:sp>
        <p:nvSpPr>
          <p:cNvPr id="12" name="Rounded Rectangle 11"/>
          <p:cNvSpPr/>
          <p:nvPr/>
        </p:nvSpPr>
        <p:spPr>
          <a:xfrm>
            <a:off x="6126480" y="1737360"/>
            <a:ext cx="237744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6480" y="1737360"/>
            <a:ext cx="2377440" cy="1097280"/>
          </a:xfrm>
          <a:prstGeom prst="roundRect">
            <a:avLst/>
          </a:prstGeom>
          <a:solidFill>
            <a:srgbClr val="FFFFFF"/>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874520"/>
            <a:ext cx="2011680" cy="274320"/>
          </a:xfrm>
          <a:prstGeom prst="rect">
            <a:avLst/>
          </a:prstGeom>
          <a:noFill/>
        </p:spPr>
        <p:txBody>
          <a:bodyPr wrap="square">
            <a:spAutoFit/>
          </a:bodyPr>
          <a:lstStyle/>
          <a:p>
            <a:pPr algn="l">
              <a:lnSpc>
                <a:spcPts val="1320"/>
              </a:lnSpc>
              <a:spcAft>
                <a:spcPts val="0"/>
              </a:spcAft>
              <a:defRPr sz="1100" b="1">
                <a:solidFill>
                  <a:srgbClr val="6E6E73"/>
                </a:solidFill>
                <a:latin typeface="Calibri"/>
              </a:defRPr>
            </a:pPr>
            <a:r>
              <a:t>YoY Price Change</a:t>
            </a:r>
          </a:p>
        </p:txBody>
      </p:sp>
      <p:sp>
        <p:nvSpPr>
          <p:cNvPr id="15" name="TextBox 14"/>
          <p:cNvSpPr txBox="1"/>
          <p:nvPr/>
        </p:nvSpPr>
        <p:spPr>
          <a:xfrm>
            <a:off x="6309360" y="2148840"/>
            <a:ext cx="2011680" cy="457200"/>
          </a:xfrm>
          <a:prstGeom prst="rect">
            <a:avLst/>
          </a:prstGeom>
          <a:noFill/>
        </p:spPr>
        <p:txBody>
          <a:bodyPr wrap="square">
            <a:spAutoFit/>
          </a:bodyPr>
          <a:lstStyle/>
          <a:p>
            <a:pPr algn="l">
              <a:lnSpc>
                <a:spcPts val="3360"/>
              </a:lnSpc>
              <a:spcAft>
                <a:spcPts val="0"/>
              </a:spcAft>
              <a:defRPr sz="2800" b="1">
                <a:solidFill>
                  <a:srgbClr val="0066CC"/>
                </a:solidFill>
                <a:latin typeface="Calibri"/>
              </a:defRPr>
            </a:pPr>
            <a:r>
              <a:t>+4.2%</a:t>
            </a:r>
          </a:p>
        </p:txBody>
      </p:sp>
      <p:sp>
        <p:nvSpPr>
          <p:cNvPr id="16" name="Rounded Rectangle 15"/>
          <p:cNvSpPr/>
          <p:nvPr/>
        </p:nvSpPr>
        <p:spPr>
          <a:xfrm>
            <a:off x="8732520" y="1737360"/>
            <a:ext cx="237744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732520" y="1737360"/>
            <a:ext cx="2377440" cy="1097280"/>
          </a:xfrm>
          <a:prstGeom prst="roundRect">
            <a:avLst/>
          </a:prstGeom>
          <a:solidFill>
            <a:srgbClr val="FFFFFF"/>
          </a:solidFill>
          <a:ln w="12700">
            <a:solidFill>
              <a:srgbClr val="E5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15400" y="1874520"/>
            <a:ext cx="2011680" cy="274320"/>
          </a:xfrm>
          <a:prstGeom prst="rect">
            <a:avLst/>
          </a:prstGeom>
          <a:noFill/>
        </p:spPr>
        <p:txBody>
          <a:bodyPr wrap="square">
            <a:spAutoFit/>
          </a:bodyPr>
          <a:lstStyle/>
          <a:p>
            <a:pPr algn="l">
              <a:lnSpc>
                <a:spcPts val="1320"/>
              </a:lnSpc>
              <a:spcAft>
                <a:spcPts val="0"/>
              </a:spcAft>
              <a:defRPr sz="1100" b="1">
                <a:solidFill>
                  <a:srgbClr val="6E6E73"/>
                </a:solidFill>
                <a:latin typeface="Calibri"/>
              </a:defRPr>
            </a:pPr>
            <a:r>
              <a:t>Services w/ Increases</a:t>
            </a:r>
          </a:p>
        </p:txBody>
      </p:sp>
      <p:sp>
        <p:nvSpPr>
          <p:cNvPr id="19" name="TextBox 18"/>
          <p:cNvSpPr txBox="1"/>
          <p:nvPr/>
        </p:nvSpPr>
        <p:spPr>
          <a:xfrm>
            <a:off x="8915400" y="2148840"/>
            <a:ext cx="2011680" cy="457200"/>
          </a:xfrm>
          <a:prstGeom prst="rect">
            <a:avLst/>
          </a:prstGeom>
          <a:noFill/>
        </p:spPr>
        <p:txBody>
          <a:bodyPr wrap="square">
            <a:spAutoFit/>
          </a:bodyPr>
          <a:lstStyle/>
          <a:p>
            <a:pPr algn="l">
              <a:lnSpc>
                <a:spcPts val="3360"/>
              </a:lnSpc>
              <a:spcAft>
                <a:spcPts val="0"/>
              </a:spcAft>
              <a:defRPr sz="2800" b="1">
                <a:solidFill>
                  <a:srgbClr val="0066CC"/>
                </a:solidFill>
                <a:latin typeface="Calibri"/>
              </a:defRPr>
            </a:pPr>
            <a:r>
              <a:t>26.7%</a:t>
            </a:r>
          </a:p>
        </p:txBody>
      </p:sp>
      <p:sp>
        <p:nvSpPr>
          <p:cNvPr id="20" name="TextBox 19"/>
          <p:cNvSpPr txBox="1"/>
          <p:nvPr/>
        </p:nvSpPr>
        <p:spPr>
          <a:xfrm>
            <a:off x="914400" y="3200400"/>
            <a:ext cx="10058400" cy="365760"/>
          </a:xfrm>
          <a:prstGeom prst="rect">
            <a:avLst/>
          </a:prstGeom>
          <a:noFill/>
        </p:spPr>
        <p:txBody>
          <a:bodyPr wrap="square">
            <a:spAutoFit/>
          </a:bodyPr>
          <a:lstStyle/>
          <a:p>
            <a:pPr algn="l">
              <a:lnSpc>
                <a:spcPts val="1560"/>
              </a:lnSpc>
              <a:spcAft>
                <a:spcPts val="0"/>
              </a:spcAft>
              <a:defRPr sz="1300" b="1">
                <a:solidFill>
                  <a:srgbClr val="6E6E73"/>
                </a:solidFill>
                <a:latin typeface="Calibri"/>
              </a:defRPr>
            </a:pPr>
            <a:r>
              <a:t>NOTABLE PRICE MOVEMENTS</a:t>
            </a:r>
          </a:p>
        </p:txBody>
      </p:sp>
      <p:sp>
        <p:nvSpPr>
          <p:cNvPr id="21" name="TextBox 20"/>
          <p:cNvSpPr txBox="1"/>
          <p:nvPr/>
        </p:nvSpPr>
        <p:spPr>
          <a:xfrm>
            <a:off x="1097280" y="3611880"/>
            <a:ext cx="22860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Claude Max</a:t>
            </a:r>
          </a:p>
        </p:txBody>
      </p:sp>
      <p:sp>
        <p:nvSpPr>
          <p:cNvPr id="22" name="TextBox 21"/>
          <p:cNvSpPr txBox="1"/>
          <p:nvPr/>
        </p:nvSpPr>
        <p:spPr>
          <a:xfrm>
            <a:off x="3474720" y="3611880"/>
            <a:ext cx="1371600" cy="274320"/>
          </a:xfrm>
          <a:prstGeom prst="rect">
            <a:avLst/>
          </a:prstGeom>
          <a:noFill/>
        </p:spPr>
        <p:txBody>
          <a:bodyPr wrap="square">
            <a:spAutoFit/>
          </a:bodyPr>
          <a:lstStyle/>
          <a:p>
            <a:pPr algn="l">
              <a:lnSpc>
                <a:spcPts val="1439"/>
              </a:lnSpc>
              <a:spcAft>
                <a:spcPts val="0"/>
              </a:spcAft>
              <a:defRPr sz="1200" b="0">
                <a:solidFill>
                  <a:srgbClr val="6E6E73"/>
                </a:solidFill>
                <a:latin typeface="Calibri"/>
              </a:defRPr>
            </a:pPr>
            <a:r>
              <a:t>Anthropic</a:t>
            </a:r>
          </a:p>
        </p:txBody>
      </p:sp>
      <p:sp>
        <p:nvSpPr>
          <p:cNvPr id="23" name="TextBox 22"/>
          <p:cNvSpPr txBox="1"/>
          <p:nvPr/>
        </p:nvSpPr>
        <p:spPr>
          <a:xfrm>
            <a:off x="5303520" y="3611880"/>
            <a:ext cx="27432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$100 → $200</a:t>
            </a:r>
          </a:p>
        </p:txBody>
      </p:sp>
      <p:sp>
        <p:nvSpPr>
          <p:cNvPr id="24" name="TextBox 23"/>
          <p:cNvSpPr txBox="1"/>
          <p:nvPr/>
        </p:nvSpPr>
        <p:spPr>
          <a:xfrm>
            <a:off x="8686800" y="3611880"/>
            <a:ext cx="1371600" cy="274320"/>
          </a:xfrm>
          <a:prstGeom prst="rect">
            <a:avLst/>
          </a:prstGeom>
          <a:noFill/>
        </p:spPr>
        <p:txBody>
          <a:bodyPr wrap="square">
            <a:spAutoFit/>
          </a:bodyPr>
          <a:lstStyle/>
          <a:p>
            <a:pPr algn="l">
              <a:lnSpc>
                <a:spcPts val="1800"/>
              </a:lnSpc>
              <a:spcAft>
                <a:spcPts val="0"/>
              </a:spcAft>
              <a:defRPr sz="1500" b="1">
                <a:solidFill>
                  <a:srgbClr val="D32F2F"/>
                </a:solidFill>
                <a:latin typeface="Calibri"/>
              </a:defRPr>
            </a:pPr>
            <a:r>
              <a:t>+100%</a:t>
            </a:r>
          </a:p>
        </p:txBody>
      </p:sp>
      <p:sp>
        <p:nvSpPr>
          <p:cNvPr id="25" name="TextBox 24"/>
          <p:cNvSpPr txBox="1"/>
          <p:nvPr/>
        </p:nvSpPr>
        <p:spPr>
          <a:xfrm>
            <a:off x="1097280" y="3995928"/>
            <a:ext cx="22860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Runway Pro</a:t>
            </a:r>
          </a:p>
        </p:txBody>
      </p:sp>
      <p:sp>
        <p:nvSpPr>
          <p:cNvPr id="26" name="TextBox 25"/>
          <p:cNvSpPr txBox="1"/>
          <p:nvPr/>
        </p:nvSpPr>
        <p:spPr>
          <a:xfrm>
            <a:off x="3474720" y="3995928"/>
            <a:ext cx="1371600" cy="274320"/>
          </a:xfrm>
          <a:prstGeom prst="rect">
            <a:avLst/>
          </a:prstGeom>
          <a:noFill/>
        </p:spPr>
        <p:txBody>
          <a:bodyPr wrap="square">
            <a:spAutoFit/>
          </a:bodyPr>
          <a:lstStyle/>
          <a:p>
            <a:pPr algn="l">
              <a:lnSpc>
                <a:spcPts val="1439"/>
              </a:lnSpc>
              <a:spcAft>
                <a:spcPts val="0"/>
              </a:spcAft>
              <a:defRPr sz="1200" b="0">
                <a:solidFill>
                  <a:srgbClr val="6E6E73"/>
                </a:solidFill>
                <a:latin typeface="Calibri"/>
              </a:defRPr>
            </a:pPr>
            <a:r>
              <a:t>Runway</a:t>
            </a:r>
          </a:p>
        </p:txBody>
      </p:sp>
      <p:sp>
        <p:nvSpPr>
          <p:cNvPr id="27" name="TextBox 26"/>
          <p:cNvSpPr txBox="1"/>
          <p:nvPr/>
        </p:nvSpPr>
        <p:spPr>
          <a:xfrm>
            <a:off x="5303520" y="3995928"/>
            <a:ext cx="27432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$15 → $35</a:t>
            </a:r>
          </a:p>
        </p:txBody>
      </p:sp>
      <p:sp>
        <p:nvSpPr>
          <p:cNvPr id="28" name="TextBox 27"/>
          <p:cNvSpPr txBox="1"/>
          <p:nvPr/>
        </p:nvSpPr>
        <p:spPr>
          <a:xfrm>
            <a:off x="8686800" y="3995928"/>
            <a:ext cx="1371600" cy="274320"/>
          </a:xfrm>
          <a:prstGeom prst="rect">
            <a:avLst/>
          </a:prstGeom>
          <a:noFill/>
        </p:spPr>
        <p:txBody>
          <a:bodyPr wrap="square">
            <a:spAutoFit/>
          </a:bodyPr>
          <a:lstStyle/>
          <a:p>
            <a:pPr algn="l">
              <a:lnSpc>
                <a:spcPts val="1800"/>
              </a:lnSpc>
              <a:spcAft>
                <a:spcPts val="0"/>
              </a:spcAft>
              <a:defRPr sz="1500" b="1">
                <a:solidFill>
                  <a:srgbClr val="D32F2F"/>
                </a:solidFill>
                <a:latin typeface="Calibri"/>
              </a:defRPr>
            </a:pPr>
            <a:r>
              <a:t>+133%</a:t>
            </a:r>
          </a:p>
        </p:txBody>
      </p:sp>
      <p:sp>
        <p:nvSpPr>
          <p:cNvPr id="29" name="TextBox 28"/>
          <p:cNvSpPr txBox="1"/>
          <p:nvPr/>
        </p:nvSpPr>
        <p:spPr>
          <a:xfrm>
            <a:off x="1097280" y="4379976"/>
            <a:ext cx="22860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Adobe Firefly</a:t>
            </a:r>
          </a:p>
        </p:txBody>
      </p:sp>
      <p:sp>
        <p:nvSpPr>
          <p:cNvPr id="30" name="TextBox 29"/>
          <p:cNvSpPr txBox="1"/>
          <p:nvPr/>
        </p:nvSpPr>
        <p:spPr>
          <a:xfrm>
            <a:off x="3474720" y="4379976"/>
            <a:ext cx="1371600" cy="274320"/>
          </a:xfrm>
          <a:prstGeom prst="rect">
            <a:avLst/>
          </a:prstGeom>
          <a:noFill/>
        </p:spPr>
        <p:txBody>
          <a:bodyPr wrap="square">
            <a:spAutoFit/>
          </a:bodyPr>
          <a:lstStyle/>
          <a:p>
            <a:pPr algn="l">
              <a:lnSpc>
                <a:spcPts val="1439"/>
              </a:lnSpc>
              <a:spcAft>
                <a:spcPts val="0"/>
              </a:spcAft>
              <a:defRPr sz="1200" b="0">
                <a:solidFill>
                  <a:srgbClr val="6E6E73"/>
                </a:solidFill>
                <a:latin typeface="Calibri"/>
              </a:defRPr>
            </a:pPr>
            <a:r>
              <a:t>Adobe</a:t>
            </a:r>
          </a:p>
        </p:txBody>
      </p:sp>
      <p:sp>
        <p:nvSpPr>
          <p:cNvPr id="31" name="TextBox 30"/>
          <p:cNvSpPr txBox="1"/>
          <p:nvPr/>
        </p:nvSpPr>
        <p:spPr>
          <a:xfrm>
            <a:off x="5303520" y="4379976"/>
            <a:ext cx="27432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$4.99 → $9.99</a:t>
            </a:r>
          </a:p>
        </p:txBody>
      </p:sp>
      <p:sp>
        <p:nvSpPr>
          <p:cNvPr id="32" name="TextBox 31"/>
          <p:cNvSpPr txBox="1"/>
          <p:nvPr/>
        </p:nvSpPr>
        <p:spPr>
          <a:xfrm>
            <a:off x="8686800" y="4379976"/>
            <a:ext cx="1371600" cy="274320"/>
          </a:xfrm>
          <a:prstGeom prst="rect">
            <a:avLst/>
          </a:prstGeom>
          <a:noFill/>
        </p:spPr>
        <p:txBody>
          <a:bodyPr wrap="square">
            <a:spAutoFit/>
          </a:bodyPr>
          <a:lstStyle/>
          <a:p>
            <a:pPr algn="l">
              <a:lnSpc>
                <a:spcPts val="1800"/>
              </a:lnSpc>
              <a:spcAft>
                <a:spcPts val="0"/>
              </a:spcAft>
              <a:defRPr sz="1500" b="1">
                <a:solidFill>
                  <a:srgbClr val="D32F2F"/>
                </a:solidFill>
                <a:latin typeface="Calibri"/>
              </a:defRPr>
            </a:pPr>
            <a:r>
              <a:t>+100%</a:t>
            </a:r>
          </a:p>
        </p:txBody>
      </p:sp>
      <p:sp>
        <p:nvSpPr>
          <p:cNvPr id="33" name="TextBox 32"/>
          <p:cNvSpPr txBox="1"/>
          <p:nvPr/>
        </p:nvSpPr>
        <p:spPr>
          <a:xfrm>
            <a:off x="1097280" y="4764024"/>
            <a:ext cx="22860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Jasper Creator</a:t>
            </a:r>
          </a:p>
        </p:txBody>
      </p:sp>
      <p:sp>
        <p:nvSpPr>
          <p:cNvPr id="34" name="TextBox 33"/>
          <p:cNvSpPr txBox="1"/>
          <p:nvPr/>
        </p:nvSpPr>
        <p:spPr>
          <a:xfrm>
            <a:off x="3474720" y="4764024"/>
            <a:ext cx="1371600" cy="274320"/>
          </a:xfrm>
          <a:prstGeom prst="rect">
            <a:avLst/>
          </a:prstGeom>
          <a:noFill/>
        </p:spPr>
        <p:txBody>
          <a:bodyPr wrap="square">
            <a:spAutoFit/>
          </a:bodyPr>
          <a:lstStyle/>
          <a:p>
            <a:pPr algn="l">
              <a:lnSpc>
                <a:spcPts val="1439"/>
              </a:lnSpc>
              <a:spcAft>
                <a:spcPts val="0"/>
              </a:spcAft>
              <a:defRPr sz="1200" b="0">
                <a:solidFill>
                  <a:srgbClr val="6E6E73"/>
                </a:solidFill>
                <a:latin typeface="Calibri"/>
              </a:defRPr>
            </a:pPr>
            <a:r>
              <a:t>Jasper</a:t>
            </a:r>
          </a:p>
        </p:txBody>
      </p:sp>
      <p:sp>
        <p:nvSpPr>
          <p:cNvPr id="35" name="TextBox 34"/>
          <p:cNvSpPr txBox="1"/>
          <p:nvPr/>
        </p:nvSpPr>
        <p:spPr>
          <a:xfrm>
            <a:off x="5303520" y="4764024"/>
            <a:ext cx="27432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$40 → $49</a:t>
            </a:r>
          </a:p>
        </p:txBody>
      </p:sp>
      <p:sp>
        <p:nvSpPr>
          <p:cNvPr id="36" name="TextBox 35"/>
          <p:cNvSpPr txBox="1"/>
          <p:nvPr/>
        </p:nvSpPr>
        <p:spPr>
          <a:xfrm>
            <a:off x="8686800" y="4764024"/>
            <a:ext cx="1371600" cy="274320"/>
          </a:xfrm>
          <a:prstGeom prst="rect">
            <a:avLst/>
          </a:prstGeom>
          <a:noFill/>
        </p:spPr>
        <p:txBody>
          <a:bodyPr wrap="square">
            <a:spAutoFit/>
          </a:bodyPr>
          <a:lstStyle/>
          <a:p>
            <a:pPr algn="l">
              <a:lnSpc>
                <a:spcPts val="1800"/>
              </a:lnSpc>
              <a:spcAft>
                <a:spcPts val="0"/>
              </a:spcAft>
              <a:defRPr sz="1500" b="1">
                <a:solidFill>
                  <a:srgbClr val="FF9500"/>
                </a:solidFill>
                <a:latin typeface="Calibri"/>
              </a:defRPr>
            </a:pPr>
            <a:r>
              <a:t>+22.5%</a:t>
            </a:r>
          </a:p>
        </p:txBody>
      </p:sp>
      <p:sp>
        <p:nvSpPr>
          <p:cNvPr id="37" name="TextBox 36"/>
          <p:cNvSpPr txBox="1"/>
          <p:nvPr/>
        </p:nvSpPr>
        <p:spPr>
          <a:xfrm>
            <a:off x="1097280" y="5148072"/>
            <a:ext cx="22860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ChatGPT Plus</a:t>
            </a:r>
          </a:p>
        </p:txBody>
      </p:sp>
      <p:sp>
        <p:nvSpPr>
          <p:cNvPr id="38" name="TextBox 37"/>
          <p:cNvSpPr txBox="1"/>
          <p:nvPr/>
        </p:nvSpPr>
        <p:spPr>
          <a:xfrm>
            <a:off x="3474720" y="5148072"/>
            <a:ext cx="1371600" cy="274320"/>
          </a:xfrm>
          <a:prstGeom prst="rect">
            <a:avLst/>
          </a:prstGeom>
          <a:noFill/>
        </p:spPr>
        <p:txBody>
          <a:bodyPr wrap="square">
            <a:spAutoFit/>
          </a:bodyPr>
          <a:lstStyle/>
          <a:p>
            <a:pPr algn="l">
              <a:lnSpc>
                <a:spcPts val="1439"/>
              </a:lnSpc>
              <a:spcAft>
                <a:spcPts val="0"/>
              </a:spcAft>
              <a:defRPr sz="1200" b="0">
                <a:solidFill>
                  <a:srgbClr val="6E6E73"/>
                </a:solidFill>
                <a:latin typeface="Calibri"/>
              </a:defRPr>
            </a:pPr>
            <a:r>
              <a:t>OpenAI</a:t>
            </a:r>
          </a:p>
        </p:txBody>
      </p:sp>
      <p:sp>
        <p:nvSpPr>
          <p:cNvPr id="39" name="TextBox 38"/>
          <p:cNvSpPr txBox="1"/>
          <p:nvPr/>
        </p:nvSpPr>
        <p:spPr>
          <a:xfrm>
            <a:off x="5303520" y="5148072"/>
            <a:ext cx="27432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$20 → $20</a:t>
            </a:r>
          </a:p>
        </p:txBody>
      </p:sp>
      <p:sp>
        <p:nvSpPr>
          <p:cNvPr id="40" name="TextBox 39"/>
          <p:cNvSpPr txBox="1"/>
          <p:nvPr/>
        </p:nvSpPr>
        <p:spPr>
          <a:xfrm>
            <a:off x="8686800" y="5148072"/>
            <a:ext cx="1371600" cy="274320"/>
          </a:xfrm>
          <a:prstGeom prst="rect">
            <a:avLst/>
          </a:prstGeom>
          <a:noFill/>
        </p:spPr>
        <p:txBody>
          <a:bodyPr wrap="square">
            <a:spAutoFit/>
          </a:bodyPr>
          <a:lstStyle/>
          <a:p>
            <a:pPr algn="l">
              <a:lnSpc>
                <a:spcPts val="1800"/>
              </a:lnSpc>
              <a:spcAft>
                <a:spcPts val="0"/>
              </a:spcAft>
              <a:defRPr sz="1500" b="1">
                <a:solidFill>
                  <a:srgbClr val="34C759"/>
                </a:solidFill>
                <a:latin typeface="Calibri"/>
              </a:defRPr>
            </a:pPr>
            <a:r>
              <a:t>0%</a:t>
            </a:r>
          </a:p>
        </p:txBody>
      </p:sp>
      <p:sp>
        <p:nvSpPr>
          <p:cNvPr id="41" name="TextBox 40"/>
          <p:cNvSpPr txBox="1"/>
          <p:nvPr/>
        </p:nvSpPr>
        <p:spPr>
          <a:xfrm>
            <a:off x="1097280" y="5532120"/>
            <a:ext cx="22860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GitHub Copilot</a:t>
            </a:r>
          </a:p>
        </p:txBody>
      </p:sp>
      <p:sp>
        <p:nvSpPr>
          <p:cNvPr id="42" name="TextBox 41"/>
          <p:cNvSpPr txBox="1"/>
          <p:nvPr/>
        </p:nvSpPr>
        <p:spPr>
          <a:xfrm>
            <a:off x="3474720" y="5532120"/>
            <a:ext cx="1371600" cy="274320"/>
          </a:xfrm>
          <a:prstGeom prst="rect">
            <a:avLst/>
          </a:prstGeom>
          <a:noFill/>
        </p:spPr>
        <p:txBody>
          <a:bodyPr wrap="square">
            <a:spAutoFit/>
          </a:bodyPr>
          <a:lstStyle/>
          <a:p>
            <a:pPr algn="l">
              <a:lnSpc>
                <a:spcPts val="1439"/>
              </a:lnSpc>
              <a:spcAft>
                <a:spcPts val="0"/>
              </a:spcAft>
              <a:defRPr sz="1200" b="0">
                <a:solidFill>
                  <a:srgbClr val="6E6E73"/>
                </a:solidFill>
                <a:latin typeface="Calibri"/>
              </a:defRPr>
            </a:pPr>
            <a:r>
              <a:t>GitHub</a:t>
            </a:r>
          </a:p>
        </p:txBody>
      </p:sp>
      <p:sp>
        <p:nvSpPr>
          <p:cNvPr id="43" name="TextBox 42"/>
          <p:cNvSpPr txBox="1"/>
          <p:nvPr/>
        </p:nvSpPr>
        <p:spPr>
          <a:xfrm>
            <a:off x="5303520" y="5532120"/>
            <a:ext cx="27432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$10 → $10</a:t>
            </a:r>
          </a:p>
        </p:txBody>
      </p:sp>
      <p:sp>
        <p:nvSpPr>
          <p:cNvPr id="44" name="TextBox 43"/>
          <p:cNvSpPr txBox="1"/>
          <p:nvPr/>
        </p:nvSpPr>
        <p:spPr>
          <a:xfrm>
            <a:off x="8686800" y="5532120"/>
            <a:ext cx="1371600" cy="274320"/>
          </a:xfrm>
          <a:prstGeom prst="rect">
            <a:avLst/>
          </a:prstGeom>
          <a:noFill/>
        </p:spPr>
        <p:txBody>
          <a:bodyPr wrap="square">
            <a:spAutoFit/>
          </a:bodyPr>
          <a:lstStyle/>
          <a:p>
            <a:pPr algn="l">
              <a:lnSpc>
                <a:spcPts val="1800"/>
              </a:lnSpc>
              <a:spcAft>
                <a:spcPts val="0"/>
              </a:spcAft>
              <a:defRPr sz="1500" b="1">
                <a:solidFill>
                  <a:srgbClr val="34C759"/>
                </a:solidFill>
                <a:latin typeface="Calibri"/>
              </a:defRPr>
            </a:pPr>
            <a:r>
              <a:t>0%</a:t>
            </a:r>
          </a:p>
        </p:txBody>
      </p:sp>
      <p:sp>
        <p:nvSpPr>
          <p:cNvPr id="45" name="TextBox 44"/>
          <p:cNvSpPr txBox="1"/>
          <p:nvPr/>
        </p:nvSpPr>
        <p:spPr>
          <a:xfrm>
            <a:off x="914400" y="6126480"/>
            <a:ext cx="10058400" cy="274320"/>
          </a:xfrm>
          <a:prstGeom prst="rect">
            <a:avLst/>
          </a:prstGeom>
          <a:noFill/>
        </p:spPr>
        <p:txBody>
          <a:bodyPr wrap="square">
            <a:spAutoFit/>
          </a:bodyPr>
          <a:lstStyle/>
          <a:p>
            <a:pPr algn="l">
              <a:lnSpc>
                <a:spcPts val="1200"/>
              </a:lnSpc>
              <a:spcAft>
                <a:spcPts val="0"/>
              </a:spcAft>
              <a:defRPr sz="1000" b="0">
                <a:solidFill>
                  <a:srgbClr val="AEAEB2"/>
                </a:solidFill>
                <a:latin typeface="Calibri"/>
              </a:defRPr>
            </a:pPr>
            <a:r>
              <a:t>Source: Official pricing pages as of June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CAUSAL CHAIN: WHY YOUR LAPTOP COSTS MORE</a:t>
            </a:r>
          </a:p>
        </p:txBody>
      </p:sp>
      <p:sp>
        <p:nvSpPr>
          <p:cNvPr id="3" name="TextBox 2"/>
          <p:cNvSpPr txBox="1"/>
          <p:nvPr/>
        </p:nvSpPr>
        <p:spPr>
          <a:xfrm>
            <a:off x="914400" y="1005840"/>
            <a:ext cx="9144000" cy="548640"/>
          </a:xfrm>
          <a:prstGeom prst="rect">
            <a:avLst/>
          </a:prstGeom>
          <a:noFill/>
        </p:spPr>
        <p:txBody>
          <a:bodyPr wrap="square">
            <a:spAutoFit/>
          </a:bodyPr>
          <a:lstStyle/>
          <a:p>
            <a:pPr algn="l">
              <a:lnSpc>
                <a:spcPts val="2879"/>
              </a:lnSpc>
              <a:spcAft>
                <a:spcPts val="0"/>
              </a:spcAft>
              <a:defRPr sz="2400" b="1">
                <a:solidFill>
                  <a:srgbClr val="1D1D1F"/>
                </a:solidFill>
                <a:latin typeface="Calibri"/>
              </a:defRPr>
            </a:pPr>
            <a:r>
              <a:t>Tracing the AI-driven dependency chain</a:t>
            </a:r>
          </a:p>
        </p:txBody>
      </p:sp>
      <p:sp>
        <p:nvSpPr>
          <p:cNvPr id="4" name="Oval 3"/>
          <p:cNvSpPr/>
          <p:nvPr/>
        </p:nvSpPr>
        <p:spPr>
          <a:xfrm>
            <a:off x="1188720" y="1810512"/>
            <a:ext cx="164592" cy="164592"/>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61872" y="1975104"/>
            <a:ext cx="25400" cy="438912"/>
          </a:xfrm>
          <a:prstGeom prst="rect">
            <a:avLst/>
          </a:prstGeom>
          <a:solidFill>
            <a:srgbClr val="E5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1737360"/>
            <a:ext cx="36576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Higher enterprise AI adoption</a:t>
            </a:r>
          </a:p>
        </p:txBody>
      </p:sp>
      <p:sp>
        <p:nvSpPr>
          <p:cNvPr id="7" name="TextBox 6"/>
          <p:cNvSpPr txBox="1"/>
          <p:nvPr/>
        </p:nvSpPr>
        <p:spPr>
          <a:xfrm>
            <a:off x="5486400" y="1737360"/>
            <a:ext cx="4114800" cy="274320"/>
          </a:xfrm>
          <a:prstGeom prst="rect">
            <a:avLst/>
          </a:prstGeom>
          <a:noFill/>
        </p:spPr>
        <p:txBody>
          <a:bodyPr wrap="square">
            <a:spAutoFit/>
          </a:bodyPr>
          <a:lstStyle/>
          <a:p>
            <a:pPr algn="l">
              <a:lnSpc>
                <a:spcPts val="1320"/>
              </a:lnSpc>
              <a:spcAft>
                <a:spcPts val="0"/>
              </a:spcAft>
              <a:defRPr sz="1100" b="0">
                <a:solidFill>
                  <a:srgbClr val="6E6E73"/>
                </a:solidFill>
                <a:latin typeface="Calibri"/>
              </a:defRPr>
            </a:pPr>
            <a:r>
              <a:t>Enterprise AI spending up 62% YoY (IDC)</a:t>
            </a:r>
          </a:p>
        </p:txBody>
      </p:sp>
      <p:sp>
        <p:nvSpPr>
          <p:cNvPr id="8" name="TextBox 7"/>
          <p:cNvSpPr txBox="1"/>
          <p:nvPr/>
        </p:nvSpPr>
        <p:spPr>
          <a:xfrm>
            <a:off x="9875520" y="1737360"/>
            <a:ext cx="914400" cy="274320"/>
          </a:xfrm>
          <a:prstGeom prst="rect">
            <a:avLst/>
          </a:prstGeom>
          <a:noFill/>
        </p:spPr>
        <p:txBody>
          <a:bodyPr wrap="square">
            <a:spAutoFit/>
          </a:bodyPr>
          <a:lstStyle/>
          <a:p>
            <a:pPr algn="r">
              <a:lnSpc>
                <a:spcPts val="1439"/>
              </a:lnSpc>
              <a:spcAft>
                <a:spcPts val="0"/>
              </a:spcAft>
              <a:defRPr sz="1200" b="1">
                <a:solidFill>
                  <a:srgbClr val="0066CC"/>
                </a:solidFill>
                <a:latin typeface="Calibri"/>
              </a:defRPr>
            </a:pPr>
            <a:r>
              <a:t>92%</a:t>
            </a:r>
          </a:p>
        </p:txBody>
      </p:sp>
      <p:sp>
        <p:nvSpPr>
          <p:cNvPr id="9" name="Oval 8"/>
          <p:cNvSpPr/>
          <p:nvPr/>
        </p:nvSpPr>
        <p:spPr>
          <a:xfrm>
            <a:off x="1188720" y="2432304"/>
            <a:ext cx="164592" cy="164592"/>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61872" y="2596896"/>
            <a:ext cx="25400" cy="438912"/>
          </a:xfrm>
          <a:prstGeom prst="rect">
            <a:avLst/>
          </a:prstGeom>
          <a:solidFill>
            <a:srgbClr val="E5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54480" y="2359152"/>
            <a:ext cx="36576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More GPU demand</a:t>
            </a:r>
          </a:p>
        </p:txBody>
      </p:sp>
      <p:sp>
        <p:nvSpPr>
          <p:cNvPr id="12" name="TextBox 11"/>
          <p:cNvSpPr txBox="1"/>
          <p:nvPr/>
        </p:nvSpPr>
        <p:spPr>
          <a:xfrm>
            <a:off x="5486400" y="2359152"/>
            <a:ext cx="4114800" cy="274320"/>
          </a:xfrm>
          <a:prstGeom prst="rect">
            <a:avLst/>
          </a:prstGeom>
          <a:noFill/>
        </p:spPr>
        <p:txBody>
          <a:bodyPr wrap="square">
            <a:spAutoFit/>
          </a:bodyPr>
          <a:lstStyle/>
          <a:p>
            <a:pPr algn="l">
              <a:lnSpc>
                <a:spcPts val="1320"/>
              </a:lnSpc>
              <a:spcAft>
                <a:spcPts val="0"/>
              </a:spcAft>
              <a:defRPr sz="1100" b="0">
                <a:solidFill>
                  <a:srgbClr val="6E6E73"/>
                </a:solidFill>
                <a:latin typeface="Calibri"/>
              </a:defRPr>
            </a:pPr>
            <a:r>
              <a:t>NVIDIA data center revenue up 122% (NVIDIA Q1 2026)</a:t>
            </a:r>
          </a:p>
        </p:txBody>
      </p:sp>
      <p:sp>
        <p:nvSpPr>
          <p:cNvPr id="13" name="TextBox 12"/>
          <p:cNvSpPr txBox="1"/>
          <p:nvPr/>
        </p:nvSpPr>
        <p:spPr>
          <a:xfrm>
            <a:off x="9875520" y="2359152"/>
            <a:ext cx="914400" cy="274320"/>
          </a:xfrm>
          <a:prstGeom prst="rect">
            <a:avLst/>
          </a:prstGeom>
          <a:noFill/>
        </p:spPr>
        <p:txBody>
          <a:bodyPr wrap="square">
            <a:spAutoFit/>
          </a:bodyPr>
          <a:lstStyle/>
          <a:p>
            <a:pPr algn="r">
              <a:lnSpc>
                <a:spcPts val="1439"/>
              </a:lnSpc>
              <a:spcAft>
                <a:spcPts val="0"/>
              </a:spcAft>
              <a:defRPr sz="1200" b="1">
                <a:solidFill>
                  <a:srgbClr val="0066CC"/>
                </a:solidFill>
                <a:latin typeface="Calibri"/>
              </a:defRPr>
            </a:pPr>
            <a:r>
              <a:t>95%</a:t>
            </a:r>
          </a:p>
        </p:txBody>
      </p:sp>
      <p:sp>
        <p:nvSpPr>
          <p:cNvPr id="14" name="Oval 13"/>
          <p:cNvSpPr/>
          <p:nvPr/>
        </p:nvSpPr>
        <p:spPr>
          <a:xfrm>
            <a:off x="1188720" y="3054096"/>
            <a:ext cx="164592" cy="164592"/>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61872" y="3218688"/>
            <a:ext cx="25400" cy="438912"/>
          </a:xfrm>
          <a:prstGeom prst="rect">
            <a:avLst/>
          </a:prstGeom>
          <a:solidFill>
            <a:srgbClr val="E5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54480" y="2980944"/>
            <a:ext cx="36576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HBM memory shortages</a:t>
            </a:r>
          </a:p>
        </p:txBody>
      </p:sp>
      <p:sp>
        <p:nvSpPr>
          <p:cNvPr id="17" name="TextBox 16"/>
          <p:cNvSpPr txBox="1"/>
          <p:nvPr/>
        </p:nvSpPr>
        <p:spPr>
          <a:xfrm>
            <a:off x="5486400" y="2980944"/>
            <a:ext cx="4114800" cy="274320"/>
          </a:xfrm>
          <a:prstGeom prst="rect">
            <a:avLst/>
          </a:prstGeom>
          <a:noFill/>
        </p:spPr>
        <p:txBody>
          <a:bodyPr wrap="square">
            <a:spAutoFit/>
          </a:bodyPr>
          <a:lstStyle/>
          <a:p>
            <a:pPr algn="l">
              <a:lnSpc>
                <a:spcPts val="1320"/>
              </a:lnSpc>
              <a:spcAft>
                <a:spcPts val="0"/>
              </a:spcAft>
              <a:defRPr sz="1100" b="0">
                <a:solidFill>
                  <a:srgbClr val="6E6E73"/>
                </a:solidFill>
                <a:latin typeface="Calibri"/>
              </a:defRPr>
            </a:pPr>
            <a:r>
              <a:t>HBM production at 95% utilization (SK Hynix)</a:t>
            </a:r>
          </a:p>
        </p:txBody>
      </p:sp>
      <p:sp>
        <p:nvSpPr>
          <p:cNvPr id="18" name="TextBox 17"/>
          <p:cNvSpPr txBox="1"/>
          <p:nvPr/>
        </p:nvSpPr>
        <p:spPr>
          <a:xfrm>
            <a:off x="9875520" y="2980944"/>
            <a:ext cx="914400" cy="274320"/>
          </a:xfrm>
          <a:prstGeom prst="rect">
            <a:avLst/>
          </a:prstGeom>
          <a:noFill/>
        </p:spPr>
        <p:txBody>
          <a:bodyPr wrap="square">
            <a:spAutoFit/>
          </a:bodyPr>
          <a:lstStyle/>
          <a:p>
            <a:pPr algn="r">
              <a:lnSpc>
                <a:spcPts val="1439"/>
              </a:lnSpc>
              <a:spcAft>
                <a:spcPts val="0"/>
              </a:spcAft>
              <a:defRPr sz="1200" b="1">
                <a:solidFill>
                  <a:srgbClr val="0066CC"/>
                </a:solidFill>
                <a:latin typeface="Calibri"/>
              </a:defRPr>
            </a:pPr>
            <a:r>
              <a:t>88%</a:t>
            </a:r>
          </a:p>
        </p:txBody>
      </p:sp>
      <p:sp>
        <p:nvSpPr>
          <p:cNvPr id="19" name="Oval 18"/>
          <p:cNvSpPr/>
          <p:nvPr/>
        </p:nvSpPr>
        <p:spPr>
          <a:xfrm>
            <a:off x="1188720" y="3675888"/>
            <a:ext cx="164592" cy="164592"/>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61872" y="3840480"/>
            <a:ext cx="25400" cy="438912"/>
          </a:xfrm>
          <a:prstGeom prst="rect">
            <a:avLst/>
          </a:prstGeom>
          <a:solidFill>
            <a:srgbClr val="E5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54480" y="3602736"/>
            <a:ext cx="36576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Server manufacturing costs rise</a:t>
            </a:r>
          </a:p>
        </p:txBody>
      </p:sp>
      <p:sp>
        <p:nvSpPr>
          <p:cNvPr id="22" name="TextBox 21"/>
          <p:cNvSpPr txBox="1"/>
          <p:nvPr/>
        </p:nvSpPr>
        <p:spPr>
          <a:xfrm>
            <a:off x="5486400" y="3602736"/>
            <a:ext cx="4114800" cy="274320"/>
          </a:xfrm>
          <a:prstGeom prst="rect">
            <a:avLst/>
          </a:prstGeom>
          <a:noFill/>
        </p:spPr>
        <p:txBody>
          <a:bodyPr wrap="square">
            <a:spAutoFit/>
          </a:bodyPr>
          <a:lstStyle/>
          <a:p>
            <a:pPr algn="l">
              <a:lnSpc>
                <a:spcPts val="1320"/>
              </a:lnSpc>
              <a:spcAft>
                <a:spcPts val="0"/>
              </a:spcAft>
              <a:defRPr sz="1100" b="0">
                <a:solidFill>
                  <a:srgbClr val="6E6E73"/>
                </a:solidFill>
                <a:latin typeface="Calibri"/>
              </a:defRPr>
            </a:pPr>
            <a:r>
              <a:t>Server ASP up 18% YoY (IDC)</a:t>
            </a:r>
          </a:p>
        </p:txBody>
      </p:sp>
      <p:sp>
        <p:nvSpPr>
          <p:cNvPr id="23" name="TextBox 22"/>
          <p:cNvSpPr txBox="1"/>
          <p:nvPr/>
        </p:nvSpPr>
        <p:spPr>
          <a:xfrm>
            <a:off x="9875520" y="3602736"/>
            <a:ext cx="914400" cy="274320"/>
          </a:xfrm>
          <a:prstGeom prst="rect">
            <a:avLst/>
          </a:prstGeom>
          <a:noFill/>
        </p:spPr>
        <p:txBody>
          <a:bodyPr wrap="square">
            <a:spAutoFit/>
          </a:bodyPr>
          <a:lstStyle/>
          <a:p>
            <a:pPr algn="r">
              <a:lnSpc>
                <a:spcPts val="1439"/>
              </a:lnSpc>
              <a:spcAft>
                <a:spcPts val="0"/>
              </a:spcAft>
              <a:defRPr sz="1200" b="1">
                <a:solidFill>
                  <a:srgbClr val="0066CC"/>
                </a:solidFill>
                <a:latin typeface="Calibri"/>
              </a:defRPr>
            </a:pPr>
            <a:r>
              <a:t>85%</a:t>
            </a:r>
          </a:p>
        </p:txBody>
      </p:sp>
      <p:sp>
        <p:nvSpPr>
          <p:cNvPr id="24" name="Oval 23"/>
          <p:cNvSpPr/>
          <p:nvPr/>
        </p:nvSpPr>
        <p:spPr>
          <a:xfrm>
            <a:off x="1188720" y="4297680"/>
            <a:ext cx="164592" cy="164592"/>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61872" y="4462272"/>
            <a:ext cx="25400" cy="438912"/>
          </a:xfrm>
          <a:prstGeom prst="rect">
            <a:avLst/>
          </a:prstGeom>
          <a:solidFill>
            <a:srgbClr val="E5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4480" y="4224528"/>
            <a:ext cx="36576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Component allocation shifts to AI</a:t>
            </a:r>
          </a:p>
        </p:txBody>
      </p:sp>
      <p:sp>
        <p:nvSpPr>
          <p:cNvPr id="27" name="TextBox 26"/>
          <p:cNvSpPr txBox="1"/>
          <p:nvPr/>
        </p:nvSpPr>
        <p:spPr>
          <a:xfrm>
            <a:off x="5486400" y="4224528"/>
            <a:ext cx="4114800" cy="274320"/>
          </a:xfrm>
          <a:prstGeom prst="rect">
            <a:avLst/>
          </a:prstGeom>
          <a:noFill/>
        </p:spPr>
        <p:txBody>
          <a:bodyPr wrap="square">
            <a:spAutoFit/>
          </a:bodyPr>
          <a:lstStyle/>
          <a:p>
            <a:pPr algn="l">
              <a:lnSpc>
                <a:spcPts val="1320"/>
              </a:lnSpc>
              <a:spcAft>
                <a:spcPts val="0"/>
              </a:spcAft>
              <a:defRPr sz="1100" b="0">
                <a:solidFill>
                  <a:srgbClr val="6E6E73"/>
                </a:solidFill>
                <a:latin typeface="Calibri"/>
              </a:defRPr>
            </a:pPr>
            <a:r>
              <a:t>DRAM allocation to servers up from 35% to 42%</a:t>
            </a:r>
          </a:p>
        </p:txBody>
      </p:sp>
      <p:sp>
        <p:nvSpPr>
          <p:cNvPr id="28" name="TextBox 27"/>
          <p:cNvSpPr txBox="1"/>
          <p:nvPr/>
        </p:nvSpPr>
        <p:spPr>
          <a:xfrm>
            <a:off x="9875520" y="4224528"/>
            <a:ext cx="914400" cy="274320"/>
          </a:xfrm>
          <a:prstGeom prst="rect">
            <a:avLst/>
          </a:prstGeom>
          <a:noFill/>
        </p:spPr>
        <p:txBody>
          <a:bodyPr wrap="square">
            <a:spAutoFit/>
          </a:bodyPr>
          <a:lstStyle/>
          <a:p>
            <a:pPr algn="r">
              <a:lnSpc>
                <a:spcPts val="1439"/>
              </a:lnSpc>
              <a:spcAft>
                <a:spcPts val="0"/>
              </a:spcAft>
              <a:defRPr sz="1200" b="1">
                <a:solidFill>
                  <a:srgbClr val="0066CC"/>
                </a:solidFill>
                <a:latin typeface="Calibri"/>
              </a:defRPr>
            </a:pPr>
            <a:r>
              <a:t>82%</a:t>
            </a:r>
          </a:p>
        </p:txBody>
      </p:sp>
      <p:sp>
        <p:nvSpPr>
          <p:cNvPr id="29" name="Oval 28"/>
          <p:cNvSpPr/>
          <p:nvPr/>
        </p:nvSpPr>
        <p:spPr>
          <a:xfrm>
            <a:off x="1188720" y="4919472"/>
            <a:ext cx="164592" cy="164592"/>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61872" y="5084064"/>
            <a:ext cx="25400" cy="438912"/>
          </a:xfrm>
          <a:prstGeom prst="rect">
            <a:avLst/>
          </a:prstGeom>
          <a:solidFill>
            <a:srgbClr val="E5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54480" y="4846320"/>
            <a:ext cx="36576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Consumer laptop costs increase</a:t>
            </a:r>
          </a:p>
        </p:txBody>
      </p:sp>
      <p:sp>
        <p:nvSpPr>
          <p:cNvPr id="32" name="TextBox 31"/>
          <p:cNvSpPr txBox="1"/>
          <p:nvPr/>
        </p:nvSpPr>
        <p:spPr>
          <a:xfrm>
            <a:off x="5486400" y="4846320"/>
            <a:ext cx="4114800" cy="274320"/>
          </a:xfrm>
          <a:prstGeom prst="rect">
            <a:avLst/>
          </a:prstGeom>
          <a:noFill/>
        </p:spPr>
        <p:txBody>
          <a:bodyPr wrap="square">
            <a:spAutoFit/>
          </a:bodyPr>
          <a:lstStyle/>
          <a:p>
            <a:pPr algn="l">
              <a:lnSpc>
                <a:spcPts val="1320"/>
              </a:lnSpc>
              <a:spcAft>
                <a:spcPts val="0"/>
              </a:spcAft>
              <a:defRPr sz="1100" b="0">
                <a:solidFill>
                  <a:srgbClr val="6E6E73"/>
                </a:solidFill>
                <a:latin typeface="Calibri"/>
              </a:defRPr>
            </a:pPr>
            <a:r>
              <a:t>Notebook DRAM costs up 12% (DRAMeXchange)</a:t>
            </a:r>
          </a:p>
        </p:txBody>
      </p:sp>
      <p:sp>
        <p:nvSpPr>
          <p:cNvPr id="33" name="TextBox 32"/>
          <p:cNvSpPr txBox="1"/>
          <p:nvPr/>
        </p:nvSpPr>
        <p:spPr>
          <a:xfrm>
            <a:off x="9875520" y="4846320"/>
            <a:ext cx="914400" cy="274320"/>
          </a:xfrm>
          <a:prstGeom prst="rect">
            <a:avLst/>
          </a:prstGeom>
          <a:noFill/>
        </p:spPr>
        <p:txBody>
          <a:bodyPr wrap="square">
            <a:spAutoFit/>
          </a:bodyPr>
          <a:lstStyle/>
          <a:p>
            <a:pPr algn="r">
              <a:lnSpc>
                <a:spcPts val="1439"/>
              </a:lnSpc>
              <a:spcAft>
                <a:spcPts val="0"/>
              </a:spcAft>
              <a:defRPr sz="1200" b="1">
                <a:solidFill>
                  <a:srgbClr val="0066CC"/>
                </a:solidFill>
                <a:latin typeface="Calibri"/>
              </a:defRPr>
            </a:pPr>
            <a:r>
              <a:t>80%</a:t>
            </a:r>
          </a:p>
        </p:txBody>
      </p:sp>
      <p:sp>
        <p:nvSpPr>
          <p:cNvPr id="34" name="Oval 33"/>
          <p:cNvSpPr/>
          <p:nvPr/>
        </p:nvSpPr>
        <p:spPr>
          <a:xfrm>
            <a:off x="1188720" y="5541264"/>
            <a:ext cx="164592" cy="164592"/>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54480" y="5468112"/>
            <a:ext cx="3657600" cy="274320"/>
          </a:xfrm>
          <a:prstGeom prst="rect">
            <a:avLst/>
          </a:prstGeom>
          <a:noFill/>
        </p:spPr>
        <p:txBody>
          <a:bodyPr wrap="square">
            <a:spAutoFit/>
          </a:bodyPr>
          <a:lstStyle/>
          <a:p>
            <a:pPr algn="l">
              <a:lnSpc>
                <a:spcPts val="1680"/>
              </a:lnSpc>
              <a:spcAft>
                <a:spcPts val="0"/>
              </a:spcAft>
              <a:defRPr sz="1400" b="1">
                <a:solidFill>
                  <a:srgbClr val="1D1D1F"/>
                </a:solidFill>
                <a:latin typeface="Calibri"/>
              </a:defRPr>
            </a:pPr>
            <a:r>
              <a:t>Retail prices increase +9%</a:t>
            </a:r>
          </a:p>
        </p:txBody>
      </p:sp>
      <p:sp>
        <p:nvSpPr>
          <p:cNvPr id="36" name="TextBox 35"/>
          <p:cNvSpPr txBox="1"/>
          <p:nvPr/>
        </p:nvSpPr>
        <p:spPr>
          <a:xfrm>
            <a:off x="5486400" y="5468112"/>
            <a:ext cx="4114800" cy="274320"/>
          </a:xfrm>
          <a:prstGeom prst="rect">
            <a:avLst/>
          </a:prstGeom>
          <a:noFill/>
        </p:spPr>
        <p:txBody>
          <a:bodyPr wrap="square">
            <a:spAutoFit/>
          </a:bodyPr>
          <a:lstStyle/>
          <a:p>
            <a:pPr algn="l">
              <a:lnSpc>
                <a:spcPts val="1320"/>
              </a:lnSpc>
              <a:spcAft>
                <a:spcPts val="0"/>
              </a:spcAft>
              <a:defRPr sz="1100" b="0">
                <a:solidFill>
                  <a:srgbClr val="6E6E73"/>
                </a:solidFill>
                <a:latin typeface="Calibri"/>
              </a:defRPr>
            </a:pPr>
            <a:r>
              <a:t>Average laptop ASP $1,150 vs $1,055 prior year</a:t>
            </a:r>
          </a:p>
        </p:txBody>
      </p:sp>
      <p:sp>
        <p:nvSpPr>
          <p:cNvPr id="37" name="TextBox 36"/>
          <p:cNvSpPr txBox="1"/>
          <p:nvPr/>
        </p:nvSpPr>
        <p:spPr>
          <a:xfrm>
            <a:off x="9875520" y="5468112"/>
            <a:ext cx="914400" cy="274320"/>
          </a:xfrm>
          <a:prstGeom prst="rect">
            <a:avLst/>
          </a:prstGeom>
          <a:noFill/>
        </p:spPr>
        <p:txBody>
          <a:bodyPr wrap="square">
            <a:spAutoFit/>
          </a:bodyPr>
          <a:lstStyle/>
          <a:p>
            <a:pPr algn="r">
              <a:lnSpc>
                <a:spcPts val="1439"/>
              </a:lnSpc>
              <a:spcAft>
                <a:spcPts val="0"/>
              </a:spcAft>
              <a:defRPr sz="1200" b="1">
                <a:solidFill>
                  <a:srgbClr val="0066CC"/>
                </a:solidFill>
                <a:latin typeface="Calibri"/>
              </a:defRPr>
            </a:pPr>
            <a:r>
              <a:t>78%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METHODOLOGY &amp; DATA SOURCES</a:t>
            </a:r>
          </a:p>
        </p:txBody>
      </p:sp>
      <p:sp>
        <p:nvSpPr>
          <p:cNvPr id="3" name="TextBox 2"/>
          <p:cNvSpPr txBox="1"/>
          <p:nvPr/>
        </p:nvSpPr>
        <p:spPr>
          <a:xfrm>
            <a:off x="914400" y="1005840"/>
            <a:ext cx="9144000" cy="548640"/>
          </a:xfrm>
          <a:prstGeom prst="rect">
            <a:avLst/>
          </a:prstGeom>
          <a:noFill/>
        </p:spPr>
        <p:txBody>
          <a:bodyPr wrap="square">
            <a:spAutoFit/>
          </a:bodyPr>
          <a:lstStyle/>
          <a:p>
            <a:pPr algn="l">
              <a:lnSpc>
                <a:spcPts val="3360"/>
              </a:lnSpc>
              <a:spcAft>
                <a:spcPts val="0"/>
              </a:spcAft>
              <a:defRPr sz="2800" b="1">
                <a:solidFill>
                  <a:srgbClr val="1D1D1F"/>
                </a:solidFill>
                <a:latin typeface="Calibri"/>
              </a:defRPr>
            </a:pPr>
            <a:r>
              <a:t>Every number in this platform is traceable</a:t>
            </a:r>
          </a:p>
        </p:txBody>
      </p:sp>
      <p:sp>
        <p:nvSpPr>
          <p:cNvPr id="4" name="TextBox 3"/>
          <p:cNvSpPr txBox="1"/>
          <p:nvPr/>
        </p:nvSpPr>
        <p:spPr>
          <a:xfrm>
            <a:off x="914400" y="1737360"/>
            <a:ext cx="5029200" cy="320040"/>
          </a:xfrm>
          <a:prstGeom prst="rect">
            <a:avLst/>
          </a:prstGeom>
          <a:noFill/>
        </p:spPr>
        <p:txBody>
          <a:bodyPr wrap="square">
            <a:spAutoFit/>
          </a:bodyPr>
          <a:lstStyle/>
          <a:p>
            <a:pPr algn="l">
              <a:lnSpc>
                <a:spcPts val="1560"/>
              </a:lnSpc>
              <a:spcAft>
                <a:spcPts val="0"/>
              </a:spcAft>
              <a:defRPr sz="1300" b="1">
                <a:solidFill>
                  <a:srgbClr val="6E6E73"/>
                </a:solidFill>
                <a:latin typeface="Calibri"/>
              </a:defRPr>
            </a:pPr>
            <a:r>
              <a:t>COMPOSITE INDEX WEIGHTS</a:t>
            </a:r>
          </a:p>
        </p:txBody>
      </p:sp>
      <p:sp>
        <p:nvSpPr>
          <p:cNvPr id="5" name="TextBox 4"/>
          <p:cNvSpPr txBox="1"/>
          <p:nvPr/>
        </p:nvSpPr>
        <p:spPr>
          <a:xfrm>
            <a:off x="1097280" y="2194560"/>
            <a:ext cx="32004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Technology Hardware</a:t>
            </a:r>
          </a:p>
        </p:txBody>
      </p:sp>
      <p:sp>
        <p:nvSpPr>
          <p:cNvPr id="6" name="TextBox 5"/>
          <p:cNvSpPr txBox="1"/>
          <p:nvPr/>
        </p:nvSpPr>
        <p:spPr>
          <a:xfrm>
            <a:off x="4389120" y="2194560"/>
            <a:ext cx="914400" cy="274320"/>
          </a:xfrm>
          <a:prstGeom prst="rect">
            <a:avLst/>
          </a:prstGeom>
          <a:noFill/>
        </p:spPr>
        <p:txBody>
          <a:bodyPr wrap="square">
            <a:spAutoFit/>
          </a:bodyPr>
          <a:lstStyle/>
          <a:p>
            <a:pPr algn="r">
              <a:lnSpc>
                <a:spcPts val="1680"/>
              </a:lnSpc>
              <a:spcAft>
                <a:spcPts val="0"/>
              </a:spcAft>
              <a:defRPr sz="1400" b="1">
                <a:solidFill>
                  <a:srgbClr val="0066CC"/>
                </a:solidFill>
                <a:latin typeface="Calibri"/>
              </a:defRPr>
            </a:pPr>
            <a:r>
              <a:t>20%</a:t>
            </a:r>
          </a:p>
        </p:txBody>
      </p:sp>
      <p:sp>
        <p:nvSpPr>
          <p:cNvPr id="7" name="TextBox 6"/>
          <p:cNvSpPr txBox="1"/>
          <p:nvPr/>
        </p:nvSpPr>
        <p:spPr>
          <a:xfrm>
            <a:off x="1097280" y="2523744"/>
            <a:ext cx="32004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Electricity &amp; Energy</a:t>
            </a:r>
          </a:p>
        </p:txBody>
      </p:sp>
      <p:sp>
        <p:nvSpPr>
          <p:cNvPr id="8" name="TextBox 7"/>
          <p:cNvSpPr txBox="1"/>
          <p:nvPr/>
        </p:nvSpPr>
        <p:spPr>
          <a:xfrm>
            <a:off x="4389120" y="2523744"/>
            <a:ext cx="914400" cy="274320"/>
          </a:xfrm>
          <a:prstGeom prst="rect">
            <a:avLst/>
          </a:prstGeom>
          <a:noFill/>
        </p:spPr>
        <p:txBody>
          <a:bodyPr wrap="square">
            <a:spAutoFit/>
          </a:bodyPr>
          <a:lstStyle/>
          <a:p>
            <a:pPr algn="r">
              <a:lnSpc>
                <a:spcPts val="1680"/>
              </a:lnSpc>
              <a:spcAft>
                <a:spcPts val="0"/>
              </a:spcAft>
              <a:defRPr sz="1400" b="1">
                <a:solidFill>
                  <a:srgbClr val="0066CC"/>
                </a:solidFill>
                <a:latin typeface="Calibri"/>
              </a:defRPr>
            </a:pPr>
            <a:r>
              <a:t>20%</a:t>
            </a:r>
          </a:p>
        </p:txBody>
      </p:sp>
      <p:sp>
        <p:nvSpPr>
          <p:cNvPr id="9" name="TextBox 8"/>
          <p:cNvSpPr txBox="1"/>
          <p:nvPr/>
        </p:nvSpPr>
        <p:spPr>
          <a:xfrm>
            <a:off x="1097280" y="2852928"/>
            <a:ext cx="32004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Cloud Computing</a:t>
            </a:r>
          </a:p>
        </p:txBody>
      </p:sp>
      <p:sp>
        <p:nvSpPr>
          <p:cNvPr id="10" name="TextBox 9"/>
          <p:cNvSpPr txBox="1"/>
          <p:nvPr/>
        </p:nvSpPr>
        <p:spPr>
          <a:xfrm>
            <a:off x="4389120" y="2852928"/>
            <a:ext cx="914400" cy="274320"/>
          </a:xfrm>
          <a:prstGeom prst="rect">
            <a:avLst/>
          </a:prstGeom>
          <a:noFill/>
        </p:spPr>
        <p:txBody>
          <a:bodyPr wrap="square">
            <a:spAutoFit/>
          </a:bodyPr>
          <a:lstStyle/>
          <a:p>
            <a:pPr algn="r">
              <a:lnSpc>
                <a:spcPts val="1680"/>
              </a:lnSpc>
              <a:spcAft>
                <a:spcPts val="0"/>
              </a:spcAft>
              <a:defRPr sz="1400" b="1">
                <a:solidFill>
                  <a:srgbClr val="0066CC"/>
                </a:solidFill>
                <a:latin typeface="Calibri"/>
              </a:defRPr>
            </a:pPr>
            <a:r>
              <a:t>15%</a:t>
            </a:r>
          </a:p>
        </p:txBody>
      </p:sp>
      <p:sp>
        <p:nvSpPr>
          <p:cNvPr id="11" name="TextBox 10"/>
          <p:cNvSpPr txBox="1"/>
          <p:nvPr/>
        </p:nvSpPr>
        <p:spPr>
          <a:xfrm>
            <a:off x="1097280" y="3182112"/>
            <a:ext cx="32004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Consumer Electronics</a:t>
            </a:r>
          </a:p>
        </p:txBody>
      </p:sp>
      <p:sp>
        <p:nvSpPr>
          <p:cNvPr id="12" name="TextBox 11"/>
          <p:cNvSpPr txBox="1"/>
          <p:nvPr/>
        </p:nvSpPr>
        <p:spPr>
          <a:xfrm>
            <a:off x="4389120" y="3182112"/>
            <a:ext cx="914400" cy="274320"/>
          </a:xfrm>
          <a:prstGeom prst="rect">
            <a:avLst/>
          </a:prstGeom>
          <a:noFill/>
        </p:spPr>
        <p:txBody>
          <a:bodyPr wrap="square">
            <a:spAutoFit/>
          </a:bodyPr>
          <a:lstStyle/>
          <a:p>
            <a:pPr algn="r">
              <a:lnSpc>
                <a:spcPts val="1680"/>
              </a:lnSpc>
              <a:spcAft>
                <a:spcPts val="0"/>
              </a:spcAft>
              <a:defRPr sz="1400" b="1">
                <a:solidFill>
                  <a:srgbClr val="0066CC"/>
                </a:solidFill>
                <a:latin typeface="Calibri"/>
              </a:defRPr>
            </a:pPr>
            <a:r>
              <a:t>15%</a:t>
            </a:r>
          </a:p>
        </p:txBody>
      </p:sp>
      <p:sp>
        <p:nvSpPr>
          <p:cNvPr id="13" name="TextBox 12"/>
          <p:cNvSpPr txBox="1"/>
          <p:nvPr/>
        </p:nvSpPr>
        <p:spPr>
          <a:xfrm>
            <a:off x="1097280" y="3511296"/>
            <a:ext cx="32004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AI Subscriptions</a:t>
            </a:r>
          </a:p>
        </p:txBody>
      </p:sp>
      <p:sp>
        <p:nvSpPr>
          <p:cNvPr id="14" name="TextBox 13"/>
          <p:cNvSpPr txBox="1"/>
          <p:nvPr/>
        </p:nvSpPr>
        <p:spPr>
          <a:xfrm>
            <a:off x="4389120" y="3511296"/>
            <a:ext cx="914400" cy="274320"/>
          </a:xfrm>
          <a:prstGeom prst="rect">
            <a:avLst/>
          </a:prstGeom>
          <a:noFill/>
        </p:spPr>
        <p:txBody>
          <a:bodyPr wrap="square">
            <a:spAutoFit/>
          </a:bodyPr>
          <a:lstStyle/>
          <a:p>
            <a:pPr algn="r">
              <a:lnSpc>
                <a:spcPts val="1680"/>
              </a:lnSpc>
              <a:spcAft>
                <a:spcPts val="0"/>
              </a:spcAft>
              <a:defRPr sz="1400" b="1">
                <a:solidFill>
                  <a:srgbClr val="0066CC"/>
                </a:solidFill>
                <a:latin typeface="Calibri"/>
              </a:defRPr>
            </a:pPr>
            <a:r>
              <a:t>10%</a:t>
            </a:r>
          </a:p>
        </p:txBody>
      </p:sp>
      <p:sp>
        <p:nvSpPr>
          <p:cNvPr id="15" name="TextBox 14"/>
          <p:cNvSpPr txBox="1"/>
          <p:nvPr/>
        </p:nvSpPr>
        <p:spPr>
          <a:xfrm>
            <a:off x="1097280" y="3840480"/>
            <a:ext cx="32004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Enterprise Software</a:t>
            </a:r>
          </a:p>
        </p:txBody>
      </p:sp>
      <p:sp>
        <p:nvSpPr>
          <p:cNvPr id="16" name="TextBox 15"/>
          <p:cNvSpPr txBox="1"/>
          <p:nvPr/>
        </p:nvSpPr>
        <p:spPr>
          <a:xfrm>
            <a:off x="4389120" y="3840480"/>
            <a:ext cx="914400" cy="274320"/>
          </a:xfrm>
          <a:prstGeom prst="rect">
            <a:avLst/>
          </a:prstGeom>
          <a:noFill/>
        </p:spPr>
        <p:txBody>
          <a:bodyPr wrap="square">
            <a:spAutoFit/>
          </a:bodyPr>
          <a:lstStyle/>
          <a:p>
            <a:pPr algn="r">
              <a:lnSpc>
                <a:spcPts val="1680"/>
              </a:lnSpc>
              <a:spcAft>
                <a:spcPts val="0"/>
              </a:spcAft>
              <a:defRPr sz="1400" b="1">
                <a:solidFill>
                  <a:srgbClr val="0066CC"/>
                </a:solidFill>
                <a:latin typeface="Calibri"/>
              </a:defRPr>
            </a:pPr>
            <a:r>
              <a:t>10%</a:t>
            </a:r>
          </a:p>
        </p:txBody>
      </p:sp>
      <p:sp>
        <p:nvSpPr>
          <p:cNvPr id="17" name="TextBox 16"/>
          <p:cNvSpPr txBox="1"/>
          <p:nvPr/>
        </p:nvSpPr>
        <p:spPr>
          <a:xfrm>
            <a:off x="1097280" y="4169664"/>
            <a:ext cx="3200400" cy="274320"/>
          </a:xfrm>
          <a:prstGeom prst="rect">
            <a:avLst/>
          </a:prstGeom>
          <a:noFill/>
        </p:spPr>
        <p:txBody>
          <a:bodyPr wrap="square">
            <a:spAutoFit/>
          </a:bodyPr>
          <a:lstStyle/>
          <a:p>
            <a:pPr algn="l">
              <a:lnSpc>
                <a:spcPts val="1560"/>
              </a:lnSpc>
              <a:spcAft>
                <a:spcPts val="0"/>
              </a:spcAft>
              <a:defRPr sz="1300" b="0">
                <a:solidFill>
                  <a:srgbClr val="1D1D1F"/>
                </a:solidFill>
                <a:latin typeface="Calibri"/>
              </a:defRPr>
            </a:pPr>
            <a:r>
              <a:t>Infrastructure</a:t>
            </a:r>
          </a:p>
        </p:txBody>
      </p:sp>
      <p:sp>
        <p:nvSpPr>
          <p:cNvPr id="18" name="TextBox 17"/>
          <p:cNvSpPr txBox="1"/>
          <p:nvPr/>
        </p:nvSpPr>
        <p:spPr>
          <a:xfrm>
            <a:off x="4389120" y="4169664"/>
            <a:ext cx="914400" cy="274320"/>
          </a:xfrm>
          <a:prstGeom prst="rect">
            <a:avLst/>
          </a:prstGeom>
          <a:noFill/>
        </p:spPr>
        <p:txBody>
          <a:bodyPr wrap="square">
            <a:spAutoFit/>
          </a:bodyPr>
          <a:lstStyle/>
          <a:p>
            <a:pPr algn="r">
              <a:lnSpc>
                <a:spcPts val="1680"/>
              </a:lnSpc>
              <a:spcAft>
                <a:spcPts val="0"/>
              </a:spcAft>
              <a:defRPr sz="1400" b="1">
                <a:solidFill>
                  <a:srgbClr val="0066CC"/>
                </a:solidFill>
                <a:latin typeface="Calibri"/>
              </a:defRPr>
            </a:pPr>
            <a:r>
              <a:t>10%</a:t>
            </a:r>
          </a:p>
        </p:txBody>
      </p:sp>
      <p:sp>
        <p:nvSpPr>
          <p:cNvPr id="19" name="TextBox 18"/>
          <p:cNvSpPr txBox="1"/>
          <p:nvPr/>
        </p:nvSpPr>
        <p:spPr>
          <a:xfrm>
            <a:off x="6400800" y="1737360"/>
            <a:ext cx="4572000" cy="320040"/>
          </a:xfrm>
          <a:prstGeom prst="rect">
            <a:avLst/>
          </a:prstGeom>
          <a:noFill/>
        </p:spPr>
        <p:txBody>
          <a:bodyPr wrap="square">
            <a:spAutoFit/>
          </a:bodyPr>
          <a:lstStyle/>
          <a:p>
            <a:pPr algn="l">
              <a:lnSpc>
                <a:spcPts val="1560"/>
              </a:lnSpc>
              <a:spcAft>
                <a:spcPts val="0"/>
              </a:spcAft>
              <a:defRPr sz="1300" b="1">
                <a:solidFill>
                  <a:srgbClr val="6E6E73"/>
                </a:solidFill>
                <a:latin typeface="Calibri"/>
              </a:defRPr>
            </a:pPr>
            <a:r>
              <a:t>DATA SOURCES</a:t>
            </a:r>
          </a:p>
        </p:txBody>
      </p:sp>
      <p:sp>
        <p:nvSpPr>
          <p:cNvPr id="20" name="TextBox 19"/>
          <p:cNvSpPr txBox="1"/>
          <p:nvPr/>
        </p:nvSpPr>
        <p:spPr>
          <a:xfrm>
            <a:off x="6583680" y="2194560"/>
            <a:ext cx="4572000" cy="274320"/>
          </a:xfrm>
          <a:prstGeom prst="rect">
            <a:avLst/>
          </a:prstGeom>
          <a:noFill/>
        </p:spPr>
        <p:txBody>
          <a:bodyPr wrap="square">
            <a:spAutoFit/>
          </a:bodyPr>
          <a:lstStyle/>
          <a:p>
            <a:pPr algn="l">
              <a:lnSpc>
                <a:spcPts val="1439"/>
              </a:lnSpc>
              <a:spcAft>
                <a:spcPts val="0"/>
              </a:spcAft>
              <a:defRPr sz="1200" b="0">
                <a:solidFill>
                  <a:srgbClr val="1D1D1F"/>
                </a:solidFill>
                <a:latin typeface="Calibri"/>
              </a:defRPr>
            </a:pPr>
            <a:r>
              <a:t>•  World Bank Open Data</a:t>
            </a:r>
          </a:p>
        </p:txBody>
      </p:sp>
      <p:sp>
        <p:nvSpPr>
          <p:cNvPr id="21" name="TextBox 20"/>
          <p:cNvSpPr txBox="1"/>
          <p:nvPr/>
        </p:nvSpPr>
        <p:spPr>
          <a:xfrm>
            <a:off x="6583680" y="2496312"/>
            <a:ext cx="4572000" cy="274320"/>
          </a:xfrm>
          <a:prstGeom prst="rect">
            <a:avLst/>
          </a:prstGeom>
          <a:noFill/>
        </p:spPr>
        <p:txBody>
          <a:bodyPr wrap="square">
            <a:spAutoFit/>
          </a:bodyPr>
          <a:lstStyle/>
          <a:p>
            <a:pPr algn="l">
              <a:lnSpc>
                <a:spcPts val="1439"/>
              </a:lnSpc>
              <a:spcAft>
                <a:spcPts val="0"/>
              </a:spcAft>
              <a:defRPr sz="1200" b="0">
                <a:solidFill>
                  <a:srgbClr val="1D1D1F"/>
                </a:solidFill>
                <a:latin typeface="Calibri"/>
              </a:defRPr>
            </a:pPr>
            <a:r>
              <a:t>•  International Energy Agency (IEA)</a:t>
            </a:r>
          </a:p>
        </p:txBody>
      </p:sp>
      <p:sp>
        <p:nvSpPr>
          <p:cNvPr id="22" name="TextBox 21"/>
          <p:cNvSpPr txBox="1"/>
          <p:nvPr/>
        </p:nvSpPr>
        <p:spPr>
          <a:xfrm>
            <a:off x="6583680" y="2798064"/>
            <a:ext cx="4572000" cy="274320"/>
          </a:xfrm>
          <a:prstGeom prst="rect">
            <a:avLst/>
          </a:prstGeom>
          <a:noFill/>
        </p:spPr>
        <p:txBody>
          <a:bodyPr wrap="square">
            <a:spAutoFit/>
          </a:bodyPr>
          <a:lstStyle/>
          <a:p>
            <a:pPr algn="l">
              <a:lnSpc>
                <a:spcPts val="1439"/>
              </a:lnSpc>
              <a:spcAft>
                <a:spcPts val="0"/>
              </a:spcAft>
              <a:defRPr sz="1200" b="0">
                <a:solidFill>
                  <a:srgbClr val="1D1D1F"/>
                </a:solidFill>
                <a:latin typeface="Calibri"/>
              </a:defRPr>
            </a:pPr>
            <a:r>
              <a:t>•  IMF World Economic Outlook</a:t>
            </a:r>
          </a:p>
        </p:txBody>
      </p:sp>
      <p:sp>
        <p:nvSpPr>
          <p:cNvPr id="23" name="TextBox 22"/>
          <p:cNvSpPr txBox="1"/>
          <p:nvPr/>
        </p:nvSpPr>
        <p:spPr>
          <a:xfrm>
            <a:off x="6583680" y="3099816"/>
            <a:ext cx="4572000" cy="274320"/>
          </a:xfrm>
          <a:prstGeom prst="rect">
            <a:avLst/>
          </a:prstGeom>
          <a:noFill/>
        </p:spPr>
        <p:txBody>
          <a:bodyPr wrap="square">
            <a:spAutoFit/>
          </a:bodyPr>
          <a:lstStyle/>
          <a:p>
            <a:pPr algn="l">
              <a:lnSpc>
                <a:spcPts val="1439"/>
              </a:lnSpc>
              <a:spcAft>
                <a:spcPts val="0"/>
              </a:spcAft>
              <a:defRPr sz="1200" b="0">
                <a:solidFill>
                  <a:srgbClr val="1D1D1F"/>
                </a:solidFill>
                <a:latin typeface="Calibri"/>
              </a:defRPr>
            </a:pPr>
            <a:r>
              <a:t>•  US Bureau of Labor Statistics</a:t>
            </a:r>
          </a:p>
        </p:txBody>
      </p:sp>
      <p:sp>
        <p:nvSpPr>
          <p:cNvPr id="24" name="TextBox 23"/>
          <p:cNvSpPr txBox="1"/>
          <p:nvPr/>
        </p:nvSpPr>
        <p:spPr>
          <a:xfrm>
            <a:off x="6583680" y="3401568"/>
            <a:ext cx="4572000" cy="274320"/>
          </a:xfrm>
          <a:prstGeom prst="rect">
            <a:avLst/>
          </a:prstGeom>
          <a:noFill/>
        </p:spPr>
        <p:txBody>
          <a:bodyPr wrap="square">
            <a:spAutoFit/>
          </a:bodyPr>
          <a:lstStyle/>
          <a:p>
            <a:pPr algn="l">
              <a:lnSpc>
                <a:spcPts val="1439"/>
              </a:lnSpc>
              <a:spcAft>
                <a:spcPts val="0"/>
              </a:spcAft>
              <a:defRPr sz="1200" b="0">
                <a:solidFill>
                  <a:srgbClr val="1D1D1F"/>
                </a:solidFill>
                <a:latin typeface="Calibri"/>
              </a:defRPr>
            </a:pPr>
            <a:r>
              <a:t>•  FRED (Federal Reserve Economic Data)</a:t>
            </a:r>
          </a:p>
        </p:txBody>
      </p:sp>
      <p:sp>
        <p:nvSpPr>
          <p:cNvPr id="25" name="TextBox 24"/>
          <p:cNvSpPr txBox="1"/>
          <p:nvPr/>
        </p:nvSpPr>
        <p:spPr>
          <a:xfrm>
            <a:off x="6583680" y="3703320"/>
            <a:ext cx="4572000" cy="274320"/>
          </a:xfrm>
          <a:prstGeom prst="rect">
            <a:avLst/>
          </a:prstGeom>
          <a:noFill/>
        </p:spPr>
        <p:txBody>
          <a:bodyPr wrap="square">
            <a:spAutoFit/>
          </a:bodyPr>
          <a:lstStyle/>
          <a:p>
            <a:pPr algn="l">
              <a:lnSpc>
                <a:spcPts val="1439"/>
              </a:lnSpc>
              <a:spcAft>
                <a:spcPts val="0"/>
              </a:spcAft>
              <a:defRPr sz="1200" b="0">
                <a:solidFill>
                  <a:srgbClr val="1D1D1F"/>
                </a:solidFill>
                <a:latin typeface="Calibri"/>
              </a:defRPr>
            </a:pPr>
            <a:r>
              <a:t>•  Semiconductor Industry Association</a:t>
            </a:r>
          </a:p>
        </p:txBody>
      </p:sp>
      <p:sp>
        <p:nvSpPr>
          <p:cNvPr id="26" name="TextBox 25"/>
          <p:cNvSpPr txBox="1"/>
          <p:nvPr/>
        </p:nvSpPr>
        <p:spPr>
          <a:xfrm>
            <a:off x="6583680" y="4005072"/>
            <a:ext cx="4572000" cy="274320"/>
          </a:xfrm>
          <a:prstGeom prst="rect">
            <a:avLst/>
          </a:prstGeom>
          <a:noFill/>
        </p:spPr>
        <p:txBody>
          <a:bodyPr wrap="square">
            <a:spAutoFit/>
          </a:bodyPr>
          <a:lstStyle/>
          <a:p>
            <a:pPr algn="l">
              <a:lnSpc>
                <a:spcPts val="1439"/>
              </a:lnSpc>
              <a:spcAft>
                <a:spcPts val="0"/>
              </a:spcAft>
              <a:defRPr sz="1200" b="0">
                <a:solidFill>
                  <a:srgbClr val="1D1D1F"/>
                </a:solidFill>
                <a:latin typeface="Calibri"/>
              </a:defRPr>
            </a:pPr>
            <a:r>
              <a:t>•  IDC, Gartner Market Research</a:t>
            </a:r>
          </a:p>
        </p:txBody>
      </p:sp>
      <p:sp>
        <p:nvSpPr>
          <p:cNvPr id="27" name="TextBox 26"/>
          <p:cNvSpPr txBox="1"/>
          <p:nvPr/>
        </p:nvSpPr>
        <p:spPr>
          <a:xfrm>
            <a:off x="6583680" y="4306824"/>
            <a:ext cx="4572000" cy="274320"/>
          </a:xfrm>
          <a:prstGeom prst="rect">
            <a:avLst/>
          </a:prstGeom>
          <a:noFill/>
        </p:spPr>
        <p:txBody>
          <a:bodyPr wrap="square">
            <a:spAutoFit/>
          </a:bodyPr>
          <a:lstStyle/>
          <a:p>
            <a:pPr algn="l">
              <a:lnSpc>
                <a:spcPts val="1439"/>
              </a:lnSpc>
              <a:spcAft>
                <a:spcPts val="0"/>
              </a:spcAft>
              <a:defRPr sz="1200" b="0">
                <a:solidFill>
                  <a:srgbClr val="1D1D1F"/>
                </a:solidFill>
                <a:latin typeface="Calibri"/>
              </a:defRPr>
            </a:pPr>
            <a:r>
              <a:t>•  Company earnings &amp; pricing data</a:t>
            </a:r>
          </a:p>
        </p:txBody>
      </p:sp>
      <p:sp>
        <p:nvSpPr>
          <p:cNvPr id="28" name="TextBox 27"/>
          <p:cNvSpPr txBox="1"/>
          <p:nvPr/>
        </p:nvSpPr>
        <p:spPr>
          <a:xfrm>
            <a:off x="6583680" y="4608576"/>
            <a:ext cx="4572000" cy="274320"/>
          </a:xfrm>
          <a:prstGeom prst="rect">
            <a:avLst/>
          </a:prstGeom>
          <a:noFill/>
        </p:spPr>
        <p:txBody>
          <a:bodyPr wrap="square">
            <a:spAutoFit/>
          </a:bodyPr>
          <a:lstStyle/>
          <a:p>
            <a:pPr algn="l">
              <a:lnSpc>
                <a:spcPts val="1439"/>
              </a:lnSpc>
              <a:spcAft>
                <a:spcPts val="0"/>
              </a:spcAft>
              <a:defRPr sz="1200" b="0">
                <a:solidFill>
                  <a:srgbClr val="1D1D1F"/>
                </a:solidFill>
                <a:latin typeface="Calibri"/>
              </a:defRPr>
            </a:pPr>
            <a:r>
              <a:t>•  National statistics offices (30+)</a:t>
            </a:r>
          </a:p>
        </p:txBody>
      </p:sp>
      <p:sp>
        <p:nvSpPr>
          <p:cNvPr id="29" name="TextBox 28"/>
          <p:cNvSpPr txBox="1"/>
          <p:nvPr/>
        </p:nvSpPr>
        <p:spPr>
          <a:xfrm>
            <a:off x="6583680" y="4910328"/>
            <a:ext cx="4572000" cy="274320"/>
          </a:xfrm>
          <a:prstGeom prst="rect">
            <a:avLst/>
          </a:prstGeom>
          <a:noFill/>
        </p:spPr>
        <p:txBody>
          <a:bodyPr wrap="square">
            <a:spAutoFit/>
          </a:bodyPr>
          <a:lstStyle/>
          <a:p>
            <a:pPr algn="l">
              <a:lnSpc>
                <a:spcPts val="1439"/>
              </a:lnSpc>
              <a:spcAft>
                <a:spcPts val="0"/>
              </a:spcAft>
              <a:defRPr sz="1200" b="0">
                <a:solidFill>
                  <a:srgbClr val="1D1D1F"/>
                </a:solidFill>
                <a:latin typeface="Calibri"/>
              </a:defRPr>
            </a:pPr>
            <a:r>
              <a:t>•  CBRE, JLL Data Center Reports</a:t>
            </a:r>
          </a:p>
        </p:txBody>
      </p:sp>
      <p:sp>
        <p:nvSpPr>
          <p:cNvPr id="30" name="TextBox 29"/>
          <p:cNvSpPr txBox="1"/>
          <p:nvPr/>
        </p:nvSpPr>
        <p:spPr>
          <a:xfrm>
            <a:off x="914400" y="5303520"/>
            <a:ext cx="10058400" cy="914400"/>
          </a:xfrm>
          <a:prstGeom prst="rect">
            <a:avLst/>
          </a:prstGeom>
          <a:noFill/>
        </p:spPr>
        <p:txBody>
          <a:bodyPr wrap="square">
            <a:spAutoFit/>
          </a:bodyPr>
          <a:lstStyle/>
          <a:p>
            <a:pPr algn="l">
              <a:lnSpc>
                <a:spcPts val="1650"/>
              </a:lnSpc>
              <a:spcAft>
                <a:spcPts val="0"/>
              </a:spcAft>
              <a:defRPr sz="1100" b="0">
                <a:solidFill>
                  <a:srgbClr val="6E6E73"/>
                </a:solidFill>
                <a:latin typeface="Calibri"/>
              </a:defRPr>
            </a:pPr>
            <a:r>
              <a:t>Disclaimer: The AI Inflation Observatory provides estimates and analysis based on publicly available data. The AI Inflation Composite Index is a research construct and should not be used as the sole basis for investment or policy decisions. All data is refreshed every 24 hours. Confidence scores reflect data quality and attribution certainty.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0058400" cy="365760"/>
          </a:xfrm>
          <a:prstGeom prst="rect">
            <a:avLst/>
          </a:prstGeom>
          <a:noFill/>
        </p:spPr>
        <p:txBody>
          <a:bodyPr wrap="square">
            <a:spAutoFit/>
          </a:bodyPr>
          <a:lstStyle/>
          <a:p>
            <a:pPr algn="l">
              <a:lnSpc>
                <a:spcPts val="1439"/>
              </a:lnSpc>
              <a:spcAft>
                <a:spcPts val="0"/>
              </a:spcAft>
              <a:defRPr sz="1200" b="1">
                <a:solidFill>
                  <a:srgbClr val="0066CC"/>
                </a:solidFill>
                <a:latin typeface="Calibri"/>
              </a:defRPr>
            </a:pPr>
            <a:r>
              <a:t>WHAT YOU CAN DO</a:t>
            </a:r>
          </a:p>
        </p:txBody>
      </p:sp>
      <p:sp>
        <p:nvSpPr>
          <p:cNvPr id="3" name="TextBox 2"/>
          <p:cNvSpPr txBox="1"/>
          <p:nvPr/>
        </p:nvSpPr>
        <p:spPr>
          <a:xfrm>
            <a:off x="914400" y="1005840"/>
            <a:ext cx="9144000" cy="548640"/>
          </a:xfrm>
          <a:prstGeom prst="rect">
            <a:avLst/>
          </a:prstGeom>
          <a:noFill/>
        </p:spPr>
        <p:txBody>
          <a:bodyPr wrap="square">
            <a:spAutoFit/>
          </a:bodyPr>
          <a:lstStyle/>
          <a:p>
            <a:pPr algn="l">
              <a:lnSpc>
                <a:spcPts val="2879"/>
              </a:lnSpc>
              <a:spcAft>
                <a:spcPts val="0"/>
              </a:spcAft>
              <a:defRPr sz="2400" b="1">
                <a:solidFill>
                  <a:srgbClr val="1D1D1F"/>
                </a:solidFill>
                <a:latin typeface="Calibri"/>
              </a:defRPr>
            </a:pPr>
            <a:r>
              <a:t>Practical steps to understand and manage your AI inflation exposure</a:t>
            </a:r>
          </a:p>
        </p:txBody>
      </p:sp>
      <p:sp>
        <p:nvSpPr>
          <p:cNvPr id="4" name="Oval 3"/>
          <p:cNvSpPr/>
          <p:nvPr/>
        </p:nvSpPr>
        <p:spPr>
          <a:xfrm>
            <a:off x="1097280" y="1874520"/>
            <a:ext cx="411480" cy="41148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5" name="TextBox 4"/>
          <p:cNvSpPr txBox="1"/>
          <p:nvPr/>
        </p:nvSpPr>
        <p:spPr>
          <a:xfrm>
            <a:off x="1737360" y="1828800"/>
            <a:ext cx="8686800" cy="320040"/>
          </a:xfrm>
          <a:prstGeom prst="rect">
            <a:avLst/>
          </a:prstGeom>
          <a:noFill/>
        </p:spPr>
        <p:txBody>
          <a:bodyPr wrap="square">
            <a:spAutoFit/>
          </a:bodyPr>
          <a:lstStyle/>
          <a:p>
            <a:pPr algn="l">
              <a:lnSpc>
                <a:spcPts val="2160"/>
              </a:lnSpc>
              <a:spcAft>
                <a:spcPts val="0"/>
              </a:spcAft>
              <a:defRPr sz="1800" b="1">
                <a:solidFill>
                  <a:srgbClr val="1D1D1F"/>
                </a:solidFill>
                <a:latin typeface="Calibri"/>
              </a:defRPr>
            </a:pPr>
            <a:r>
              <a:t>Know Your Exposure</a:t>
            </a:r>
          </a:p>
        </p:txBody>
      </p:sp>
      <p:sp>
        <p:nvSpPr>
          <p:cNvPr id="6" name="TextBox 5"/>
          <p:cNvSpPr txBox="1"/>
          <p:nvPr/>
        </p:nvSpPr>
        <p:spPr>
          <a:xfrm>
            <a:off x="1737360" y="2148840"/>
            <a:ext cx="8686800" cy="365760"/>
          </a:xfrm>
          <a:prstGeom prst="rect">
            <a:avLst/>
          </a:prstGeom>
          <a:noFill/>
        </p:spPr>
        <p:txBody>
          <a:bodyPr wrap="square">
            <a:spAutoFit/>
          </a:bodyPr>
          <a:lstStyle/>
          <a:p>
            <a:pPr algn="l">
              <a:lnSpc>
                <a:spcPts val="1820"/>
              </a:lnSpc>
              <a:spcAft>
                <a:spcPts val="0"/>
              </a:spcAft>
              <a:defRPr sz="1400" b="0">
                <a:solidFill>
                  <a:srgbClr val="6E6E73"/>
                </a:solidFill>
                <a:latin typeface="Calibri"/>
              </a:defRPr>
            </a:pPr>
            <a:r>
              <a:t>Use the Personal AI Inflation Calculator to estimate your annual impact.</a:t>
            </a:r>
          </a:p>
        </p:txBody>
      </p:sp>
      <p:sp>
        <p:nvSpPr>
          <p:cNvPr id="7" name="Oval 6"/>
          <p:cNvSpPr/>
          <p:nvPr/>
        </p:nvSpPr>
        <p:spPr>
          <a:xfrm>
            <a:off x="1097280" y="2743200"/>
            <a:ext cx="411480" cy="41148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8" name="TextBox 7"/>
          <p:cNvSpPr txBox="1"/>
          <p:nvPr/>
        </p:nvSpPr>
        <p:spPr>
          <a:xfrm>
            <a:off x="1737360" y="2697480"/>
            <a:ext cx="8686800" cy="320040"/>
          </a:xfrm>
          <a:prstGeom prst="rect">
            <a:avLst/>
          </a:prstGeom>
          <a:noFill/>
        </p:spPr>
        <p:txBody>
          <a:bodyPr wrap="square">
            <a:spAutoFit/>
          </a:bodyPr>
          <a:lstStyle/>
          <a:p>
            <a:pPr algn="l">
              <a:lnSpc>
                <a:spcPts val="2160"/>
              </a:lnSpc>
              <a:spcAft>
                <a:spcPts val="0"/>
              </a:spcAft>
              <a:defRPr sz="1800" b="1">
                <a:solidFill>
                  <a:srgbClr val="1D1D1F"/>
                </a:solidFill>
                <a:latin typeface="Calibri"/>
              </a:defRPr>
            </a:pPr>
            <a:r>
              <a:t>Audit AI Subscriptions</a:t>
            </a:r>
          </a:p>
        </p:txBody>
      </p:sp>
      <p:sp>
        <p:nvSpPr>
          <p:cNvPr id="9" name="TextBox 8"/>
          <p:cNvSpPr txBox="1"/>
          <p:nvPr/>
        </p:nvSpPr>
        <p:spPr>
          <a:xfrm>
            <a:off x="1737360" y="3017520"/>
            <a:ext cx="8686800" cy="365760"/>
          </a:xfrm>
          <a:prstGeom prst="rect">
            <a:avLst/>
          </a:prstGeom>
          <a:noFill/>
        </p:spPr>
        <p:txBody>
          <a:bodyPr wrap="square">
            <a:spAutoFit/>
          </a:bodyPr>
          <a:lstStyle/>
          <a:p>
            <a:pPr algn="l">
              <a:lnSpc>
                <a:spcPts val="1820"/>
              </a:lnSpc>
              <a:spcAft>
                <a:spcPts val="0"/>
              </a:spcAft>
              <a:defRPr sz="1400" b="0">
                <a:solidFill>
                  <a:srgbClr val="6E6E73"/>
                </a:solidFill>
                <a:latin typeface="Calibri"/>
              </a:defRPr>
            </a:pPr>
            <a:r>
              <a:t>Most people subscribe to 3–4 AI tools with overlapping capabilities. Consolidate.</a:t>
            </a:r>
          </a:p>
        </p:txBody>
      </p:sp>
      <p:sp>
        <p:nvSpPr>
          <p:cNvPr id="10" name="Oval 9"/>
          <p:cNvSpPr/>
          <p:nvPr/>
        </p:nvSpPr>
        <p:spPr>
          <a:xfrm>
            <a:off x="1097280" y="3611880"/>
            <a:ext cx="411480" cy="41148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1" name="TextBox 10"/>
          <p:cNvSpPr txBox="1"/>
          <p:nvPr/>
        </p:nvSpPr>
        <p:spPr>
          <a:xfrm>
            <a:off x="1737360" y="3566160"/>
            <a:ext cx="8686800" cy="320040"/>
          </a:xfrm>
          <a:prstGeom prst="rect">
            <a:avLst/>
          </a:prstGeom>
          <a:noFill/>
        </p:spPr>
        <p:txBody>
          <a:bodyPr wrap="square">
            <a:spAutoFit/>
          </a:bodyPr>
          <a:lstStyle/>
          <a:p>
            <a:pPr algn="l">
              <a:lnSpc>
                <a:spcPts val="2160"/>
              </a:lnSpc>
              <a:spcAft>
                <a:spcPts val="0"/>
              </a:spcAft>
              <a:defRPr sz="1800" b="1">
                <a:solidFill>
                  <a:srgbClr val="1D1D1F"/>
                </a:solidFill>
                <a:latin typeface="Calibri"/>
              </a:defRPr>
            </a:pPr>
            <a:r>
              <a:t>Watch Your Electricity</a:t>
            </a:r>
          </a:p>
        </p:txBody>
      </p:sp>
      <p:sp>
        <p:nvSpPr>
          <p:cNvPr id="12" name="TextBox 11"/>
          <p:cNvSpPr txBox="1"/>
          <p:nvPr/>
        </p:nvSpPr>
        <p:spPr>
          <a:xfrm>
            <a:off x="1737360" y="3886200"/>
            <a:ext cx="8686800" cy="365760"/>
          </a:xfrm>
          <a:prstGeom prst="rect">
            <a:avLst/>
          </a:prstGeom>
          <a:noFill/>
        </p:spPr>
        <p:txBody>
          <a:bodyPr wrap="square">
            <a:spAutoFit/>
          </a:bodyPr>
          <a:lstStyle/>
          <a:p>
            <a:pPr algn="l">
              <a:lnSpc>
                <a:spcPts val="1820"/>
              </a:lnSpc>
              <a:spcAft>
                <a:spcPts val="0"/>
              </a:spcAft>
              <a:defRPr sz="1400" b="0">
                <a:solidFill>
                  <a:srgbClr val="6E6E73"/>
                </a:solidFill>
                <a:latin typeface="Calibri"/>
              </a:defRPr>
            </a:pPr>
            <a:r>
              <a:t>If you live near a data center corridor, your rates are rising faster than average.</a:t>
            </a:r>
          </a:p>
        </p:txBody>
      </p:sp>
      <p:sp>
        <p:nvSpPr>
          <p:cNvPr id="13" name="Oval 12"/>
          <p:cNvSpPr/>
          <p:nvPr/>
        </p:nvSpPr>
        <p:spPr>
          <a:xfrm>
            <a:off x="1097280" y="4480560"/>
            <a:ext cx="411480" cy="41148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4</a:t>
            </a:r>
          </a:p>
        </p:txBody>
      </p:sp>
      <p:sp>
        <p:nvSpPr>
          <p:cNvPr id="14" name="TextBox 13"/>
          <p:cNvSpPr txBox="1"/>
          <p:nvPr/>
        </p:nvSpPr>
        <p:spPr>
          <a:xfrm>
            <a:off x="1737360" y="4434840"/>
            <a:ext cx="8686800" cy="320040"/>
          </a:xfrm>
          <a:prstGeom prst="rect">
            <a:avLst/>
          </a:prstGeom>
          <a:noFill/>
        </p:spPr>
        <p:txBody>
          <a:bodyPr wrap="square">
            <a:spAutoFit/>
          </a:bodyPr>
          <a:lstStyle/>
          <a:p>
            <a:pPr algn="l">
              <a:lnSpc>
                <a:spcPts val="2160"/>
              </a:lnSpc>
              <a:spcAft>
                <a:spcPts val="0"/>
              </a:spcAft>
              <a:defRPr sz="1800" b="1">
                <a:solidFill>
                  <a:srgbClr val="1D1D1F"/>
                </a:solidFill>
                <a:latin typeface="Calibri"/>
              </a:defRPr>
            </a:pPr>
            <a:r>
              <a:t>Demand Transparency</a:t>
            </a:r>
          </a:p>
        </p:txBody>
      </p:sp>
      <p:sp>
        <p:nvSpPr>
          <p:cNvPr id="15" name="TextBox 14"/>
          <p:cNvSpPr txBox="1"/>
          <p:nvPr/>
        </p:nvSpPr>
        <p:spPr>
          <a:xfrm>
            <a:off x="1737360" y="4754880"/>
            <a:ext cx="8686800" cy="365760"/>
          </a:xfrm>
          <a:prstGeom prst="rect">
            <a:avLst/>
          </a:prstGeom>
          <a:noFill/>
        </p:spPr>
        <p:txBody>
          <a:bodyPr wrap="square">
            <a:spAutoFit/>
          </a:bodyPr>
          <a:lstStyle/>
          <a:p>
            <a:pPr algn="l">
              <a:lnSpc>
                <a:spcPts val="1820"/>
              </a:lnSpc>
              <a:spcAft>
                <a:spcPts val="0"/>
              </a:spcAft>
              <a:defRPr sz="1400" b="0">
                <a:solidFill>
                  <a:srgbClr val="6E6E73"/>
                </a:solidFill>
                <a:latin typeface="Calibri"/>
              </a:defRPr>
            </a:pPr>
            <a:r>
              <a:t>When a vendor says "AI-powered," ask what percentage is compute cost vs. value.</a:t>
            </a:r>
          </a:p>
        </p:txBody>
      </p:sp>
      <p:sp>
        <p:nvSpPr>
          <p:cNvPr id="16" name="Oval 15"/>
          <p:cNvSpPr/>
          <p:nvPr/>
        </p:nvSpPr>
        <p:spPr>
          <a:xfrm>
            <a:off x="1097280" y="5349240"/>
            <a:ext cx="411480" cy="41148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5</a:t>
            </a:r>
          </a:p>
        </p:txBody>
      </p:sp>
      <p:sp>
        <p:nvSpPr>
          <p:cNvPr id="17" name="TextBox 16"/>
          <p:cNvSpPr txBox="1"/>
          <p:nvPr/>
        </p:nvSpPr>
        <p:spPr>
          <a:xfrm>
            <a:off x="1737360" y="5303520"/>
            <a:ext cx="8686800" cy="320040"/>
          </a:xfrm>
          <a:prstGeom prst="rect">
            <a:avLst/>
          </a:prstGeom>
          <a:noFill/>
        </p:spPr>
        <p:txBody>
          <a:bodyPr wrap="square">
            <a:spAutoFit/>
          </a:bodyPr>
          <a:lstStyle/>
          <a:p>
            <a:pPr algn="l">
              <a:lnSpc>
                <a:spcPts val="2160"/>
              </a:lnSpc>
              <a:spcAft>
                <a:spcPts val="0"/>
              </a:spcAft>
              <a:defRPr sz="1800" b="1">
                <a:solidFill>
                  <a:srgbClr val="1D1D1F"/>
                </a:solidFill>
                <a:latin typeface="Calibri"/>
              </a:defRPr>
            </a:pPr>
            <a:r>
              <a:t>Follow the Data</a:t>
            </a:r>
          </a:p>
        </p:txBody>
      </p:sp>
      <p:sp>
        <p:nvSpPr>
          <p:cNvPr id="18" name="TextBox 17"/>
          <p:cNvSpPr txBox="1"/>
          <p:nvPr/>
        </p:nvSpPr>
        <p:spPr>
          <a:xfrm>
            <a:off x="1737360" y="5623560"/>
            <a:ext cx="8686800" cy="365760"/>
          </a:xfrm>
          <a:prstGeom prst="rect">
            <a:avLst/>
          </a:prstGeom>
          <a:noFill/>
        </p:spPr>
        <p:txBody>
          <a:bodyPr wrap="square">
            <a:spAutoFit/>
          </a:bodyPr>
          <a:lstStyle/>
          <a:p>
            <a:pPr algn="l">
              <a:lnSpc>
                <a:spcPts val="1820"/>
              </a:lnSpc>
              <a:spcAft>
                <a:spcPts val="0"/>
              </a:spcAft>
              <a:defRPr sz="1400" b="0">
                <a:solidFill>
                  <a:srgbClr val="6E6E73"/>
                </a:solidFill>
                <a:latin typeface="Calibri"/>
              </a:defRPr>
            </a:pPr>
            <a:r>
              <a:t>The Observatory refreshes every 24 hours from verified sources. Bookmark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66CC"/>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ctr">
              <a:lnSpc>
                <a:spcPts val="5720"/>
              </a:lnSpc>
              <a:spcAft>
                <a:spcPts val="0"/>
              </a:spcAft>
              <a:defRPr sz="4400" b="1">
                <a:solidFill>
                  <a:srgbClr val="FFFFFF"/>
                </a:solidFill>
                <a:latin typeface="Calibri"/>
              </a:defRPr>
            </a:pPr>
            <a:r>
              <a:t>Three taxes.</a:t>
            </a:r>
            <a:br/>
            <a:r>
              <a:t>One revolution.</a:t>
            </a:r>
            <a:br/>
            <a:r>
              <a:t>Zero transparency.</a:t>
            </a:r>
          </a:p>
        </p:txBody>
      </p:sp>
      <p:sp>
        <p:nvSpPr>
          <p:cNvPr id="3" name="TextBox 2"/>
          <p:cNvSpPr txBox="1"/>
          <p:nvPr/>
        </p:nvSpPr>
        <p:spPr>
          <a:xfrm>
            <a:off x="1828800" y="3200400"/>
            <a:ext cx="8229600" cy="731520"/>
          </a:xfrm>
          <a:prstGeom prst="rect">
            <a:avLst/>
          </a:prstGeom>
          <a:noFill/>
        </p:spPr>
        <p:txBody>
          <a:bodyPr wrap="square">
            <a:spAutoFit/>
          </a:bodyPr>
          <a:lstStyle/>
          <a:p>
            <a:pPr algn="ctr">
              <a:lnSpc>
                <a:spcPts val="3000"/>
              </a:lnSpc>
              <a:spcAft>
                <a:spcPts val="0"/>
              </a:spcAft>
              <a:defRPr sz="2000" b="0">
                <a:solidFill>
                  <a:srgbClr val="FFFFFF"/>
                </a:solidFill>
                <a:latin typeface="Calibri"/>
              </a:defRPr>
            </a:pPr>
            <a:r>
              <a:t>AI is not free. It never was.</a:t>
            </a:r>
            <a:br/>
            <a:r>
              <a:t>The AI Inflation Observatory makes the invisible visible.</a:t>
            </a:r>
          </a:p>
        </p:txBody>
      </p:sp>
      <p:sp>
        <p:nvSpPr>
          <p:cNvPr id="4" name="Rounded Rectangle 3"/>
          <p:cNvSpPr/>
          <p:nvPr/>
        </p:nvSpPr>
        <p:spPr>
          <a:xfrm>
            <a:off x="3200400" y="4389120"/>
            <a:ext cx="548640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383280" y="4480560"/>
            <a:ext cx="5120640" cy="457200"/>
          </a:xfrm>
          <a:prstGeom prst="rect">
            <a:avLst/>
          </a:prstGeom>
          <a:noFill/>
        </p:spPr>
        <p:txBody>
          <a:bodyPr wrap="square">
            <a:spAutoFit/>
          </a:bodyPr>
          <a:lstStyle/>
          <a:p>
            <a:pPr algn="ctr">
              <a:lnSpc>
                <a:spcPts val="1920"/>
              </a:lnSpc>
              <a:spcAft>
                <a:spcPts val="0"/>
              </a:spcAft>
              <a:defRPr sz="1600" b="1">
                <a:solidFill>
                  <a:srgbClr val="0066CC"/>
                </a:solidFill>
                <a:latin typeface="Calibri"/>
              </a:defRPr>
            </a:pPr>
            <a:r>
              <a:t>puneetindeelhi940.github.io/portfolio/observatory</a:t>
            </a:r>
          </a:p>
        </p:txBody>
      </p:sp>
      <p:sp>
        <p:nvSpPr>
          <p:cNvPr id="6" name="TextBox 5"/>
          <p:cNvSpPr txBox="1"/>
          <p:nvPr/>
        </p:nvSpPr>
        <p:spPr>
          <a:xfrm>
            <a:off x="1828800" y="5486400"/>
            <a:ext cx="8229600" cy="457200"/>
          </a:xfrm>
          <a:prstGeom prst="rect">
            <a:avLst/>
          </a:prstGeom>
          <a:noFill/>
        </p:spPr>
        <p:txBody>
          <a:bodyPr wrap="square">
            <a:spAutoFit/>
          </a:bodyPr>
          <a:lstStyle/>
          <a:p>
            <a:pPr algn="ctr">
              <a:lnSpc>
                <a:spcPts val="1680"/>
              </a:lnSpc>
              <a:spcAft>
                <a:spcPts val="0"/>
              </a:spcAft>
              <a:defRPr sz="1400" b="0">
                <a:solidFill>
                  <a:srgbClr val="FFFFFF"/>
                </a:solidFill>
                <a:latin typeface="Calibri"/>
              </a:defRPr>
            </a:pPr>
            <a:r>
              <a:t>Built by Puneet Arora  |  Open Source  |  Data refreshed every 24 hours</a:t>
            </a:r>
          </a:p>
        </p:txBody>
      </p:sp>
      <p:sp>
        <p:nvSpPr>
          <p:cNvPr id="7" name="TextBox 6"/>
          <p:cNvSpPr txBox="1"/>
          <p:nvPr/>
        </p:nvSpPr>
        <p:spPr>
          <a:xfrm>
            <a:off x="1828800" y="5943600"/>
            <a:ext cx="8229600" cy="365760"/>
          </a:xfrm>
          <a:prstGeom prst="rect">
            <a:avLst/>
          </a:prstGeom>
          <a:noFill/>
        </p:spPr>
        <p:txBody>
          <a:bodyPr wrap="square">
            <a:spAutoFit/>
          </a:bodyPr>
          <a:lstStyle/>
          <a:p>
            <a:pPr algn="ctr">
              <a:lnSpc>
                <a:spcPts val="1320"/>
              </a:lnSpc>
              <a:spcAft>
                <a:spcPts val="0"/>
              </a:spcAft>
              <a:defRPr sz="1100" b="0">
                <a:solidFill>
                  <a:srgbClr val="FFFFFF"/>
                </a:solidFill>
                <a:latin typeface="Calibri"/>
              </a:defRPr>
            </a:pPr>
            <a:r>
              <a:t>Sources: World Bank, IEA, IMF, BLS, FRED, IDC, Gartner, SIA, Company filings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